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1" r:id="rId6"/>
    <p:sldId id="265" r:id="rId7"/>
    <p:sldId id="266" r:id="rId8"/>
    <p:sldId id="267" r:id="rId9"/>
    <p:sldId id="274" r:id="rId10"/>
    <p:sldId id="275" r:id="rId11"/>
    <p:sldId id="268" r:id="rId12"/>
    <p:sldId id="269" r:id="rId13"/>
    <p:sldId id="270" r:id="rId14"/>
    <p:sldId id="271" r:id="rId15"/>
    <p:sldId id="272" r:id="rId16"/>
    <p:sldId id="277" r:id="rId17"/>
    <p:sldId id="276" r:id="rId18"/>
    <p:sldId id="273" r:id="rId19"/>
    <p:sldId id="285" r:id="rId20"/>
    <p:sldId id="286" r:id="rId21"/>
    <p:sldId id="264" r:id="rId22"/>
    <p:sldId id="262" r:id="rId23"/>
    <p:sldId id="278" r:id="rId24"/>
    <p:sldId id="279" r:id="rId25"/>
    <p:sldId id="280" r:id="rId26"/>
    <p:sldId id="282" r:id="rId27"/>
    <p:sldId id="263" r:id="rId28"/>
    <p:sldId id="281" r:id="rId29"/>
    <p:sldId id="283" r:id="rId30"/>
    <p:sldId id="28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CC00"/>
    <a:srgbClr val="3399FF"/>
    <a:srgbClr val="CCCC00"/>
    <a:srgbClr val="FFFF66"/>
    <a:srgbClr val="FF9933"/>
    <a:srgbClr val="66FF33"/>
    <a:srgbClr val="66FFFF"/>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9/29/2021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9/29/2021</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f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MRA Project ML 1</a:t>
            </a:r>
            <a:endParaRPr lang="en-IN" dirty="0"/>
          </a:p>
        </p:txBody>
      </p:sp>
      <p:sp>
        <p:nvSpPr>
          <p:cNvPr id="3" name="Subtitle 2"/>
          <p:cNvSpPr>
            <a:spLocks noGrp="1"/>
          </p:cNvSpPr>
          <p:nvPr>
            <p:ph type="subTitle" idx="1"/>
          </p:nvPr>
        </p:nvSpPr>
        <p:spPr/>
        <p:txBody>
          <a:bodyPr/>
          <a:lstStyle/>
          <a:p>
            <a:r>
              <a:rPr lang="en-IN" dirty="0" smtClean="0"/>
              <a:t>Reena ROY</a:t>
            </a:r>
            <a:r>
              <a:rPr lang="en-IN" dirty="0" smtClean="0"/>
              <a:t> </a:t>
            </a:r>
            <a:endParaRPr lang="en-IN" dirty="0"/>
          </a:p>
          <a:p>
            <a:r>
              <a:rPr lang="en-IN" dirty="0" smtClean="0"/>
              <a:t>DSBA-NOV’20</a:t>
            </a:r>
            <a:r>
              <a:rPr lang="en-IN" dirty="0" smtClean="0"/>
              <a:t> </a:t>
            </a:r>
            <a:endParaRPr lang="en-IN" dirty="0" smtClean="0"/>
          </a:p>
          <a:p>
            <a:r>
              <a:rPr lang="en-US" dirty="0" smtClean="0"/>
              <a:t>Dr.reenaroy@gmail.com</a:t>
            </a:r>
            <a:endParaRPr lang="en-IN" dirty="0"/>
          </a:p>
        </p:txBody>
      </p:sp>
    </p:spTree>
    <p:extLst>
      <p:ext uri="{BB962C8B-B14F-4D97-AF65-F5344CB8AC3E}">
        <p14:creationId xmlns:p14="http://schemas.microsoft.com/office/powerpoint/2010/main" val="2016520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0"/>
            <a:ext cx="10131425" cy="1293223"/>
          </a:xfrm>
        </p:spPr>
        <p:txBody>
          <a:bodyPr/>
          <a:lstStyle/>
          <a:p>
            <a:r>
              <a:rPr lang="en-IN" dirty="0" smtClean="0"/>
              <a:t>Agenda [Table OF </a:t>
            </a:r>
            <a:r>
              <a:rPr lang="en-IN" dirty="0" smtClean="0"/>
              <a:t>CONTENT</a:t>
            </a:r>
            <a:endParaRPr lang="en-IN" dirty="0"/>
          </a:p>
        </p:txBody>
      </p:sp>
      <p:sp>
        <p:nvSpPr>
          <p:cNvPr id="3" name="Content Placeholder 2"/>
          <p:cNvSpPr>
            <a:spLocks noGrp="1"/>
          </p:cNvSpPr>
          <p:nvPr>
            <p:ph idx="1"/>
          </p:nvPr>
        </p:nvSpPr>
        <p:spPr>
          <a:xfrm>
            <a:off x="685801" y="1097280"/>
            <a:ext cx="10131425" cy="5368834"/>
          </a:xfrm>
        </p:spPr>
        <p:txBody>
          <a:bodyPr anchor="t">
            <a:noAutofit/>
          </a:bodyPr>
          <a:lstStyle/>
          <a:p>
            <a:pPr lvl="0"/>
            <a:r>
              <a:rPr lang="en-IN" sz="1000" b="1" dirty="0"/>
              <a:t>Agenda &amp; Executive Summary of the data</a:t>
            </a:r>
            <a:endParaRPr lang="en-IN" sz="1000" dirty="0"/>
          </a:p>
          <a:p>
            <a:pPr lvl="1"/>
            <a:r>
              <a:rPr lang="en-IN" sz="1000" dirty="0" smtClean="0"/>
              <a:t>Problem </a:t>
            </a:r>
            <a:r>
              <a:rPr lang="en-IN" sz="1000" dirty="0"/>
              <a:t>statement</a:t>
            </a:r>
          </a:p>
          <a:p>
            <a:pPr lvl="1"/>
            <a:r>
              <a:rPr lang="en-IN" sz="1000" dirty="0"/>
              <a:t>About Data (Info, Shape, Summary Stats, your assumptions about data)</a:t>
            </a:r>
          </a:p>
          <a:p>
            <a:pPr lvl="0"/>
            <a:r>
              <a:rPr lang="en-IN" sz="1000" b="1" dirty="0"/>
              <a:t>Exploratory Analysis and Inferences</a:t>
            </a:r>
            <a:endParaRPr lang="en-IN" sz="1000" dirty="0"/>
          </a:p>
          <a:p>
            <a:pPr lvl="1"/>
            <a:r>
              <a:rPr lang="en-IN" sz="1000" dirty="0"/>
              <a:t>Univariate, Bivariate, and multivariate analysis using data visualization</a:t>
            </a:r>
          </a:p>
          <a:p>
            <a:pPr lvl="2"/>
            <a:r>
              <a:rPr lang="en-IN" sz="1000" dirty="0"/>
              <a:t>Weekly, Monthly, Quarterly, Yearly Trends in Sales</a:t>
            </a:r>
          </a:p>
          <a:p>
            <a:pPr lvl="2"/>
            <a:r>
              <a:rPr lang="en-IN" sz="1000" dirty="0"/>
              <a:t>Sales Across different Categories of different features in the given data</a:t>
            </a:r>
          </a:p>
          <a:p>
            <a:pPr marL="457200" lvl="1" indent="0">
              <a:buNone/>
            </a:pPr>
            <a:endParaRPr lang="en-IN" sz="1000" dirty="0"/>
          </a:p>
          <a:p>
            <a:pPr lvl="0"/>
            <a:r>
              <a:rPr lang="en-IN" sz="1000" b="1" dirty="0"/>
              <a:t>Customer Segmentation using RFM analysis (make 4 segments)</a:t>
            </a:r>
            <a:endParaRPr lang="en-IN" sz="1000" dirty="0"/>
          </a:p>
          <a:p>
            <a:pPr lvl="1"/>
            <a:r>
              <a:rPr lang="en-IN" sz="1000" dirty="0"/>
              <a:t>Which tool used?</a:t>
            </a:r>
          </a:p>
          <a:p>
            <a:pPr lvl="1"/>
            <a:r>
              <a:rPr lang="en-IN" sz="1000" dirty="0"/>
              <a:t>What all parameters used and assumptions made</a:t>
            </a:r>
          </a:p>
          <a:p>
            <a:pPr lvl="1"/>
            <a:r>
              <a:rPr lang="en-IN" sz="1000" dirty="0"/>
              <a:t>Output table head </a:t>
            </a:r>
          </a:p>
          <a:p>
            <a:pPr lvl="1"/>
            <a:r>
              <a:rPr lang="en-IN" sz="1000" dirty="0"/>
              <a:t>If KNIME used, Workflow image to be put</a:t>
            </a:r>
          </a:p>
          <a:p>
            <a:pPr lvl="0"/>
            <a:r>
              <a:rPr lang="en-IN" sz="1000" b="1" dirty="0"/>
              <a:t>Inferences from RFM Analysis and identified segments</a:t>
            </a:r>
            <a:endParaRPr lang="en-IN" sz="1000" dirty="0"/>
          </a:p>
          <a:p>
            <a:pPr lvl="1"/>
            <a:r>
              <a:rPr lang="en-IN" sz="1000" dirty="0"/>
              <a:t>Who are your best customers? (give at least 5)</a:t>
            </a:r>
          </a:p>
          <a:p>
            <a:pPr lvl="1"/>
            <a:r>
              <a:rPr lang="en-IN" sz="1000" dirty="0"/>
              <a:t>Which customers are on the verge of churning? (give at least 5)</a:t>
            </a:r>
          </a:p>
          <a:p>
            <a:pPr lvl="1"/>
            <a:r>
              <a:rPr lang="en-IN" sz="1000" dirty="0"/>
              <a:t>Who are your lost customers? (give at least 5)</a:t>
            </a:r>
          </a:p>
          <a:p>
            <a:pPr lvl="1"/>
            <a:r>
              <a:rPr lang="en-IN" sz="1000" dirty="0"/>
              <a:t>Who are your loyal customers? (give at least 5)</a:t>
            </a:r>
          </a:p>
          <a:p>
            <a:endParaRPr lang="en-IN" sz="1000" dirty="0"/>
          </a:p>
        </p:txBody>
      </p:sp>
    </p:spTree>
    <p:extLst>
      <p:ext uri="{BB962C8B-B14F-4D97-AF65-F5344CB8AC3E}">
        <p14:creationId xmlns:p14="http://schemas.microsoft.com/office/powerpoint/2010/main" val="400977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STATEMENT</a:t>
            </a:r>
            <a:endParaRPr lang="en-IN" dirty="0"/>
          </a:p>
        </p:txBody>
      </p:sp>
      <p:sp>
        <p:nvSpPr>
          <p:cNvPr id="3" name="Content Placeholder 2"/>
          <p:cNvSpPr>
            <a:spLocks noGrp="1"/>
          </p:cNvSpPr>
          <p:nvPr>
            <p:ph idx="1"/>
          </p:nvPr>
        </p:nvSpPr>
        <p:spPr>
          <a:xfrm>
            <a:off x="215901" y="2065866"/>
            <a:ext cx="10601325" cy="3067837"/>
          </a:xfrm>
        </p:spPr>
        <p:txBody>
          <a:bodyPr anchor="t">
            <a:noAutofit/>
          </a:bodyPr>
          <a:lstStyle/>
          <a:p>
            <a:pPr marL="0" indent="0">
              <a:buNone/>
            </a:pPr>
            <a:r>
              <a:rPr lang="en-IN" dirty="0"/>
              <a:t>An automobile parts manufacturing company has collected data of transactions for 3 years. They do not have any in-house data science team, thus they have hired you as their consultant. Your job is to use your magical data science skills to provide them with suitable insights about their data and their customers</a:t>
            </a:r>
            <a:r>
              <a:rPr lang="en-IN" dirty="0" smtClean="0"/>
              <a:t>.</a:t>
            </a:r>
          </a:p>
          <a:p>
            <a:pPr marL="0" indent="0">
              <a:buNone/>
            </a:pPr>
            <a:r>
              <a:rPr lang="en-US" dirty="0" smtClean="0"/>
              <a:t>The given sales dataset of a retail industry requires to </a:t>
            </a:r>
            <a:r>
              <a:rPr lang="en-US" dirty="0" err="1" smtClean="0"/>
              <a:t>analyse</a:t>
            </a:r>
            <a:r>
              <a:rPr lang="en-US" dirty="0" smtClean="0"/>
              <a:t> the dataset based on product and customer </a:t>
            </a:r>
            <a:r>
              <a:rPr lang="en-US" dirty="0" err="1" smtClean="0"/>
              <a:t>segementation</a:t>
            </a:r>
            <a:r>
              <a:rPr lang="en-US" dirty="0"/>
              <a:t> </a:t>
            </a:r>
            <a:r>
              <a:rPr lang="en-US" dirty="0" smtClean="0"/>
              <a:t>against the Sales/ Revenue, Quantity Ordered and the </a:t>
            </a:r>
            <a:r>
              <a:rPr lang="en-US" dirty="0" err="1" smtClean="0"/>
              <a:t>Ordernumber</a:t>
            </a:r>
            <a:r>
              <a:rPr lang="en-US" dirty="0" smtClean="0"/>
              <a:t>. Here I have used Python for performing the pre-processing of the dataset, tableau for visualization and comparison of records against different attributes and finally </a:t>
            </a:r>
            <a:r>
              <a:rPr lang="en-US" dirty="0" err="1" smtClean="0"/>
              <a:t>Knime</a:t>
            </a:r>
            <a:r>
              <a:rPr lang="en-US" dirty="0" smtClean="0"/>
              <a:t> for RFM analysis</a:t>
            </a:r>
            <a:endParaRPr lang="en-IN" dirty="0" smtClean="0"/>
          </a:p>
          <a:p>
            <a:pPr marL="0" indent="0">
              <a:buNone/>
            </a:pPr>
            <a:endParaRPr lang="en-IN" dirty="0"/>
          </a:p>
          <a:p>
            <a:pPr marL="0" indent="0">
              <a:buNone/>
            </a:pPr>
            <a:endParaRPr lang="en-IN" dirty="0"/>
          </a:p>
        </p:txBody>
      </p:sp>
    </p:spTree>
    <p:extLst>
      <p:ext uri="{BB962C8B-B14F-4D97-AF65-F5344CB8AC3E}">
        <p14:creationId xmlns:p14="http://schemas.microsoft.com/office/powerpoint/2010/main" val="3874616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DICTIONARY</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35942859"/>
              </p:ext>
            </p:extLst>
          </p:nvPr>
        </p:nvGraphicFramePr>
        <p:xfrm>
          <a:off x="1385183" y="1897541"/>
          <a:ext cx="8732658" cy="4150561"/>
        </p:xfrm>
        <a:graphic>
          <a:graphicData uri="http://schemas.openxmlformats.org/drawingml/2006/table">
            <a:tbl>
              <a:tblPr firstRow="1" firstCol="1" bandRow="1">
                <a:tableStyleId>{5C22544A-7EE6-4342-B048-85BDC9FD1C3A}</a:tableStyleId>
              </a:tblPr>
              <a:tblGrid>
                <a:gridCol w="1720766">
                  <a:extLst>
                    <a:ext uri="{9D8B030D-6E8A-4147-A177-3AD203B41FA5}">
                      <a16:colId xmlns:a16="http://schemas.microsoft.com/office/drawing/2014/main" val="2757281948"/>
                    </a:ext>
                  </a:extLst>
                </a:gridCol>
                <a:gridCol w="2677770">
                  <a:extLst>
                    <a:ext uri="{9D8B030D-6E8A-4147-A177-3AD203B41FA5}">
                      <a16:colId xmlns:a16="http://schemas.microsoft.com/office/drawing/2014/main" val="1531420034"/>
                    </a:ext>
                  </a:extLst>
                </a:gridCol>
                <a:gridCol w="1398697">
                  <a:extLst>
                    <a:ext uri="{9D8B030D-6E8A-4147-A177-3AD203B41FA5}">
                      <a16:colId xmlns:a16="http://schemas.microsoft.com/office/drawing/2014/main" val="252278383"/>
                    </a:ext>
                  </a:extLst>
                </a:gridCol>
                <a:gridCol w="2935425">
                  <a:extLst>
                    <a:ext uri="{9D8B030D-6E8A-4147-A177-3AD203B41FA5}">
                      <a16:colId xmlns:a16="http://schemas.microsoft.com/office/drawing/2014/main" val="3439685422"/>
                    </a:ext>
                  </a:extLst>
                </a:gridCol>
              </a:tblGrid>
              <a:tr h="487734">
                <a:tc>
                  <a:txBody>
                    <a:bodyPr/>
                    <a:lstStyle/>
                    <a:p>
                      <a:pPr>
                        <a:lnSpc>
                          <a:spcPct val="107000"/>
                        </a:lnSpc>
                        <a:spcBef>
                          <a:spcPts val="900"/>
                        </a:spcBef>
                        <a:spcAft>
                          <a:spcPts val="900"/>
                        </a:spcAft>
                      </a:pPr>
                      <a:r>
                        <a:rPr lang="en-IN" sz="1200">
                          <a:effectLst/>
                        </a:rPr>
                        <a:t>ORDERNUMBER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Order Number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CUSTOMERNAME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customer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1568799744"/>
                  </a:ext>
                </a:extLst>
              </a:tr>
              <a:tr h="298969">
                <a:tc>
                  <a:txBody>
                    <a:bodyPr/>
                    <a:lstStyle/>
                    <a:p>
                      <a:pPr>
                        <a:lnSpc>
                          <a:spcPct val="107000"/>
                        </a:lnSpc>
                        <a:spcBef>
                          <a:spcPts val="900"/>
                        </a:spcBef>
                        <a:spcAft>
                          <a:spcPts val="900"/>
                        </a:spcAft>
                      </a:pPr>
                      <a:r>
                        <a:rPr lang="en-IN" sz="1200">
                          <a:effectLst/>
                        </a:rPr>
                        <a:t>QUANTITYORDERED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Quantity ordered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PHONE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Phone of the customer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3557650323"/>
                  </a:ext>
                </a:extLst>
              </a:tr>
              <a:tr h="298969">
                <a:tc>
                  <a:txBody>
                    <a:bodyPr/>
                    <a:lstStyle/>
                    <a:p>
                      <a:pPr>
                        <a:lnSpc>
                          <a:spcPct val="107000"/>
                        </a:lnSpc>
                        <a:spcBef>
                          <a:spcPts val="900"/>
                        </a:spcBef>
                        <a:spcAft>
                          <a:spcPts val="900"/>
                        </a:spcAft>
                      </a:pPr>
                      <a:r>
                        <a:rPr lang="en-IN" sz="1200">
                          <a:effectLst/>
                        </a:rPr>
                        <a:t>PRICEEACH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Price of Each item</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ADDRESSLINE1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Address of customer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3650987854"/>
                  </a:ext>
                </a:extLst>
              </a:tr>
              <a:tr h="298969">
                <a:tc>
                  <a:txBody>
                    <a:bodyPr/>
                    <a:lstStyle/>
                    <a:p>
                      <a:pPr>
                        <a:lnSpc>
                          <a:spcPct val="107000"/>
                        </a:lnSpc>
                        <a:spcBef>
                          <a:spcPts val="900"/>
                        </a:spcBef>
                        <a:spcAft>
                          <a:spcPts val="900"/>
                        </a:spcAft>
                      </a:pPr>
                      <a:r>
                        <a:rPr lang="en-IN" sz="1200">
                          <a:effectLst/>
                        </a:rPr>
                        <a:t>ORDERLINENUMBER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order line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CITY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City of customer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2408571157"/>
                  </a:ext>
                </a:extLst>
              </a:tr>
              <a:tr h="298969">
                <a:tc>
                  <a:txBody>
                    <a:bodyPr/>
                    <a:lstStyle/>
                    <a:p>
                      <a:pPr>
                        <a:lnSpc>
                          <a:spcPct val="107000"/>
                        </a:lnSpc>
                        <a:spcBef>
                          <a:spcPts val="900"/>
                        </a:spcBef>
                        <a:spcAft>
                          <a:spcPts val="900"/>
                        </a:spcAft>
                      </a:pPr>
                      <a:r>
                        <a:rPr lang="en-IN" sz="1200">
                          <a:effectLst/>
                        </a:rPr>
                        <a:t>SALES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Sales amount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POSTALCODE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Postal Code of customer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3276389211"/>
                  </a:ext>
                </a:extLst>
              </a:tr>
              <a:tr h="298969">
                <a:tc>
                  <a:txBody>
                    <a:bodyPr/>
                    <a:lstStyle/>
                    <a:p>
                      <a:pPr>
                        <a:lnSpc>
                          <a:spcPct val="107000"/>
                        </a:lnSpc>
                        <a:spcBef>
                          <a:spcPts val="900"/>
                        </a:spcBef>
                        <a:spcAft>
                          <a:spcPts val="900"/>
                        </a:spcAft>
                      </a:pPr>
                      <a:r>
                        <a:rPr lang="en-IN" sz="1200">
                          <a:effectLst/>
                        </a:rPr>
                        <a:t>ORDERDATE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Order Date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COUNTRY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Country customer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1692043687"/>
                  </a:ext>
                </a:extLst>
              </a:tr>
              <a:tr h="523348">
                <a:tc>
                  <a:txBody>
                    <a:bodyPr/>
                    <a:lstStyle/>
                    <a:p>
                      <a:pPr>
                        <a:lnSpc>
                          <a:spcPct val="107000"/>
                        </a:lnSpc>
                        <a:spcBef>
                          <a:spcPts val="900"/>
                        </a:spcBef>
                        <a:spcAft>
                          <a:spcPts val="900"/>
                        </a:spcAft>
                      </a:pPr>
                      <a:r>
                        <a:rPr lang="en-IN" sz="1200">
                          <a:effectLst/>
                        </a:rPr>
                        <a:t>DAYS_SINCE_LASTORDER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Days_ Since_Lastorder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CONTACTLASTNAME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Contact person customer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3375376378"/>
                  </a:ext>
                </a:extLst>
              </a:tr>
              <a:tr h="523348">
                <a:tc>
                  <a:txBody>
                    <a:bodyPr/>
                    <a:lstStyle/>
                    <a:p>
                      <a:pPr>
                        <a:lnSpc>
                          <a:spcPct val="107000"/>
                        </a:lnSpc>
                        <a:spcBef>
                          <a:spcPts val="900"/>
                        </a:spcBef>
                        <a:spcAft>
                          <a:spcPts val="900"/>
                        </a:spcAft>
                      </a:pPr>
                      <a:r>
                        <a:rPr lang="en-IN" sz="1200">
                          <a:effectLst/>
                        </a:rPr>
                        <a:t>STATUS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Status of order like Shipped or not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CONTACTFIRSTNAME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Contact person customer</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3934337320"/>
                  </a:ext>
                </a:extLst>
              </a:tr>
              <a:tr h="523348">
                <a:tc>
                  <a:txBody>
                    <a:bodyPr/>
                    <a:lstStyle/>
                    <a:p>
                      <a:pPr>
                        <a:lnSpc>
                          <a:spcPct val="107000"/>
                        </a:lnSpc>
                        <a:spcBef>
                          <a:spcPts val="900"/>
                        </a:spcBef>
                        <a:spcAft>
                          <a:spcPts val="900"/>
                        </a:spcAft>
                      </a:pPr>
                      <a:r>
                        <a:rPr lang="en-IN" sz="1200">
                          <a:effectLst/>
                        </a:rPr>
                        <a:t>PRODUCTLINE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Product line – CATEGORY</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DEALSIZE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Size of the deal based on Quantity and Item Price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947360015"/>
                  </a:ext>
                </a:extLst>
              </a:tr>
              <a:tr h="298969">
                <a:tc>
                  <a:txBody>
                    <a:bodyPr/>
                    <a:lstStyle/>
                    <a:p>
                      <a:pPr>
                        <a:lnSpc>
                          <a:spcPct val="107000"/>
                        </a:lnSpc>
                        <a:spcBef>
                          <a:spcPts val="900"/>
                        </a:spcBef>
                        <a:spcAft>
                          <a:spcPts val="900"/>
                        </a:spcAft>
                      </a:pPr>
                      <a:r>
                        <a:rPr lang="en-IN" sz="1200">
                          <a:effectLst/>
                        </a:rPr>
                        <a:t>MSRP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a:effectLst/>
                        </a:rPr>
                        <a:t>Manufacturer's Suggested Retail Price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2590850295"/>
                  </a:ext>
                </a:extLst>
              </a:tr>
              <a:tr h="298969">
                <a:tc>
                  <a:txBody>
                    <a:bodyPr/>
                    <a:lstStyle/>
                    <a:p>
                      <a:pPr>
                        <a:lnSpc>
                          <a:spcPct val="107000"/>
                        </a:lnSpc>
                        <a:spcBef>
                          <a:spcPts val="900"/>
                        </a:spcBef>
                        <a:spcAft>
                          <a:spcPts val="900"/>
                        </a:spcAft>
                      </a:pPr>
                      <a:r>
                        <a:rPr lang="en-IN" sz="1200">
                          <a:effectLst/>
                        </a:rPr>
                        <a:t>PRODUCTCODE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spcBef>
                          <a:spcPts val="900"/>
                        </a:spcBef>
                        <a:spcAft>
                          <a:spcPts val="900"/>
                        </a:spcAft>
                      </a:pPr>
                      <a:r>
                        <a:rPr lang="en-IN" sz="1200" dirty="0">
                          <a:effectLst/>
                        </a:rPr>
                        <a:t>Code of Product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pPr>
                      <a:endParaRPr lang="en-IN" sz="1100">
                        <a:effectLst/>
                        <a:latin typeface="Calibri" panose="020F0502020204030204" pitchFamily="34" charset="0"/>
                        <a:cs typeface="Times New Roman" panose="02020603050405020304" pitchFamily="18" charset="0"/>
                      </a:endParaRPr>
                    </a:p>
                  </a:txBody>
                  <a:tcPr marL="73693" marR="73693" marT="36847" marB="36847" anchor="ctr"/>
                </a:tc>
                <a:tc>
                  <a:txBody>
                    <a:bodyPr/>
                    <a:lstStyle/>
                    <a:p>
                      <a:pPr>
                        <a:lnSpc>
                          <a:spcPct val="107000"/>
                        </a:lnSpc>
                      </a:pPr>
                      <a:endParaRPr lang="en-IN" sz="1100" dirty="0">
                        <a:effectLst/>
                        <a:latin typeface="Calibri" panose="020F0502020204030204" pitchFamily="34" charset="0"/>
                        <a:cs typeface="Times New Roman" panose="02020603050405020304" pitchFamily="18" charset="0"/>
                      </a:endParaRPr>
                    </a:p>
                  </a:txBody>
                  <a:tcPr marL="73693" marR="73693" marT="36847" marB="36847" anchor="ctr"/>
                </a:tc>
                <a:extLst>
                  <a:ext uri="{0D108BD9-81ED-4DB2-BD59-A6C34878D82A}">
                    <a16:rowId xmlns:a16="http://schemas.microsoft.com/office/drawing/2014/main" val="2934402452"/>
                  </a:ext>
                </a:extLst>
              </a:tr>
            </a:tbl>
          </a:graphicData>
        </a:graphic>
      </p:graphicFrame>
    </p:spTree>
    <p:extLst>
      <p:ext uri="{BB962C8B-B14F-4D97-AF65-F5344CB8AC3E}">
        <p14:creationId xmlns:p14="http://schemas.microsoft.com/office/powerpoint/2010/main" val="762739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48195"/>
            <a:ext cx="10131425" cy="923108"/>
          </a:xfrm>
        </p:spPr>
        <p:txBody>
          <a:bodyPr/>
          <a:lstStyle/>
          <a:p>
            <a:r>
              <a:rPr lang="en-US" dirty="0" smtClean="0"/>
              <a:t>Data SET- Head COUNT</a:t>
            </a: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3794724663"/>
              </p:ext>
            </p:extLst>
          </p:nvPr>
        </p:nvGraphicFramePr>
        <p:xfrm>
          <a:off x="574771" y="1171304"/>
          <a:ext cx="11207923" cy="3949336"/>
        </p:xfrm>
        <a:graphic>
          <a:graphicData uri="http://schemas.openxmlformats.org/drawingml/2006/table">
            <a:tbl>
              <a:tblPr>
                <a:tableStyleId>{08FB837D-C827-4EFA-A057-4D05807E0F7C}</a:tableStyleId>
              </a:tblPr>
              <a:tblGrid>
                <a:gridCol w="540727">
                  <a:extLst>
                    <a:ext uri="{9D8B030D-6E8A-4147-A177-3AD203B41FA5}">
                      <a16:colId xmlns:a16="http://schemas.microsoft.com/office/drawing/2014/main" val="1095906609"/>
                    </a:ext>
                  </a:extLst>
                </a:gridCol>
                <a:gridCol w="653908">
                  <a:extLst>
                    <a:ext uri="{9D8B030D-6E8A-4147-A177-3AD203B41FA5}">
                      <a16:colId xmlns:a16="http://schemas.microsoft.com/office/drawing/2014/main" val="2623752968"/>
                    </a:ext>
                  </a:extLst>
                </a:gridCol>
                <a:gridCol w="591032">
                  <a:extLst>
                    <a:ext uri="{9D8B030D-6E8A-4147-A177-3AD203B41FA5}">
                      <a16:colId xmlns:a16="http://schemas.microsoft.com/office/drawing/2014/main" val="3965905351"/>
                    </a:ext>
                  </a:extLst>
                </a:gridCol>
                <a:gridCol w="515582">
                  <a:extLst>
                    <a:ext uri="{9D8B030D-6E8A-4147-A177-3AD203B41FA5}">
                      <a16:colId xmlns:a16="http://schemas.microsoft.com/office/drawing/2014/main" val="3534171874"/>
                    </a:ext>
                  </a:extLst>
                </a:gridCol>
                <a:gridCol w="503006">
                  <a:extLst>
                    <a:ext uri="{9D8B030D-6E8A-4147-A177-3AD203B41FA5}">
                      <a16:colId xmlns:a16="http://schemas.microsoft.com/office/drawing/2014/main" val="1514806982"/>
                    </a:ext>
                  </a:extLst>
                </a:gridCol>
                <a:gridCol w="578457">
                  <a:extLst>
                    <a:ext uri="{9D8B030D-6E8A-4147-A177-3AD203B41FA5}">
                      <a16:colId xmlns:a16="http://schemas.microsoft.com/office/drawing/2014/main" val="2474951366"/>
                    </a:ext>
                  </a:extLst>
                </a:gridCol>
                <a:gridCol w="575328">
                  <a:extLst>
                    <a:ext uri="{9D8B030D-6E8A-4147-A177-3AD203B41FA5}">
                      <a16:colId xmlns:a16="http://schemas.microsoft.com/office/drawing/2014/main" val="633911239"/>
                    </a:ext>
                  </a:extLst>
                </a:gridCol>
                <a:gridCol w="600892">
                  <a:extLst>
                    <a:ext uri="{9D8B030D-6E8A-4147-A177-3AD203B41FA5}">
                      <a16:colId xmlns:a16="http://schemas.microsoft.com/office/drawing/2014/main" val="2967946568"/>
                    </a:ext>
                  </a:extLst>
                </a:gridCol>
                <a:gridCol w="548251">
                  <a:extLst>
                    <a:ext uri="{9D8B030D-6E8A-4147-A177-3AD203B41FA5}">
                      <a16:colId xmlns:a16="http://schemas.microsoft.com/office/drawing/2014/main" val="2161882184"/>
                    </a:ext>
                  </a:extLst>
                </a:gridCol>
                <a:gridCol w="508395">
                  <a:extLst>
                    <a:ext uri="{9D8B030D-6E8A-4147-A177-3AD203B41FA5}">
                      <a16:colId xmlns:a16="http://schemas.microsoft.com/office/drawing/2014/main" val="3670952564"/>
                    </a:ext>
                  </a:extLst>
                </a:gridCol>
                <a:gridCol w="508395">
                  <a:extLst>
                    <a:ext uri="{9D8B030D-6E8A-4147-A177-3AD203B41FA5}">
                      <a16:colId xmlns:a16="http://schemas.microsoft.com/office/drawing/2014/main" val="1411000017"/>
                    </a:ext>
                  </a:extLst>
                </a:gridCol>
                <a:gridCol w="508395">
                  <a:extLst>
                    <a:ext uri="{9D8B030D-6E8A-4147-A177-3AD203B41FA5}">
                      <a16:colId xmlns:a16="http://schemas.microsoft.com/office/drawing/2014/main" val="2058842215"/>
                    </a:ext>
                  </a:extLst>
                </a:gridCol>
                <a:gridCol w="508395">
                  <a:extLst>
                    <a:ext uri="{9D8B030D-6E8A-4147-A177-3AD203B41FA5}">
                      <a16:colId xmlns:a16="http://schemas.microsoft.com/office/drawing/2014/main" val="2232581743"/>
                    </a:ext>
                  </a:extLst>
                </a:gridCol>
                <a:gridCol w="508395">
                  <a:extLst>
                    <a:ext uri="{9D8B030D-6E8A-4147-A177-3AD203B41FA5}">
                      <a16:colId xmlns:a16="http://schemas.microsoft.com/office/drawing/2014/main" val="936889294"/>
                    </a:ext>
                  </a:extLst>
                </a:gridCol>
                <a:gridCol w="508395">
                  <a:extLst>
                    <a:ext uri="{9D8B030D-6E8A-4147-A177-3AD203B41FA5}">
                      <a16:colId xmlns:a16="http://schemas.microsoft.com/office/drawing/2014/main" val="2387141958"/>
                    </a:ext>
                  </a:extLst>
                </a:gridCol>
                <a:gridCol w="508395">
                  <a:extLst>
                    <a:ext uri="{9D8B030D-6E8A-4147-A177-3AD203B41FA5}">
                      <a16:colId xmlns:a16="http://schemas.microsoft.com/office/drawing/2014/main" val="2385207922"/>
                    </a:ext>
                  </a:extLst>
                </a:gridCol>
                <a:gridCol w="508395">
                  <a:extLst>
                    <a:ext uri="{9D8B030D-6E8A-4147-A177-3AD203B41FA5}">
                      <a16:colId xmlns:a16="http://schemas.microsoft.com/office/drawing/2014/main" val="2703319199"/>
                    </a:ext>
                  </a:extLst>
                </a:gridCol>
                <a:gridCol w="508395">
                  <a:extLst>
                    <a:ext uri="{9D8B030D-6E8A-4147-A177-3AD203B41FA5}">
                      <a16:colId xmlns:a16="http://schemas.microsoft.com/office/drawing/2014/main" val="3239695742"/>
                    </a:ext>
                  </a:extLst>
                </a:gridCol>
                <a:gridCol w="508395">
                  <a:extLst>
                    <a:ext uri="{9D8B030D-6E8A-4147-A177-3AD203B41FA5}">
                      <a16:colId xmlns:a16="http://schemas.microsoft.com/office/drawing/2014/main" val="3474379480"/>
                    </a:ext>
                  </a:extLst>
                </a:gridCol>
                <a:gridCol w="508395">
                  <a:extLst>
                    <a:ext uri="{9D8B030D-6E8A-4147-A177-3AD203B41FA5}">
                      <a16:colId xmlns:a16="http://schemas.microsoft.com/office/drawing/2014/main" val="422172378"/>
                    </a:ext>
                  </a:extLst>
                </a:gridCol>
                <a:gridCol w="508395">
                  <a:extLst>
                    <a:ext uri="{9D8B030D-6E8A-4147-A177-3AD203B41FA5}">
                      <a16:colId xmlns:a16="http://schemas.microsoft.com/office/drawing/2014/main" val="2425825643"/>
                    </a:ext>
                  </a:extLst>
                </a:gridCol>
              </a:tblGrid>
              <a:tr h="712854">
                <a:tc>
                  <a:txBody>
                    <a:bodyPr/>
                    <a:lstStyle/>
                    <a:p>
                      <a:endParaRPr lang="en-IN"/>
                    </a:p>
                  </a:txBody>
                  <a:tcPr marL="7538" marR="7538" marT="7538" marB="0" anchor="ctr"/>
                </a:tc>
                <a:tc>
                  <a:txBody>
                    <a:bodyPr/>
                    <a:lstStyle/>
                    <a:p>
                      <a:pPr algn="r" fontAlgn="ctr"/>
                      <a:r>
                        <a:rPr lang="en-IN" sz="1050" u="none" strike="noStrike" dirty="0">
                          <a:effectLst/>
                        </a:rPr>
                        <a:t>ORDERNUMBER</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QUANTITYORDERED</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PRICEEACH</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ORDERLINENUMBER</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SALES</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ORDERDATE</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DAYS_SINCE_LASTORDER</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STATUS</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PRODUCTLINE</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MSRP</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PRODUCTCODE</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CUSTOMERNAME</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PHONE</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ADDRESSLINE1</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CITY</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POSTALCODE</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COUNTRY</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CONTACTLASTNAME</a:t>
                      </a:r>
                      <a:endParaRPr lang="en-IN" sz="1050" b="1"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CONTACTFIRSTNAME</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DEALSIZE</a:t>
                      </a:r>
                      <a:endParaRPr lang="en-IN" sz="1050" b="1" i="0" u="none" strike="noStrike" dirty="0">
                        <a:solidFill>
                          <a:srgbClr val="000000"/>
                        </a:solidFill>
                        <a:effectLst/>
                        <a:latin typeface="Arial" panose="020B0604020202020204" pitchFamily="34" charset="0"/>
                      </a:endParaRPr>
                    </a:p>
                  </a:txBody>
                  <a:tcPr marL="7538" marR="7538" marT="7538" marB="0" anchor="ctr"/>
                </a:tc>
                <a:extLst>
                  <a:ext uri="{0D108BD9-81ED-4DB2-BD59-A6C34878D82A}">
                    <a16:rowId xmlns:a16="http://schemas.microsoft.com/office/drawing/2014/main" val="2899293347"/>
                  </a:ext>
                </a:extLst>
              </a:tr>
              <a:tr h="712854">
                <a:tc>
                  <a:txBody>
                    <a:bodyPr/>
                    <a:lstStyle/>
                    <a:p>
                      <a:pPr algn="r" fontAlgn="ctr"/>
                      <a:r>
                        <a:rPr lang="en-IN" sz="1050" u="none" strike="noStrike">
                          <a:effectLst/>
                        </a:rPr>
                        <a:t>0</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10107</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30</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95.7</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2</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2871</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ctr" fontAlgn="ctr"/>
                      <a:r>
                        <a:rPr lang="en-IN" sz="1050" u="none" strike="noStrike">
                          <a:effectLst/>
                        </a:rPr>
                        <a:t>########</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828</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Shipped</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Motorcycles</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S10_1678</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Land of Toys Inc.</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2.13E+09</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897 Long Airport Avenue</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NYC</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10022</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USA</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Yu</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Kwai</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Small</a:t>
                      </a:r>
                      <a:endParaRPr lang="en-IN" sz="1050" b="0" i="0" u="none" strike="noStrike">
                        <a:solidFill>
                          <a:srgbClr val="000000"/>
                        </a:solidFill>
                        <a:effectLst/>
                        <a:latin typeface="Arial" panose="020B0604020202020204" pitchFamily="34" charset="0"/>
                      </a:endParaRPr>
                    </a:p>
                  </a:txBody>
                  <a:tcPr marL="7538" marR="7538" marT="7538" marB="0" anchor="ctr"/>
                </a:tc>
                <a:extLst>
                  <a:ext uri="{0D108BD9-81ED-4DB2-BD59-A6C34878D82A}">
                    <a16:rowId xmlns:a16="http://schemas.microsoft.com/office/drawing/2014/main" val="3549307393"/>
                  </a:ext>
                </a:extLst>
              </a:tr>
              <a:tr h="544878">
                <a:tc>
                  <a:txBody>
                    <a:bodyPr/>
                    <a:lstStyle/>
                    <a:p>
                      <a:pPr algn="r" fontAlgn="ctr"/>
                      <a:r>
                        <a:rPr lang="en-IN" sz="1050" u="none" strike="noStrike">
                          <a:effectLst/>
                        </a:rPr>
                        <a:t>1</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10121</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34</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81.35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2765.9</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ctr" fontAlgn="ctr"/>
                      <a:r>
                        <a:rPr lang="en-IN" sz="1050" u="none" strike="noStrike">
                          <a:effectLst/>
                        </a:rPr>
                        <a:t>########</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757</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Shipped</a:t>
                      </a:r>
                      <a:endParaRPr lang="en-IN" sz="1050" b="0"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Motorcycles</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S10_1678</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Reims Collectables</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26.47.1555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59 rue de l'Abbaye</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Reims</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51100</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France</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Henriot</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Paul</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Small</a:t>
                      </a:r>
                      <a:endParaRPr lang="en-IN" sz="1050" b="0" i="0" u="none" strike="noStrike" dirty="0">
                        <a:solidFill>
                          <a:srgbClr val="000000"/>
                        </a:solidFill>
                        <a:effectLst/>
                        <a:latin typeface="Arial" panose="020B0604020202020204" pitchFamily="34" charset="0"/>
                      </a:endParaRPr>
                    </a:p>
                  </a:txBody>
                  <a:tcPr marL="7538" marR="7538" marT="7538" marB="0" anchor="ctr"/>
                </a:tc>
                <a:extLst>
                  <a:ext uri="{0D108BD9-81ED-4DB2-BD59-A6C34878D82A}">
                    <a16:rowId xmlns:a16="http://schemas.microsoft.com/office/drawing/2014/main" val="2384348434"/>
                  </a:ext>
                </a:extLst>
              </a:tr>
              <a:tr h="888994">
                <a:tc>
                  <a:txBody>
                    <a:bodyPr/>
                    <a:lstStyle/>
                    <a:p>
                      <a:pPr algn="r" fontAlgn="ctr"/>
                      <a:r>
                        <a:rPr lang="en-IN" sz="1050" u="none" strike="noStrike">
                          <a:effectLst/>
                        </a:rPr>
                        <a:t>2</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10134</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41</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94.74</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2</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3884.34</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ctr" fontAlgn="ctr"/>
                      <a:r>
                        <a:rPr lang="en-IN" sz="1050" u="none" strike="noStrike">
                          <a:effectLst/>
                        </a:rPr>
                        <a:t>########</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703</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Shipped</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Motorcycles</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S10_1678</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Lyon Souveniers</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+33 1 46 62 7555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fr-FR" sz="1050" u="none" strike="noStrike">
                          <a:effectLst/>
                        </a:rPr>
                        <a:t>27 rue du Colonel Pierre Avia</a:t>
                      </a:r>
                      <a:endParaRPr lang="fr-FR"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Paris</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75508</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France</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Da Cunha</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Daniel</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Medium</a:t>
                      </a:r>
                      <a:endParaRPr lang="en-IN" sz="1050" b="0" i="0" u="none" strike="noStrike">
                        <a:solidFill>
                          <a:srgbClr val="000000"/>
                        </a:solidFill>
                        <a:effectLst/>
                        <a:latin typeface="Arial" panose="020B0604020202020204" pitchFamily="34" charset="0"/>
                      </a:endParaRPr>
                    </a:p>
                  </a:txBody>
                  <a:tcPr marL="7538" marR="7538" marT="7538" marB="0" anchor="ctr"/>
                </a:tc>
                <a:extLst>
                  <a:ext uri="{0D108BD9-81ED-4DB2-BD59-A6C34878D82A}">
                    <a16:rowId xmlns:a16="http://schemas.microsoft.com/office/drawing/2014/main" val="2077492027"/>
                  </a:ext>
                </a:extLst>
              </a:tr>
              <a:tr h="544878">
                <a:tc>
                  <a:txBody>
                    <a:bodyPr/>
                    <a:lstStyle/>
                    <a:p>
                      <a:pPr algn="r" fontAlgn="ctr"/>
                      <a:r>
                        <a:rPr lang="en-IN" sz="1050" u="none" strike="noStrike">
                          <a:effectLst/>
                        </a:rPr>
                        <a:t>3</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10145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45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83.26</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6</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3746.7</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ctr" fontAlgn="ctr"/>
                      <a:r>
                        <a:rPr lang="en-IN" sz="1050" u="none" strike="noStrike">
                          <a:effectLst/>
                        </a:rPr>
                        <a:t>########</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649</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Shipped</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Motorcycles</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95</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S10_1678</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Toys4GrownUps.com</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6.27E+09</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78934 Hillside Dr.</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Pasadena</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90003</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USA</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Young</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Julie</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Medium</a:t>
                      </a:r>
                      <a:endParaRPr lang="en-IN" sz="1050" b="0" i="0" u="none" strike="noStrike">
                        <a:solidFill>
                          <a:srgbClr val="000000"/>
                        </a:solidFill>
                        <a:effectLst/>
                        <a:latin typeface="Arial" panose="020B0604020202020204" pitchFamily="34" charset="0"/>
                      </a:endParaRPr>
                    </a:p>
                  </a:txBody>
                  <a:tcPr marL="7538" marR="7538" marT="7538" marB="0" anchor="ctr"/>
                </a:tc>
                <a:extLst>
                  <a:ext uri="{0D108BD9-81ED-4DB2-BD59-A6C34878D82A}">
                    <a16:rowId xmlns:a16="http://schemas.microsoft.com/office/drawing/2014/main" val="3524813740"/>
                  </a:ext>
                </a:extLst>
              </a:tr>
              <a:tr h="544878">
                <a:tc>
                  <a:txBody>
                    <a:bodyPr/>
                    <a:lstStyle/>
                    <a:p>
                      <a:pPr algn="r" fontAlgn="ctr"/>
                      <a:r>
                        <a:rPr lang="en-IN" sz="1050" u="none" strike="noStrike">
                          <a:effectLst/>
                        </a:rPr>
                        <a:t>4</a:t>
                      </a:r>
                      <a:endParaRPr lang="en-IN" sz="1050" b="1"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10168</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36</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96.66</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1</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3479.76</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ctr" fontAlgn="ctr"/>
                      <a:r>
                        <a:rPr lang="en-IN" sz="1050" u="none" strike="noStrike">
                          <a:effectLst/>
                        </a:rPr>
                        <a:t>########</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586</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Shipped</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Motorcycles</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95</a:t>
                      </a:r>
                      <a:endParaRPr lang="en-IN" sz="1050" b="0" i="0" u="none" strike="noStrike" dirty="0">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S10_1678</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Technics Stores Inc.</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6.51E+09</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9408 Furth Circle</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Burlingame</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94217</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USA</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Hirano</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a:effectLst/>
                        </a:rPr>
                        <a:t>Juri</a:t>
                      </a:r>
                      <a:endParaRPr lang="en-IN" sz="1050" b="0" i="0" u="none" strike="noStrike">
                        <a:solidFill>
                          <a:srgbClr val="000000"/>
                        </a:solidFill>
                        <a:effectLst/>
                        <a:latin typeface="Arial" panose="020B0604020202020204" pitchFamily="34" charset="0"/>
                      </a:endParaRPr>
                    </a:p>
                  </a:txBody>
                  <a:tcPr marL="7538" marR="7538" marT="7538" marB="0" anchor="ctr"/>
                </a:tc>
                <a:tc>
                  <a:txBody>
                    <a:bodyPr/>
                    <a:lstStyle/>
                    <a:p>
                      <a:pPr algn="r" fontAlgn="ctr"/>
                      <a:r>
                        <a:rPr lang="en-IN" sz="1050" u="none" strike="noStrike" dirty="0">
                          <a:effectLst/>
                        </a:rPr>
                        <a:t>Medium</a:t>
                      </a:r>
                      <a:endParaRPr lang="en-IN" sz="1050" b="0" i="0" u="none" strike="noStrike" dirty="0">
                        <a:solidFill>
                          <a:srgbClr val="000000"/>
                        </a:solidFill>
                        <a:effectLst/>
                        <a:latin typeface="Arial" panose="020B0604020202020204" pitchFamily="34" charset="0"/>
                      </a:endParaRPr>
                    </a:p>
                  </a:txBody>
                  <a:tcPr marL="7538" marR="7538" marT="7538" marB="0" anchor="ctr"/>
                </a:tc>
                <a:extLst>
                  <a:ext uri="{0D108BD9-81ED-4DB2-BD59-A6C34878D82A}">
                    <a16:rowId xmlns:a16="http://schemas.microsoft.com/office/drawing/2014/main" val="2595573976"/>
                  </a:ext>
                </a:extLst>
              </a:tr>
            </a:tbl>
          </a:graphicData>
        </a:graphic>
      </p:graphicFrame>
      <p:sp>
        <p:nvSpPr>
          <p:cNvPr id="7" name="Rectangle 6"/>
          <p:cNvSpPr/>
          <p:nvPr/>
        </p:nvSpPr>
        <p:spPr>
          <a:xfrm>
            <a:off x="1018900" y="5564777"/>
            <a:ext cx="10358859" cy="927463"/>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200" dirty="0" smtClean="0"/>
              <a:t>The dataset has 2474 rows and  20 columns. It is sales dataset from retail and requires EDA before we proceed for final analysis based on customer segmentation and RFM analysis. The dataset  is read into the </a:t>
            </a:r>
            <a:r>
              <a:rPr lang="en-US" sz="1200" dirty="0" err="1" smtClean="0"/>
              <a:t>Jupyter</a:t>
            </a:r>
            <a:r>
              <a:rPr lang="en-US" sz="1200" dirty="0" smtClean="0"/>
              <a:t> Notebook  and then head count  is uploaded</a:t>
            </a:r>
            <a:r>
              <a:rPr lang="en-US" sz="1100" dirty="0" smtClean="0"/>
              <a:t>. </a:t>
            </a:r>
            <a:endParaRPr lang="en-IN" sz="1100" dirty="0"/>
          </a:p>
        </p:txBody>
      </p:sp>
    </p:spTree>
    <p:extLst>
      <p:ext uri="{BB962C8B-B14F-4D97-AF65-F5344CB8AC3E}">
        <p14:creationId xmlns:p14="http://schemas.microsoft.com/office/powerpoint/2010/main" val="488982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Descriptive Stats – Numerical Variables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5879420"/>
              </p:ext>
            </p:extLst>
          </p:nvPr>
        </p:nvGraphicFramePr>
        <p:xfrm>
          <a:off x="1214850" y="1920237"/>
          <a:ext cx="8829715" cy="3644541"/>
        </p:xfrm>
        <a:graphic>
          <a:graphicData uri="http://schemas.openxmlformats.org/drawingml/2006/table">
            <a:tbl>
              <a:tblPr>
                <a:tableStyleId>{08FB837D-C827-4EFA-A057-4D05807E0F7C}</a:tableStyleId>
              </a:tblPr>
              <a:tblGrid>
                <a:gridCol w="992613">
                  <a:extLst>
                    <a:ext uri="{9D8B030D-6E8A-4147-A177-3AD203B41FA5}">
                      <a16:colId xmlns:a16="http://schemas.microsoft.com/office/drawing/2014/main" val="89988169"/>
                    </a:ext>
                  </a:extLst>
                </a:gridCol>
                <a:gridCol w="1119586">
                  <a:extLst>
                    <a:ext uri="{9D8B030D-6E8A-4147-A177-3AD203B41FA5}">
                      <a16:colId xmlns:a16="http://schemas.microsoft.com/office/drawing/2014/main" val="495239217"/>
                    </a:ext>
                  </a:extLst>
                </a:gridCol>
                <a:gridCol w="1119586">
                  <a:extLst>
                    <a:ext uri="{9D8B030D-6E8A-4147-A177-3AD203B41FA5}">
                      <a16:colId xmlns:a16="http://schemas.microsoft.com/office/drawing/2014/main" val="2940295005"/>
                    </a:ext>
                  </a:extLst>
                </a:gridCol>
                <a:gridCol w="1119586">
                  <a:extLst>
                    <a:ext uri="{9D8B030D-6E8A-4147-A177-3AD203B41FA5}">
                      <a16:colId xmlns:a16="http://schemas.microsoft.com/office/drawing/2014/main" val="3256031424"/>
                    </a:ext>
                  </a:extLst>
                </a:gridCol>
                <a:gridCol w="1119586">
                  <a:extLst>
                    <a:ext uri="{9D8B030D-6E8A-4147-A177-3AD203B41FA5}">
                      <a16:colId xmlns:a16="http://schemas.microsoft.com/office/drawing/2014/main" val="3481924818"/>
                    </a:ext>
                  </a:extLst>
                </a:gridCol>
                <a:gridCol w="1119586">
                  <a:extLst>
                    <a:ext uri="{9D8B030D-6E8A-4147-A177-3AD203B41FA5}">
                      <a16:colId xmlns:a16="http://schemas.microsoft.com/office/drawing/2014/main" val="2048447585"/>
                    </a:ext>
                  </a:extLst>
                </a:gridCol>
                <a:gridCol w="1119586">
                  <a:extLst>
                    <a:ext uri="{9D8B030D-6E8A-4147-A177-3AD203B41FA5}">
                      <a16:colId xmlns:a16="http://schemas.microsoft.com/office/drawing/2014/main" val="2418580426"/>
                    </a:ext>
                  </a:extLst>
                </a:gridCol>
                <a:gridCol w="1119586">
                  <a:extLst>
                    <a:ext uri="{9D8B030D-6E8A-4147-A177-3AD203B41FA5}">
                      <a16:colId xmlns:a16="http://schemas.microsoft.com/office/drawing/2014/main" val="3466003663"/>
                    </a:ext>
                  </a:extLst>
                </a:gridCol>
              </a:tblGrid>
              <a:tr h="705393">
                <a:tc>
                  <a:txBody>
                    <a:bodyPr/>
                    <a:lstStyle/>
                    <a:p>
                      <a:endParaRPr lang="en-IN"/>
                    </a:p>
                  </a:txBody>
                  <a:tcPr marL="9525" marR="9525" marT="9525" marB="0" anchor="ctr"/>
                </a:tc>
                <a:tc>
                  <a:txBody>
                    <a:bodyPr/>
                    <a:lstStyle/>
                    <a:p>
                      <a:pPr algn="r" fontAlgn="ctr"/>
                      <a:r>
                        <a:rPr lang="en-IN" sz="1200" u="none" strike="noStrike" dirty="0">
                          <a:effectLst/>
                        </a:rPr>
                        <a:t>ORDERNUMBER</a:t>
                      </a:r>
                      <a:endParaRPr lang="en-IN"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dirty="0">
                          <a:effectLst/>
                        </a:rPr>
                        <a:t>QUANTITYORDERED</a:t>
                      </a:r>
                      <a:endParaRPr lang="en-IN"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dirty="0">
                          <a:effectLst/>
                        </a:rPr>
                        <a:t>PRICEEACH</a:t>
                      </a:r>
                      <a:endParaRPr lang="en-IN"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dirty="0">
                          <a:effectLst/>
                        </a:rPr>
                        <a:t>ORDERLINENUMBER</a:t>
                      </a:r>
                      <a:endParaRPr lang="en-IN"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dirty="0">
                          <a:effectLst/>
                        </a:rPr>
                        <a:t>SALES</a:t>
                      </a:r>
                      <a:endParaRPr lang="en-IN"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dirty="0">
                          <a:effectLst/>
                        </a:rPr>
                        <a:t>DAYS_SINCE_LASTORDER</a:t>
                      </a:r>
                      <a:endParaRPr lang="en-IN"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dirty="0">
                          <a:effectLst/>
                        </a:rPr>
                        <a:t>MSRP</a:t>
                      </a:r>
                      <a:endParaRPr lang="en-IN"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9574085"/>
                  </a:ext>
                </a:extLst>
              </a:tr>
              <a:tr h="293915">
                <a:tc>
                  <a:txBody>
                    <a:bodyPr/>
                    <a:lstStyle/>
                    <a:p>
                      <a:pPr algn="r" fontAlgn="ctr"/>
                      <a:r>
                        <a:rPr lang="en-IN" sz="1200" u="none" strike="noStrike">
                          <a:effectLst/>
                        </a:rPr>
                        <a:t>count</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2747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2747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2747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2747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2747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2747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2747</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77177628"/>
                  </a:ext>
                </a:extLst>
              </a:tr>
              <a:tr h="293915">
                <a:tc>
                  <a:txBody>
                    <a:bodyPr/>
                    <a:lstStyle/>
                    <a:p>
                      <a:pPr algn="r" fontAlgn="ctr"/>
                      <a:r>
                        <a:rPr lang="en-IN" sz="1200" u="none" strike="noStrike">
                          <a:effectLst/>
                        </a:rPr>
                        <a:t>mean</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10259.762</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35.103021</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101.09895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6.491081</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3553.0476</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1757.0859</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100.69166</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79625473"/>
                  </a:ext>
                </a:extLst>
              </a:tr>
              <a:tr h="293915">
                <a:tc>
                  <a:txBody>
                    <a:bodyPr/>
                    <a:lstStyle/>
                    <a:p>
                      <a:pPr algn="r" fontAlgn="ctr"/>
                      <a:r>
                        <a:rPr lang="en-IN" sz="1200" u="none" strike="noStrike">
                          <a:effectLst/>
                        </a:rPr>
                        <a:t>std</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91.877521</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9.762135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42.042548</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4.230544</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1838.9539</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819.28058</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40.114802</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56214783"/>
                  </a:ext>
                </a:extLst>
              </a:tr>
              <a:tr h="293915">
                <a:tc>
                  <a:txBody>
                    <a:bodyPr/>
                    <a:lstStyle/>
                    <a:p>
                      <a:pPr algn="r" fontAlgn="ctr"/>
                      <a:r>
                        <a:rPr lang="en-IN" sz="1200" u="none" strike="noStrike">
                          <a:effectLst/>
                        </a:rPr>
                        <a:t>min</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10100</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6</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26.88</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482.13</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42</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33</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920547084"/>
                  </a:ext>
                </a:extLst>
              </a:tr>
              <a:tr h="293915">
                <a:tc>
                  <a:txBody>
                    <a:bodyPr/>
                    <a:lstStyle/>
                    <a:p>
                      <a:pPr algn="r" fontAlgn="ctr"/>
                      <a:r>
                        <a:rPr lang="en-IN" sz="1200" u="none" strike="noStrike">
                          <a:effectLst/>
                        </a:rPr>
                        <a:t>25%</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10181</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68.745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3</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2204.35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1077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68</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92460659"/>
                  </a:ext>
                </a:extLst>
              </a:tr>
              <a:tr h="293915">
                <a:tc>
                  <a:txBody>
                    <a:bodyPr/>
                    <a:lstStyle/>
                    <a:p>
                      <a:pPr algn="r" fontAlgn="ctr"/>
                      <a:r>
                        <a:rPr lang="en-IN" sz="1200" u="none" strike="noStrike">
                          <a:effectLst/>
                        </a:rPr>
                        <a:t>50%</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10264</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35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95.55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6</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3184.8</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1761</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99</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66576487"/>
                  </a:ext>
                </a:extLst>
              </a:tr>
              <a:tr h="293915">
                <a:tc>
                  <a:txBody>
                    <a:bodyPr/>
                    <a:lstStyle/>
                    <a:p>
                      <a:pPr algn="r" fontAlgn="ctr"/>
                      <a:r>
                        <a:rPr lang="en-IN" sz="1200" u="none" strike="noStrike">
                          <a:effectLst/>
                        </a:rPr>
                        <a:t>75%</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10334.5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43</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127.1</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9</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4503.095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2436.5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124</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39625471"/>
                  </a:ext>
                </a:extLst>
              </a:tr>
              <a:tr h="293915">
                <a:tc>
                  <a:txBody>
                    <a:bodyPr/>
                    <a:lstStyle/>
                    <a:p>
                      <a:pPr algn="r" fontAlgn="ctr"/>
                      <a:r>
                        <a:rPr lang="en-IN" sz="1200" u="none" strike="noStrike">
                          <a:effectLst/>
                        </a:rPr>
                        <a:t>max</a:t>
                      </a:r>
                      <a:endParaRPr lang="en-IN" sz="1200" b="1"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10425</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97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252.87</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18</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14082.8</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3562</a:t>
                      </a:r>
                      <a:endParaRPr lang="en-IN" sz="1200" b="0" i="0" u="none" strike="noStrike">
                        <a:solidFill>
                          <a:srgbClr val="000000"/>
                        </a:solidFill>
                        <a:effectLst/>
                        <a:latin typeface="Calibri" panose="020F0502020204030204" pitchFamily="34" charset="0"/>
                      </a:endParaRPr>
                    </a:p>
                  </a:txBody>
                  <a:tcPr marL="9525" marR="9525" marT="9525" marB="0" anchor="ctr"/>
                </a:tc>
                <a:tc>
                  <a:txBody>
                    <a:bodyPr/>
                    <a:lstStyle/>
                    <a:p>
                      <a:pPr algn="r" fontAlgn="ctr"/>
                      <a:r>
                        <a:rPr lang="en-IN" sz="1200" u="none" strike="noStrike">
                          <a:effectLst/>
                        </a:rPr>
                        <a:t>214</a:t>
                      </a:r>
                      <a:endParaRPr lang="en-IN" sz="12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54023100"/>
                  </a:ext>
                </a:extLst>
              </a:tr>
              <a:tr h="587828">
                <a:tc>
                  <a:txBody>
                    <a:bodyPr/>
                    <a:lstStyle/>
                    <a:p>
                      <a:pPr algn="r" fontAlgn="ctr"/>
                      <a:r>
                        <a:rPr lang="en-IN" sz="1200" u="none" strike="noStrike">
                          <a:effectLst/>
                        </a:rPr>
                        <a:t>In [162]:</a:t>
                      </a:r>
                      <a:endParaRPr lang="en-IN" sz="1200" b="0" i="0" u="none" strike="noStrike">
                        <a:solidFill>
                          <a:srgbClr val="303F9F"/>
                        </a:solidFill>
                        <a:effectLst/>
                        <a:latin typeface="Courier New" panose="02070309020205020404" pitchFamily="49" charset="0"/>
                      </a:endParaRPr>
                    </a:p>
                  </a:txBody>
                  <a:tcPr marL="9525" marR="9525" marT="9525" marB="0" anchor="ctr"/>
                </a:tc>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3479436"/>
                  </a:ext>
                </a:extLst>
              </a:tr>
            </a:tbl>
          </a:graphicData>
        </a:graphic>
      </p:graphicFrame>
      <p:sp>
        <p:nvSpPr>
          <p:cNvPr id="5" name="Rectangle 4"/>
          <p:cNvSpPr/>
          <p:nvPr/>
        </p:nvSpPr>
        <p:spPr>
          <a:xfrm>
            <a:off x="1384663" y="5760720"/>
            <a:ext cx="8659902" cy="744583"/>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200" dirty="0" smtClean="0"/>
              <a:t>The descriptive analysis of the numerical variables like </a:t>
            </a:r>
            <a:r>
              <a:rPr lang="en-US" sz="1200" dirty="0" err="1" smtClean="0"/>
              <a:t>Ordernumber</a:t>
            </a:r>
            <a:r>
              <a:rPr lang="en-US" sz="1200" dirty="0" smtClean="0"/>
              <a:t>, Quantity Ordered, Price, </a:t>
            </a:r>
            <a:r>
              <a:rPr lang="en-US" sz="1200" dirty="0" err="1" smtClean="0"/>
              <a:t>OrderLine</a:t>
            </a:r>
            <a:r>
              <a:rPr lang="en-US" sz="1200" dirty="0" smtClean="0"/>
              <a:t> No, sales, Days since last order and MSRP shows statistical details. Maximum Sales is 14082 and Mean is 3553. Mean Quantity Ordered is 35 and Maximum Order Number is 10425. </a:t>
            </a:r>
            <a:endParaRPr lang="en-IN" sz="1200" dirty="0"/>
          </a:p>
        </p:txBody>
      </p:sp>
    </p:spTree>
    <p:extLst>
      <p:ext uri="{BB962C8B-B14F-4D97-AF65-F5344CB8AC3E}">
        <p14:creationId xmlns:p14="http://schemas.microsoft.com/office/powerpoint/2010/main" val="1843242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43692"/>
            <a:ext cx="10131425" cy="1031966"/>
          </a:xfrm>
        </p:spPr>
        <p:txBody>
          <a:bodyPr>
            <a:normAutofit/>
          </a:bodyPr>
          <a:lstStyle/>
          <a:p>
            <a:r>
              <a:rPr lang="en-US" dirty="0" smtClean="0"/>
              <a:t>Descriptive STATS- Cat Unique count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69905471"/>
              </p:ext>
            </p:extLst>
          </p:nvPr>
        </p:nvGraphicFramePr>
        <p:xfrm>
          <a:off x="1280160" y="1384662"/>
          <a:ext cx="8399415" cy="3992270"/>
        </p:xfrm>
        <a:graphic>
          <a:graphicData uri="http://schemas.openxmlformats.org/drawingml/2006/table">
            <a:tbl>
              <a:tblPr>
                <a:tableStyleId>{08FB837D-C827-4EFA-A057-4D05807E0F7C}</a:tableStyleId>
              </a:tblPr>
              <a:tblGrid>
                <a:gridCol w="1679883">
                  <a:extLst>
                    <a:ext uri="{9D8B030D-6E8A-4147-A177-3AD203B41FA5}">
                      <a16:colId xmlns:a16="http://schemas.microsoft.com/office/drawing/2014/main" val="1343454579"/>
                    </a:ext>
                  </a:extLst>
                </a:gridCol>
                <a:gridCol w="1679883">
                  <a:extLst>
                    <a:ext uri="{9D8B030D-6E8A-4147-A177-3AD203B41FA5}">
                      <a16:colId xmlns:a16="http://schemas.microsoft.com/office/drawing/2014/main" val="3621580503"/>
                    </a:ext>
                  </a:extLst>
                </a:gridCol>
                <a:gridCol w="1679883">
                  <a:extLst>
                    <a:ext uri="{9D8B030D-6E8A-4147-A177-3AD203B41FA5}">
                      <a16:colId xmlns:a16="http://schemas.microsoft.com/office/drawing/2014/main" val="743264339"/>
                    </a:ext>
                  </a:extLst>
                </a:gridCol>
                <a:gridCol w="1679883">
                  <a:extLst>
                    <a:ext uri="{9D8B030D-6E8A-4147-A177-3AD203B41FA5}">
                      <a16:colId xmlns:a16="http://schemas.microsoft.com/office/drawing/2014/main" val="1134302647"/>
                    </a:ext>
                  </a:extLst>
                </a:gridCol>
                <a:gridCol w="1679883">
                  <a:extLst>
                    <a:ext uri="{9D8B030D-6E8A-4147-A177-3AD203B41FA5}">
                      <a16:colId xmlns:a16="http://schemas.microsoft.com/office/drawing/2014/main" val="2480068615"/>
                    </a:ext>
                  </a:extLst>
                </a:gridCol>
              </a:tblGrid>
              <a:tr h="295525">
                <a:tc>
                  <a:txBody>
                    <a:bodyPr/>
                    <a:lstStyle/>
                    <a:p>
                      <a:endParaRPr lang="en-IN"/>
                    </a:p>
                  </a:txBody>
                  <a:tcPr marL="7667" marR="7667" marT="7667" marB="0" anchor="ctr"/>
                </a:tc>
                <a:tc>
                  <a:txBody>
                    <a:bodyPr/>
                    <a:lstStyle/>
                    <a:p>
                      <a:pPr algn="r" fontAlgn="ctr"/>
                      <a:r>
                        <a:rPr lang="en-IN" sz="1400" b="1" u="none" strike="noStrike" dirty="0">
                          <a:effectLst/>
                        </a:rPr>
                        <a:t>count</a:t>
                      </a:r>
                      <a:endParaRPr lang="en-IN" sz="1400" b="1" i="0" u="none" strike="noStrike" dirty="0">
                        <a:solidFill>
                          <a:srgbClr val="000000"/>
                        </a:solidFill>
                        <a:effectLst/>
                        <a:latin typeface="Arial" panose="020B0604020202020204" pitchFamily="34" charset="0"/>
                      </a:endParaRPr>
                    </a:p>
                  </a:txBody>
                  <a:tcPr marL="7667" marR="7667" marT="7667" marB="0" anchor="ctr"/>
                </a:tc>
                <a:tc>
                  <a:txBody>
                    <a:bodyPr/>
                    <a:lstStyle/>
                    <a:p>
                      <a:pPr algn="r" fontAlgn="ctr"/>
                      <a:r>
                        <a:rPr lang="en-IN" sz="1400" b="1" u="none" strike="noStrike" dirty="0">
                          <a:effectLst/>
                        </a:rPr>
                        <a:t>unique</a:t>
                      </a:r>
                      <a:endParaRPr lang="en-IN" sz="1400" b="1" i="0" u="none" strike="noStrike" dirty="0">
                        <a:solidFill>
                          <a:srgbClr val="000000"/>
                        </a:solidFill>
                        <a:effectLst/>
                        <a:latin typeface="Arial" panose="020B0604020202020204" pitchFamily="34" charset="0"/>
                      </a:endParaRPr>
                    </a:p>
                  </a:txBody>
                  <a:tcPr marL="7667" marR="7667" marT="7667" marB="0" anchor="ctr"/>
                </a:tc>
                <a:tc>
                  <a:txBody>
                    <a:bodyPr/>
                    <a:lstStyle/>
                    <a:p>
                      <a:pPr algn="r" fontAlgn="ctr"/>
                      <a:r>
                        <a:rPr lang="en-IN" sz="1400" b="1" u="none" strike="noStrike" dirty="0">
                          <a:effectLst/>
                        </a:rPr>
                        <a:t>top</a:t>
                      </a:r>
                      <a:endParaRPr lang="en-IN" sz="1400" b="1" i="0" u="none" strike="noStrike" dirty="0">
                        <a:solidFill>
                          <a:srgbClr val="000000"/>
                        </a:solidFill>
                        <a:effectLst/>
                        <a:latin typeface="Arial" panose="020B0604020202020204" pitchFamily="34" charset="0"/>
                      </a:endParaRPr>
                    </a:p>
                  </a:txBody>
                  <a:tcPr marL="7667" marR="7667" marT="7667" marB="0" anchor="ctr"/>
                </a:tc>
                <a:tc>
                  <a:txBody>
                    <a:bodyPr/>
                    <a:lstStyle/>
                    <a:p>
                      <a:pPr algn="r" fontAlgn="ctr"/>
                      <a:r>
                        <a:rPr lang="en-IN" sz="1400" b="1" u="none" strike="noStrike" dirty="0" err="1">
                          <a:effectLst/>
                        </a:rPr>
                        <a:t>freq</a:t>
                      </a:r>
                      <a:endParaRPr lang="en-IN" sz="1400" b="1" i="0" u="none" strike="noStrike" dirty="0">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2162944874"/>
                  </a:ext>
                </a:extLst>
              </a:tr>
              <a:tr h="199695">
                <a:tc>
                  <a:txBody>
                    <a:bodyPr/>
                    <a:lstStyle/>
                    <a:p>
                      <a:pPr algn="r" fontAlgn="ctr"/>
                      <a:r>
                        <a:rPr lang="en-IN" sz="1200" u="none" strike="noStrike">
                          <a:effectLst/>
                        </a:rPr>
                        <a:t>STATUS</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dirty="0">
                          <a:effectLst/>
                        </a:rPr>
                        <a:t>2747</a:t>
                      </a:r>
                      <a:endParaRPr lang="en-IN" sz="1200" b="0" i="0" u="none" strike="noStrike" dirty="0">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6</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dirty="0">
                          <a:effectLst/>
                        </a:rPr>
                        <a:t>Shipped</a:t>
                      </a:r>
                      <a:endParaRPr lang="en-IN" sz="1200" b="0" i="0" u="none" strike="noStrike" dirty="0">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dirty="0">
                          <a:effectLst/>
                        </a:rPr>
                        <a:t>2541</a:t>
                      </a:r>
                      <a:endParaRPr lang="en-IN" sz="1200" b="0" i="0" u="none" strike="noStrike" dirty="0">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2730453654"/>
                  </a:ext>
                </a:extLst>
              </a:tr>
              <a:tr h="246635">
                <a:tc>
                  <a:txBody>
                    <a:bodyPr/>
                    <a:lstStyle/>
                    <a:p>
                      <a:pPr algn="r" fontAlgn="ctr"/>
                      <a:r>
                        <a:rPr lang="en-IN" sz="1200" u="none" strike="noStrike">
                          <a:effectLst/>
                        </a:rPr>
                        <a:t>PRODUCTLINE</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Classic Cars</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949</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233472494"/>
                  </a:ext>
                </a:extLst>
              </a:tr>
              <a:tr h="246635">
                <a:tc>
                  <a:txBody>
                    <a:bodyPr/>
                    <a:lstStyle/>
                    <a:p>
                      <a:pPr algn="r" fontAlgn="ctr"/>
                      <a:r>
                        <a:rPr lang="en-IN" sz="1200" u="none" strike="noStrike">
                          <a:effectLst/>
                        </a:rPr>
                        <a:t>PRODUCTCODE</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109</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S18_3232</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51</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30352210"/>
                  </a:ext>
                </a:extLst>
              </a:tr>
              <a:tr h="369953">
                <a:tc>
                  <a:txBody>
                    <a:bodyPr/>
                    <a:lstStyle/>
                    <a:p>
                      <a:pPr algn="r" fontAlgn="ctr"/>
                      <a:r>
                        <a:rPr lang="en-IN" sz="1200" u="none" strike="noStrike">
                          <a:effectLst/>
                        </a:rPr>
                        <a:t>CUSTOMERNAME</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dirty="0">
                          <a:effectLst/>
                        </a:rPr>
                        <a:t>2747</a:t>
                      </a:r>
                      <a:endParaRPr lang="en-IN" sz="1200" b="0" i="0" u="none" strike="noStrike" dirty="0">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dirty="0">
                          <a:effectLst/>
                        </a:rPr>
                        <a:t>89</a:t>
                      </a:r>
                      <a:endParaRPr lang="en-IN" sz="1200" b="0" i="0" u="none" strike="noStrike" dirty="0">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Euro Shopping Channel</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259</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3073626843"/>
                  </a:ext>
                </a:extLst>
              </a:tr>
              <a:tr h="246635">
                <a:tc>
                  <a:txBody>
                    <a:bodyPr/>
                    <a:lstStyle/>
                    <a:p>
                      <a:pPr algn="r" fontAlgn="ctr"/>
                      <a:r>
                        <a:rPr lang="en-IN" sz="1200" u="none" strike="noStrike">
                          <a:effectLst/>
                        </a:rPr>
                        <a:t>PHONE</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88</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(91) 555 94 44</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259</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996037669"/>
                  </a:ext>
                </a:extLst>
              </a:tr>
              <a:tr h="369953">
                <a:tc>
                  <a:txBody>
                    <a:bodyPr/>
                    <a:lstStyle/>
                    <a:p>
                      <a:pPr algn="r" fontAlgn="ctr"/>
                      <a:r>
                        <a:rPr lang="en-IN" sz="1200" u="none" strike="noStrike">
                          <a:effectLst/>
                        </a:rPr>
                        <a:t>ADDRESSLINE1</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89</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C/ Moralzarzal, 86</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259</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1766097794"/>
                  </a:ext>
                </a:extLst>
              </a:tr>
              <a:tr h="199695">
                <a:tc>
                  <a:txBody>
                    <a:bodyPr/>
                    <a:lstStyle/>
                    <a:p>
                      <a:pPr algn="r" fontAlgn="ctr"/>
                      <a:r>
                        <a:rPr lang="en-IN" sz="1200" u="none" strike="noStrike">
                          <a:effectLst/>
                        </a:rPr>
                        <a:t>CITY</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71</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Madrid</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304</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1329157749"/>
                  </a:ext>
                </a:extLst>
              </a:tr>
              <a:tr h="308295">
                <a:tc>
                  <a:txBody>
                    <a:bodyPr/>
                    <a:lstStyle/>
                    <a:p>
                      <a:pPr algn="r" fontAlgn="ctr"/>
                      <a:r>
                        <a:rPr lang="en-IN" sz="1200" u="none" strike="noStrike">
                          <a:effectLst/>
                        </a:rPr>
                        <a:t>POSTALCODE</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73</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28034</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259</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1564323518"/>
                  </a:ext>
                </a:extLst>
              </a:tr>
              <a:tr h="199695">
                <a:tc>
                  <a:txBody>
                    <a:bodyPr/>
                    <a:lstStyle/>
                    <a:p>
                      <a:pPr algn="r" fontAlgn="ctr"/>
                      <a:r>
                        <a:rPr lang="en-IN" sz="1200" u="none" strike="noStrike">
                          <a:effectLst/>
                        </a:rPr>
                        <a:t>COUNTRY</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19</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USA</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928</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2676955158"/>
                  </a:ext>
                </a:extLst>
              </a:tr>
              <a:tr h="369953">
                <a:tc>
                  <a:txBody>
                    <a:bodyPr/>
                    <a:lstStyle/>
                    <a:p>
                      <a:pPr algn="r" fontAlgn="ctr"/>
                      <a:r>
                        <a:rPr lang="en-IN" sz="1200" u="none" strike="noStrike">
                          <a:effectLst/>
                        </a:rPr>
                        <a:t>CONTACTLASTNAME</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76</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Freyre</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259</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592105529"/>
                  </a:ext>
                </a:extLst>
              </a:tr>
              <a:tr h="369953">
                <a:tc>
                  <a:txBody>
                    <a:bodyPr/>
                    <a:lstStyle/>
                    <a:p>
                      <a:pPr algn="r" fontAlgn="ctr"/>
                      <a:r>
                        <a:rPr lang="en-IN" sz="1200" u="none" strike="noStrike">
                          <a:effectLst/>
                        </a:rPr>
                        <a:t>CONTACTFIRSTNAME</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72</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Diego</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259</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173300807"/>
                  </a:ext>
                </a:extLst>
              </a:tr>
              <a:tr h="199695">
                <a:tc>
                  <a:txBody>
                    <a:bodyPr/>
                    <a:lstStyle/>
                    <a:p>
                      <a:pPr algn="r" fontAlgn="ctr"/>
                      <a:r>
                        <a:rPr lang="en-IN" sz="1200" u="none" strike="noStrike">
                          <a:effectLst/>
                        </a:rPr>
                        <a:t>DEALSIZE</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3</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Medium</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1349</a:t>
                      </a:r>
                      <a:endParaRPr lang="en-IN" sz="1200" b="0" i="0" u="none" strike="noStrike">
                        <a:solidFill>
                          <a:srgbClr val="000000"/>
                        </a:solidFill>
                        <a:effectLst/>
                        <a:latin typeface="Arial" panose="020B0604020202020204" pitchFamily="34" charset="0"/>
                      </a:endParaRPr>
                    </a:p>
                  </a:txBody>
                  <a:tcPr marL="7667" marR="7667" marT="7667" marB="0" anchor="ctr"/>
                </a:tc>
                <a:extLst>
                  <a:ext uri="{0D108BD9-81ED-4DB2-BD59-A6C34878D82A}">
                    <a16:rowId xmlns:a16="http://schemas.microsoft.com/office/drawing/2014/main" val="3255502898"/>
                  </a:ext>
                </a:extLst>
              </a:tr>
              <a:tr h="369953">
                <a:tc>
                  <a:txBody>
                    <a:bodyPr/>
                    <a:lstStyle/>
                    <a:p>
                      <a:pPr algn="r" fontAlgn="ctr"/>
                      <a:r>
                        <a:rPr lang="en-IN" sz="1200" u="none" strike="noStrike">
                          <a:effectLst/>
                        </a:rPr>
                        <a:t>CUSTOMER_FULLNAME</a:t>
                      </a:r>
                      <a:endParaRPr lang="en-IN" sz="1200" b="1"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2747</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89</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ctr"/>
                      <a:r>
                        <a:rPr lang="en-IN" sz="1200" u="none" strike="noStrike">
                          <a:effectLst/>
                        </a:rPr>
                        <a:t>Diego Freyre</a:t>
                      </a:r>
                      <a:endParaRPr lang="en-IN" sz="1200" b="0" i="0" u="none" strike="noStrike">
                        <a:solidFill>
                          <a:srgbClr val="000000"/>
                        </a:solidFill>
                        <a:effectLst/>
                        <a:latin typeface="Arial" panose="020B0604020202020204" pitchFamily="34" charset="0"/>
                      </a:endParaRPr>
                    </a:p>
                  </a:txBody>
                  <a:tcPr marL="7667" marR="7667" marT="7667" marB="0" anchor="ctr"/>
                </a:tc>
                <a:tc>
                  <a:txBody>
                    <a:bodyPr/>
                    <a:lstStyle/>
                    <a:p>
                      <a:pPr algn="r" fontAlgn="b"/>
                      <a:r>
                        <a:rPr lang="en-IN" sz="1200" u="none" strike="noStrike" dirty="0">
                          <a:effectLst/>
                        </a:rPr>
                        <a:t>259</a:t>
                      </a:r>
                      <a:endParaRPr lang="en-IN" sz="1200" b="0" i="0" u="none" strike="noStrike" dirty="0">
                        <a:solidFill>
                          <a:srgbClr val="000000"/>
                        </a:solidFill>
                        <a:effectLst/>
                        <a:latin typeface="Calibri" panose="020F0502020204030204" pitchFamily="34" charset="0"/>
                      </a:endParaRPr>
                    </a:p>
                  </a:txBody>
                  <a:tcPr marL="7667" marR="7667" marT="7667" marB="0" anchor="b"/>
                </a:tc>
                <a:extLst>
                  <a:ext uri="{0D108BD9-81ED-4DB2-BD59-A6C34878D82A}">
                    <a16:rowId xmlns:a16="http://schemas.microsoft.com/office/drawing/2014/main" val="2609456340"/>
                  </a:ext>
                </a:extLst>
              </a:tr>
            </a:tbl>
          </a:graphicData>
        </a:graphic>
      </p:graphicFrame>
      <p:sp>
        <p:nvSpPr>
          <p:cNvPr id="5" name="Rectangle 4"/>
          <p:cNvSpPr/>
          <p:nvPr/>
        </p:nvSpPr>
        <p:spPr>
          <a:xfrm>
            <a:off x="1097280" y="5695406"/>
            <a:ext cx="8582297" cy="770708"/>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200" dirty="0" smtClean="0"/>
              <a:t>The Categorical variables like status of Shipping / Cancelation , Product Line, Product Code, Customer name, contact details etc. the descriptive stats gives the unique count and the topmost value of each variable. Segmentation is done based on  Customer name and Product line. </a:t>
            </a:r>
            <a:endParaRPr lang="en-IN" sz="1200" dirty="0"/>
          </a:p>
        </p:txBody>
      </p:sp>
    </p:spTree>
    <p:extLst>
      <p:ext uri="{BB962C8B-B14F-4D97-AF65-F5344CB8AC3E}">
        <p14:creationId xmlns:p14="http://schemas.microsoft.com/office/powerpoint/2010/main" val="3643551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EDA- Pre-Processing Summary</a:t>
            </a:r>
            <a:endParaRPr lang="en-IN" dirty="0"/>
          </a:p>
        </p:txBody>
      </p:sp>
      <p:sp>
        <p:nvSpPr>
          <p:cNvPr id="3" name="Content Placeholder 2"/>
          <p:cNvSpPr>
            <a:spLocks noGrp="1"/>
          </p:cNvSpPr>
          <p:nvPr>
            <p:ph idx="1"/>
          </p:nvPr>
        </p:nvSpPr>
        <p:spPr>
          <a:xfrm>
            <a:off x="685801" y="2142067"/>
            <a:ext cx="10131425" cy="3866847"/>
          </a:xfrm>
        </p:spPr>
        <p:txBody>
          <a:bodyPr anchor="t"/>
          <a:lstStyle/>
          <a:p>
            <a:r>
              <a:rPr lang="en-US" dirty="0" smtClean="0"/>
              <a:t>The Shape of the dataset has 2747 rows and 20 columns</a:t>
            </a:r>
          </a:p>
          <a:p>
            <a:r>
              <a:rPr lang="en-US" dirty="0" smtClean="0"/>
              <a:t>Using </a:t>
            </a:r>
            <a:r>
              <a:rPr lang="en-US" dirty="0" err="1" smtClean="0"/>
              <a:t>isnull</a:t>
            </a:r>
            <a:r>
              <a:rPr lang="en-US" dirty="0" smtClean="0"/>
              <a:t>().sum()…we find null values which is 0</a:t>
            </a:r>
          </a:p>
          <a:p>
            <a:r>
              <a:rPr lang="en-US" dirty="0" smtClean="0"/>
              <a:t>There are no duplicate rows present in the dataset</a:t>
            </a:r>
          </a:p>
          <a:p>
            <a:r>
              <a:rPr lang="en-US" dirty="0" smtClean="0"/>
              <a:t>There are  </a:t>
            </a:r>
            <a:r>
              <a:rPr lang="en-US" altLang="en-US" dirty="0" err="1">
                <a:latin typeface="Courier New" panose="02070309020205020404" pitchFamily="49" charset="0"/>
                <a:cs typeface="Courier New" panose="02070309020205020404" pitchFamily="49" charset="0"/>
              </a:rPr>
              <a:t>dtypes</a:t>
            </a:r>
            <a:r>
              <a:rPr lang="en-US" altLang="en-US" dirty="0">
                <a:latin typeface="Courier New" panose="02070309020205020404" pitchFamily="49" charset="0"/>
                <a:cs typeface="Courier New" panose="02070309020205020404" pitchFamily="49" charset="0"/>
              </a:rPr>
              <a:t>: datetime64[ns](1), float64(2), int64(5), object(12</a:t>
            </a:r>
            <a:r>
              <a:rPr lang="en-US" altLang="en-US" dirty="0">
                <a:solidFill>
                  <a:srgbClr val="000000"/>
                </a:solidFill>
                <a:latin typeface="Courier New" panose="02070309020205020404" pitchFamily="49" charset="0"/>
                <a:cs typeface="Courier New" panose="02070309020205020404" pitchFamily="49" charset="0"/>
              </a:rPr>
              <a:t>)</a:t>
            </a:r>
            <a:r>
              <a:rPr lang="en-US" altLang="en-US" sz="2400" dirty="0"/>
              <a:t> </a:t>
            </a:r>
            <a:endParaRPr lang="en-US" altLang="en-US" sz="4000" dirty="0">
              <a:latin typeface="Arial" panose="020B0604020202020204" pitchFamily="34" charset="0"/>
            </a:endParaRPr>
          </a:p>
          <a:p>
            <a:r>
              <a:rPr lang="en-US" dirty="0" smtClean="0"/>
              <a:t>The  descriptive stats for numerical variables shows that mean </a:t>
            </a:r>
            <a:r>
              <a:rPr lang="en-US" dirty="0" err="1" smtClean="0"/>
              <a:t>orderno</a:t>
            </a:r>
            <a:r>
              <a:rPr lang="en-US" dirty="0" smtClean="0"/>
              <a:t> is 10,259, and min is 10100</a:t>
            </a:r>
          </a:p>
          <a:p>
            <a:r>
              <a:rPr lang="en-US" dirty="0" smtClean="0"/>
              <a:t>The mean quantity ordered is 35 and the mean sales is 3553</a:t>
            </a:r>
          </a:p>
          <a:p>
            <a:r>
              <a:rPr lang="en-US" dirty="0" smtClean="0"/>
              <a:t>The Categorical variables have unique customer name as 89 with Euro Shipping Channel as highest</a:t>
            </a:r>
          </a:p>
          <a:p>
            <a:r>
              <a:rPr lang="en-US" dirty="0" smtClean="0"/>
              <a:t>The Product line has unique no 7 with Classic Cars as highest</a:t>
            </a:r>
          </a:p>
          <a:p>
            <a:r>
              <a:rPr lang="en-US" dirty="0" smtClean="0"/>
              <a:t>Out of 2747 counts the shipped status is 2541 </a:t>
            </a:r>
          </a:p>
          <a:p>
            <a:endParaRPr lang="en-IN" dirty="0"/>
          </a:p>
        </p:txBody>
      </p:sp>
    </p:spTree>
    <p:extLst>
      <p:ext uri="{BB962C8B-B14F-4D97-AF65-F5344CB8AC3E}">
        <p14:creationId xmlns:p14="http://schemas.microsoft.com/office/powerpoint/2010/main" val="845282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95943"/>
            <a:ext cx="10131425" cy="1358538"/>
          </a:xfrm>
        </p:spPr>
        <p:txBody>
          <a:bodyPr/>
          <a:lstStyle/>
          <a:p>
            <a:r>
              <a:rPr lang="en-US" dirty="0" smtClean="0"/>
              <a:t>CROSSTAB – COUNTRY wise  &amp; City wise sales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638452788"/>
              </p:ext>
            </p:extLst>
          </p:nvPr>
        </p:nvGraphicFramePr>
        <p:xfrm>
          <a:off x="261258" y="1685108"/>
          <a:ext cx="5904408" cy="4090102"/>
        </p:xfrm>
        <a:graphic>
          <a:graphicData uri="http://schemas.openxmlformats.org/drawingml/2006/table">
            <a:tbl>
              <a:tblPr>
                <a:tableStyleId>{08FB837D-C827-4EFA-A057-4D05807E0F7C}</a:tableStyleId>
              </a:tblPr>
              <a:tblGrid>
                <a:gridCol w="738051">
                  <a:extLst>
                    <a:ext uri="{9D8B030D-6E8A-4147-A177-3AD203B41FA5}">
                      <a16:colId xmlns:a16="http://schemas.microsoft.com/office/drawing/2014/main" val="3725668075"/>
                    </a:ext>
                  </a:extLst>
                </a:gridCol>
                <a:gridCol w="738051">
                  <a:extLst>
                    <a:ext uri="{9D8B030D-6E8A-4147-A177-3AD203B41FA5}">
                      <a16:colId xmlns:a16="http://schemas.microsoft.com/office/drawing/2014/main" val="688715886"/>
                    </a:ext>
                  </a:extLst>
                </a:gridCol>
                <a:gridCol w="738051">
                  <a:extLst>
                    <a:ext uri="{9D8B030D-6E8A-4147-A177-3AD203B41FA5}">
                      <a16:colId xmlns:a16="http://schemas.microsoft.com/office/drawing/2014/main" val="595528339"/>
                    </a:ext>
                  </a:extLst>
                </a:gridCol>
                <a:gridCol w="738051">
                  <a:extLst>
                    <a:ext uri="{9D8B030D-6E8A-4147-A177-3AD203B41FA5}">
                      <a16:colId xmlns:a16="http://schemas.microsoft.com/office/drawing/2014/main" val="809530715"/>
                    </a:ext>
                  </a:extLst>
                </a:gridCol>
                <a:gridCol w="738051">
                  <a:extLst>
                    <a:ext uri="{9D8B030D-6E8A-4147-A177-3AD203B41FA5}">
                      <a16:colId xmlns:a16="http://schemas.microsoft.com/office/drawing/2014/main" val="514745968"/>
                    </a:ext>
                  </a:extLst>
                </a:gridCol>
                <a:gridCol w="738051">
                  <a:extLst>
                    <a:ext uri="{9D8B030D-6E8A-4147-A177-3AD203B41FA5}">
                      <a16:colId xmlns:a16="http://schemas.microsoft.com/office/drawing/2014/main" val="2539065644"/>
                    </a:ext>
                  </a:extLst>
                </a:gridCol>
                <a:gridCol w="738051">
                  <a:extLst>
                    <a:ext uri="{9D8B030D-6E8A-4147-A177-3AD203B41FA5}">
                      <a16:colId xmlns:a16="http://schemas.microsoft.com/office/drawing/2014/main" val="2348212112"/>
                    </a:ext>
                  </a:extLst>
                </a:gridCol>
                <a:gridCol w="738051">
                  <a:extLst>
                    <a:ext uri="{9D8B030D-6E8A-4147-A177-3AD203B41FA5}">
                      <a16:colId xmlns:a16="http://schemas.microsoft.com/office/drawing/2014/main" val="4217778960"/>
                    </a:ext>
                  </a:extLst>
                </a:gridCol>
              </a:tblGrid>
              <a:tr h="961332">
                <a:tc>
                  <a:txBody>
                    <a:bodyPr/>
                    <a:lstStyle/>
                    <a:p>
                      <a:endParaRPr lang="en-IN"/>
                    </a:p>
                  </a:txBody>
                  <a:tcPr marL="74483" marR="74483" marT="37241" marB="37241" anchor="ctr"/>
                </a:tc>
                <a:tc>
                  <a:txBody>
                    <a:bodyPr/>
                    <a:lstStyle/>
                    <a:p>
                      <a:pPr algn="r" fontAlgn="ctr"/>
                      <a:r>
                        <a:rPr lang="en-IN" sz="1500" b="1" dirty="0">
                          <a:effectLst/>
                        </a:rPr>
                        <a:t>ORDERNUMBER</a:t>
                      </a:r>
                    </a:p>
                  </a:txBody>
                  <a:tcPr marL="74483" marR="74483" marT="37241" marB="37241" anchor="ctr"/>
                </a:tc>
                <a:tc>
                  <a:txBody>
                    <a:bodyPr/>
                    <a:lstStyle/>
                    <a:p>
                      <a:pPr algn="r" fontAlgn="ctr"/>
                      <a:r>
                        <a:rPr lang="en-IN" sz="1500" b="1" dirty="0">
                          <a:effectLst/>
                        </a:rPr>
                        <a:t>QUANTITYORDERED</a:t>
                      </a:r>
                    </a:p>
                  </a:txBody>
                  <a:tcPr marL="74483" marR="74483" marT="37241" marB="37241" anchor="ctr"/>
                </a:tc>
                <a:tc>
                  <a:txBody>
                    <a:bodyPr/>
                    <a:lstStyle/>
                    <a:p>
                      <a:pPr algn="r" fontAlgn="ctr"/>
                      <a:r>
                        <a:rPr lang="en-IN" sz="1500" b="1" dirty="0">
                          <a:effectLst/>
                        </a:rPr>
                        <a:t>PRICEEACH</a:t>
                      </a:r>
                    </a:p>
                  </a:txBody>
                  <a:tcPr marL="74483" marR="74483" marT="37241" marB="37241" anchor="ctr"/>
                </a:tc>
                <a:tc>
                  <a:txBody>
                    <a:bodyPr/>
                    <a:lstStyle/>
                    <a:p>
                      <a:pPr algn="r" fontAlgn="ctr"/>
                      <a:r>
                        <a:rPr lang="en-IN" sz="1500" b="1" dirty="0">
                          <a:effectLst/>
                        </a:rPr>
                        <a:t>ORDERLINENUMBER</a:t>
                      </a:r>
                    </a:p>
                  </a:txBody>
                  <a:tcPr marL="74483" marR="74483" marT="37241" marB="37241" anchor="ctr"/>
                </a:tc>
                <a:tc>
                  <a:txBody>
                    <a:bodyPr/>
                    <a:lstStyle/>
                    <a:p>
                      <a:pPr algn="r" fontAlgn="ctr"/>
                      <a:r>
                        <a:rPr lang="en-IN" sz="1500" b="1" dirty="0">
                          <a:effectLst/>
                        </a:rPr>
                        <a:t>SALES</a:t>
                      </a:r>
                    </a:p>
                  </a:txBody>
                  <a:tcPr marL="74483" marR="74483" marT="37241" marB="37241" anchor="ctr"/>
                </a:tc>
                <a:tc>
                  <a:txBody>
                    <a:bodyPr/>
                    <a:lstStyle/>
                    <a:p>
                      <a:pPr algn="r" fontAlgn="ctr"/>
                      <a:r>
                        <a:rPr lang="en-IN" sz="1500" b="1" dirty="0">
                          <a:effectLst/>
                        </a:rPr>
                        <a:t>DAYS_SINCE_LASTORDER</a:t>
                      </a:r>
                    </a:p>
                  </a:txBody>
                  <a:tcPr marL="74483" marR="74483" marT="37241" marB="37241" anchor="ctr"/>
                </a:tc>
                <a:tc>
                  <a:txBody>
                    <a:bodyPr/>
                    <a:lstStyle/>
                    <a:p>
                      <a:pPr algn="r" fontAlgn="ctr"/>
                      <a:r>
                        <a:rPr lang="en-IN" sz="1500" b="1" dirty="0">
                          <a:effectLst/>
                        </a:rPr>
                        <a:t>MSRP</a:t>
                      </a:r>
                    </a:p>
                  </a:txBody>
                  <a:tcPr marL="74483" marR="74483" marT="37241" marB="37241" anchor="ctr"/>
                </a:tc>
                <a:extLst>
                  <a:ext uri="{0D108BD9-81ED-4DB2-BD59-A6C34878D82A}">
                    <a16:rowId xmlns:a16="http://schemas.microsoft.com/office/drawing/2014/main" val="2169681584"/>
                  </a:ext>
                </a:extLst>
              </a:tr>
              <a:tr h="516870">
                <a:tc>
                  <a:txBody>
                    <a:bodyPr/>
                    <a:lstStyle/>
                    <a:p>
                      <a:pPr algn="r" fontAlgn="ctr"/>
                      <a:r>
                        <a:rPr lang="en-IN" sz="1200" dirty="0">
                          <a:effectLst/>
                        </a:rPr>
                        <a:t>COUNTRY</a:t>
                      </a:r>
                      <a:endParaRPr lang="en-IN" sz="1200" b="1" dirty="0">
                        <a:effectLst/>
                      </a:endParaRPr>
                    </a:p>
                  </a:txBody>
                  <a:tcPr marL="74483" marR="74483" marT="37241" marB="37241" anchor="ctr"/>
                </a:tc>
                <a:tc>
                  <a:txBody>
                    <a:bodyPr/>
                    <a:lstStyle/>
                    <a:p>
                      <a:pPr algn="r" fontAlgn="ctr"/>
                      <a:endParaRPr lang="en-IN" sz="1200" b="1" dirty="0">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extLst>
                  <a:ext uri="{0D108BD9-81ED-4DB2-BD59-A6C34878D82A}">
                    <a16:rowId xmlns:a16="http://schemas.microsoft.com/office/drawing/2014/main" val="1135722769"/>
                  </a:ext>
                </a:extLst>
              </a:tr>
              <a:tr h="516870">
                <a:tc>
                  <a:txBody>
                    <a:bodyPr/>
                    <a:lstStyle/>
                    <a:p>
                      <a:pPr algn="r" fontAlgn="ctr"/>
                      <a:r>
                        <a:rPr lang="en-IN" sz="1200">
                          <a:effectLst/>
                        </a:rPr>
                        <a:t>USA</a:t>
                      </a:r>
                      <a:endParaRPr lang="en-IN" sz="1200" b="1">
                        <a:effectLst/>
                      </a:endParaRPr>
                    </a:p>
                  </a:txBody>
                  <a:tcPr marL="74483" marR="74483" marT="37241" marB="37241" anchor="ctr"/>
                </a:tc>
                <a:tc>
                  <a:txBody>
                    <a:bodyPr/>
                    <a:lstStyle/>
                    <a:p>
                      <a:pPr algn="r" fontAlgn="ctr"/>
                      <a:r>
                        <a:rPr lang="en-IN" sz="1200">
                          <a:effectLst/>
                        </a:rPr>
                        <a:t>9520546</a:t>
                      </a:r>
                    </a:p>
                  </a:txBody>
                  <a:tcPr marL="74483" marR="74483" marT="37241" marB="37241" anchor="ctr"/>
                </a:tc>
                <a:tc>
                  <a:txBody>
                    <a:bodyPr/>
                    <a:lstStyle/>
                    <a:p>
                      <a:pPr algn="r" fontAlgn="ctr"/>
                      <a:r>
                        <a:rPr lang="en-IN" sz="1200" dirty="0">
                          <a:effectLst/>
                        </a:rPr>
                        <a:t>33020</a:t>
                      </a:r>
                    </a:p>
                  </a:txBody>
                  <a:tcPr marL="74483" marR="74483" marT="37241" marB="37241" anchor="ctr"/>
                </a:tc>
                <a:tc>
                  <a:txBody>
                    <a:bodyPr/>
                    <a:lstStyle/>
                    <a:p>
                      <a:pPr algn="r" fontAlgn="ctr"/>
                      <a:r>
                        <a:rPr lang="en-IN" sz="1200">
                          <a:effectLst/>
                        </a:rPr>
                        <a:t>94391.449547</a:t>
                      </a:r>
                    </a:p>
                  </a:txBody>
                  <a:tcPr marL="74483" marR="74483" marT="37241" marB="37241" anchor="ctr"/>
                </a:tc>
                <a:tc>
                  <a:txBody>
                    <a:bodyPr/>
                    <a:lstStyle/>
                    <a:p>
                      <a:pPr algn="r" fontAlgn="ctr"/>
                      <a:r>
                        <a:rPr lang="en-IN" sz="1200">
                          <a:effectLst/>
                        </a:rPr>
                        <a:t>5946</a:t>
                      </a:r>
                    </a:p>
                  </a:txBody>
                  <a:tcPr marL="74483" marR="74483" marT="37241" marB="37241" anchor="ctr"/>
                </a:tc>
                <a:tc>
                  <a:txBody>
                    <a:bodyPr/>
                    <a:lstStyle/>
                    <a:p>
                      <a:pPr algn="r" fontAlgn="ctr"/>
                      <a:r>
                        <a:rPr lang="en-IN" sz="1200">
                          <a:effectLst/>
                        </a:rPr>
                        <a:t>3355575.69</a:t>
                      </a:r>
                    </a:p>
                  </a:txBody>
                  <a:tcPr marL="74483" marR="74483" marT="37241" marB="37241" anchor="ctr"/>
                </a:tc>
                <a:tc>
                  <a:txBody>
                    <a:bodyPr/>
                    <a:lstStyle/>
                    <a:p>
                      <a:pPr algn="r" fontAlgn="ctr"/>
                      <a:r>
                        <a:rPr lang="en-IN" sz="1200">
                          <a:effectLst/>
                        </a:rPr>
                        <a:t>1611953</a:t>
                      </a:r>
                    </a:p>
                  </a:txBody>
                  <a:tcPr marL="74483" marR="74483" marT="37241" marB="37241" anchor="ctr"/>
                </a:tc>
                <a:tc>
                  <a:txBody>
                    <a:bodyPr/>
                    <a:lstStyle/>
                    <a:p>
                      <a:pPr algn="r" fontAlgn="ctr"/>
                      <a:r>
                        <a:rPr lang="en-IN" sz="1200">
                          <a:effectLst/>
                        </a:rPr>
                        <a:t>93819</a:t>
                      </a:r>
                    </a:p>
                  </a:txBody>
                  <a:tcPr marL="74483" marR="74483" marT="37241" marB="37241" anchor="ctr"/>
                </a:tc>
                <a:extLst>
                  <a:ext uri="{0D108BD9-81ED-4DB2-BD59-A6C34878D82A}">
                    <a16:rowId xmlns:a16="http://schemas.microsoft.com/office/drawing/2014/main" val="122872868"/>
                  </a:ext>
                </a:extLst>
              </a:tr>
              <a:tr h="516870">
                <a:tc>
                  <a:txBody>
                    <a:bodyPr/>
                    <a:lstStyle/>
                    <a:p>
                      <a:pPr algn="r" fontAlgn="ctr"/>
                      <a:r>
                        <a:rPr lang="en-IN" sz="1200">
                          <a:effectLst/>
                        </a:rPr>
                        <a:t>Spain</a:t>
                      </a:r>
                      <a:endParaRPr lang="en-IN" sz="1200" b="1">
                        <a:effectLst/>
                      </a:endParaRPr>
                    </a:p>
                  </a:txBody>
                  <a:tcPr marL="74483" marR="74483" marT="37241" marB="37241" anchor="ctr"/>
                </a:tc>
                <a:tc>
                  <a:txBody>
                    <a:bodyPr/>
                    <a:lstStyle/>
                    <a:p>
                      <a:pPr algn="r" fontAlgn="ctr"/>
                      <a:r>
                        <a:rPr lang="en-IN" sz="1200">
                          <a:effectLst/>
                        </a:rPr>
                        <a:t>3513645</a:t>
                      </a:r>
                    </a:p>
                  </a:txBody>
                  <a:tcPr marL="74483" marR="74483" marT="37241" marB="37241" anchor="ctr"/>
                </a:tc>
                <a:tc>
                  <a:txBody>
                    <a:bodyPr/>
                    <a:lstStyle/>
                    <a:p>
                      <a:pPr algn="r" fontAlgn="ctr"/>
                      <a:r>
                        <a:rPr lang="en-IN" sz="1200">
                          <a:effectLst/>
                        </a:rPr>
                        <a:t>12429</a:t>
                      </a:r>
                    </a:p>
                  </a:txBody>
                  <a:tcPr marL="74483" marR="74483" marT="37241" marB="37241" anchor="ctr"/>
                </a:tc>
                <a:tc>
                  <a:txBody>
                    <a:bodyPr/>
                    <a:lstStyle/>
                    <a:p>
                      <a:pPr algn="r" fontAlgn="ctr"/>
                      <a:r>
                        <a:rPr lang="en-IN" sz="1200" dirty="0">
                          <a:effectLst/>
                        </a:rPr>
                        <a:t>33393.630000</a:t>
                      </a:r>
                    </a:p>
                  </a:txBody>
                  <a:tcPr marL="74483" marR="74483" marT="37241" marB="37241" anchor="ctr"/>
                </a:tc>
                <a:tc>
                  <a:txBody>
                    <a:bodyPr/>
                    <a:lstStyle/>
                    <a:p>
                      <a:pPr algn="r" fontAlgn="ctr"/>
                      <a:r>
                        <a:rPr lang="en-IN" sz="1200" dirty="0">
                          <a:effectLst/>
                        </a:rPr>
                        <a:t>2186</a:t>
                      </a:r>
                    </a:p>
                  </a:txBody>
                  <a:tcPr marL="74483" marR="74483" marT="37241" marB="37241" anchor="ctr"/>
                </a:tc>
                <a:tc>
                  <a:txBody>
                    <a:bodyPr/>
                    <a:lstStyle/>
                    <a:p>
                      <a:pPr algn="r" fontAlgn="ctr"/>
                      <a:r>
                        <a:rPr lang="en-IN" sz="1200">
                          <a:effectLst/>
                        </a:rPr>
                        <a:t>1215686.92</a:t>
                      </a:r>
                    </a:p>
                  </a:txBody>
                  <a:tcPr marL="74483" marR="74483" marT="37241" marB="37241" anchor="ctr"/>
                </a:tc>
                <a:tc>
                  <a:txBody>
                    <a:bodyPr/>
                    <a:lstStyle/>
                    <a:p>
                      <a:pPr algn="r" fontAlgn="ctr"/>
                      <a:r>
                        <a:rPr lang="en-IN" sz="1200">
                          <a:effectLst/>
                        </a:rPr>
                        <a:t>636152</a:t>
                      </a:r>
                    </a:p>
                  </a:txBody>
                  <a:tcPr marL="74483" marR="74483" marT="37241" marB="37241" anchor="ctr"/>
                </a:tc>
                <a:tc>
                  <a:txBody>
                    <a:bodyPr/>
                    <a:lstStyle/>
                    <a:p>
                      <a:pPr algn="r" fontAlgn="ctr"/>
                      <a:r>
                        <a:rPr lang="en-IN" sz="1200">
                          <a:effectLst/>
                        </a:rPr>
                        <a:t>33201</a:t>
                      </a:r>
                    </a:p>
                  </a:txBody>
                  <a:tcPr marL="74483" marR="74483" marT="37241" marB="37241" anchor="ctr"/>
                </a:tc>
                <a:extLst>
                  <a:ext uri="{0D108BD9-81ED-4DB2-BD59-A6C34878D82A}">
                    <a16:rowId xmlns:a16="http://schemas.microsoft.com/office/drawing/2014/main" val="2286167396"/>
                  </a:ext>
                </a:extLst>
              </a:tr>
              <a:tr h="516870">
                <a:tc>
                  <a:txBody>
                    <a:bodyPr/>
                    <a:lstStyle/>
                    <a:p>
                      <a:pPr algn="r" fontAlgn="ctr"/>
                      <a:r>
                        <a:rPr lang="en-IN" sz="1200">
                          <a:effectLst/>
                        </a:rPr>
                        <a:t>France</a:t>
                      </a:r>
                      <a:endParaRPr lang="en-IN" sz="1200" b="1">
                        <a:effectLst/>
                      </a:endParaRPr>
                    </a:p>
                  </a:txBody>
                  <a:tcPr marL="74483" marR="74483" marT="37241" marB="37241" anchor="ctr"/>
                </a:tc>
                <a:tc>
                  <a:txBody>
                    <a:bodyPr/>
                    <a:lstStyle/>
                    <a:p>
                      <a:pPr algn="r" fontAlgn="ctr"/>
                      <a:r>
                        <a:rPr lang="en-IN" sz="1200">
                          <a:effectLst/>
                        </a:rPr>
                        <a:t>3223513</a:t>
                      </a:r>
                    </a:p>
                  </a:txBody>
                  <a:tcPr marL="74483" marR="74483" marT="37241" marB="37241" anchor="ctr"/>
                </a:tc>
                <a:tc>
                  <a:txBody>
                    <a:bodyPr/>
                    <a:lstStyle/>
                    <a:p>
                      <a:pPr algn="r" fontAlgn="ctr"/>
                      <a:r>
                        <a:rPr lang="en-IN" sz="1200">
                          <a:effectLst/>
                        </a:rPr>
                        <a:t>11090</a:t>
                      </a:r>
                    </a:p>
                  </a:txBody>
                  <a:tcPr marL="74483" marR="74483" marT="37241" marB="37241" anchor="ctr"/>
                </a:tc>
                <a:tc>
                  <a:txBody>
                    <a:bodyPr/>
                    <a:lstStyle/>
                    <a:p>
                      <a:pPr algn="r" fontAlgn="ctr"/>
                      <a:r>
                        <a:rPr lang="en-IN" sz="1200">
                          <a:effectLst/>
                        </a:rPr>
                        <a:t>31118.079232</a:t>
                      </a:r>
                    </a:p>
                  </a:txBody>
                  <a:tcPr marL="74483" marR="74483" marT="37241" marB="37241" anchor="ctr"/>
                </a:tc>
                <a:tc>
                  <a:txBody>
                    <a:bodyPr/>
                    <a:lstStyle/>
                    <a:p>
                      <a:pPr algn="r" fontAlgn="ctr"/>
                      <a:r>
                        <a:rPr lang="en-IN" sz="1200" dirty="0">
                          <a:effectLst/>
                        </a:rPr>
                        <a:t>2028</a:t>
                      </a:r>
                    </a:p>
                  </a:txBody>
                  <a:tcPr marL="74483" marR="74483" marT="37241" marB="37241" anchor="ctr"/>
                </a:tc>
                <a:tc>
                  <a:txBody>
                    <a:bodyPr/>
                    <a:lstStyle/>
                    <a:p>
                      <a:pPr algn="r" fontAlgn="ctr"/>
                      <a:r>
                        <a:rPr lang="en-IN" sz="1200" dirty="0">
                          <a:effectLst/>
                        </a:rPr>
                        <a:t>1110916.52</a:t>
                      </a:r>
                    </a:p>
                  </a:txBody>
                  <a:tcPr marL="74483" marR="74483" marT="37241" marB="37241" anchor="ctr"/>
                </a:tc>
                <a:tc>
                  <a:txBody>
                    <a:bodyPr/>
                    <a:lstStyle/>
                    <a:p>
                      <a:pPr algn="r" fontAlgn="ctr"/>
                      <a:r>
                        <a:rPr lang="en-IN" sz="1200">
                          <a:effectLst/>
                        </a:rPr>
                        <a:t>546245</a:t>
                      </a:r>
                    </a:p>
                  </a:txBody>
                  <a:tcPr marL="74483" marR="74483" marT="37241" marB="37241" anchor="ctr"/>
                </a:tc>
                <a:tc>
                  <a:txBody>
                    <a:bodyPr/>
                    <a:lstStyle/>
                    <a:p>
                      <a:pPr algn="r" fontAlgn="ctr"/>
                      <a:r>
                        <a:rPr lang="en-IN" sz="1200">
                          <a:effectLst/>
                        </a:rPr>
                        <a:t>31330</a:t>
                      </a:r>
                    </a:p>
                  </a:txBody>
                  <a:tcPr marL="74483" marR="74483" marT="37241" marB="37241" anchor="ctr"/>
                </a:tc>
                <a:extLst>
                  <a:ext uri="{0D108BD9-81ED-4DB2-BD59-A6C34878D82A}">
                    <a16:rowId xmlns:a16="http://schemas.microsoft.com/office/drawing/2014/main" val="3258892075"/>
                  </a:ext>
                </a:extLst>
              </a:tr>
              <a:tr h="516870">
                <a:tc>
                  <a:txBody>
                    <a:bodyPr/>
                    <a:lstStyle/>
                    <a:p>
                      <a:pPr algn="r" fontAlgn="ctr"/>
                      <a:r>
                        <a:rPr lang="en-IN" sz="1200">
                          <a:effectLst/>
                        </a:rPr>
                        <a:t>Australia</a:t>
                      </a:r>
                      <a:endParaRPr lang="en-IN" sz="1200" b="1">
                        <a:effectLst/>
                      </a:endParaRPr>
                    </a:p>
                  </a:txBody>
                  <a:tcPr marL="74483" marR="74483" marT="37241" marB="37241" anchor="ctr"/>
                </a:tc>
                <a:tc>
                  <a:txBody>
                    <a:bodyPr/>
                    <a:lstStyle/>
                    <a:p>
                      <a:pPr algn="r" fontAlgn="ctr"/>
                      <a:r>
                        <a:rPr lang="en-IN" sz="1200">
                          <a:effectLst/>
                        </a:rPr>
                        <a:t>1898841</a:t>
                      </a:r>
                    </a:p>
                  </a:txBody>
                  <a:tcPr marL="74483" marR="74483" marT="37241" marB="37241" anchor="ctr"/>
                </a:tc>
                <a:tc>
                  <a:txBody>
                    <a:bodyPr/>
                    <a:lstStyle/>
                    <a:p>
                      <a:pPr algn="r" fontAlgn="ctr"/>
                      <a:r>
                        <a:rPr lang="en-IN" sz="1200">
                          <a:effectLst/>
                        </a:rPr>
                        <a:t>6246</a:t>
                      </a:r>
                    </a:p>
                  </a:txBody>
                  <a:tcPr marL="74483" marR="74483" marT="37241" marB="37241" anchor="ctr"/>
                </a:tc>
                <a:tc>
                  <a:txBody>
                    <a:bodyPr/>
                    <a:lstStyle/>
                    <a:p>
                      <a:pPr algn="r" fontAlgn="ctr"/>
                      <a:r>
                        <a:rPr lang="en-IN" sz="1200" dirty="0">
                          <a:effectLst/>
                        </a:rPr>
                        <a:t>18755.950000</a:t>
                      </a:r>
                    </a:p>
                  </a:txBody>
                  <a:tcPr marL="74483" marR="74483" marT="37241" marB="37241" anchor="ctr"/>
                </a:tc>
                <a:tc>
                  <a:txBody>
                    <a:bodyPr/>
                    <a:lstStyle/>
                    <a:p>
                      <a:pPr algn="r" fontAlgn="ctr"/>
                      <a:r>
                        <a:rPr lang="en-IN" sz="1200">
                          <a:effectLst/>
                        </a:rPr>
                        <a:t>1181</a:t>
                      </a:r>
                    </a:p>
                  </a:txBody>
                  <a:tcPr marL="74483" marR="74483" marT="37241" marB="37241" anchor="ctr"/>
                </a:tc>
                <a:tc>
                  <a:txBody>
                    <a:bodyPr/>
                    <a:lstStyle/>
                    <a:p>
                      <a:pPr algn="r" fontAlgn="ctr"/>
                      <a:r>
                        <a:rPr lang="en-IN" sz="1200" dirty="0">
                          <a:effectLst/>
                        </a:rPr>
                        <a:t>630623.10</a:t>
                      </a:r>
                    </a:p>
                  </a:txBody>
                  <a:tcPr marL="74483" marR="74483" marT="37241" marB="37241" anchor="ctr"/>
                </a:tc>
                <a:tc>
                  <a:txBody>
                    <a:bodyPr/>
                    <a:lstStyle/>
                    <a:p>
                      <a:pPr algn="r" fontAlgn="ctr"/>
                      <a:r>
                        <a:rPr lang="en-IN" sz="1200">
                          <a:effectLst/>
                        </a:rPr>
                        <a:t>297223</a:t>
                      </a:r>
                    </a:p>
                  </a:txBody>
                  <a:tcPr marL="74483" marR="74483" marT="37241" marB="37241" anchor="ctr"/>
                </a:tc>
                <a:tc>
                  <a:txBody>
                    <a:bodyPr/>
                    <a:lstStyle/>
                    <a:p>
                      <a:pPr algn="r" fontAlgn="ctr"/>
                      <a:r>
                        <a:rPr lang="en-IN" sz="1200">
                          <a:effectLst/>
                        </a:rPr>
                        <a:t>18493</a:t>
                      </a:r>
                    </a:p>
                  </a:txBody>
                  <a:tcPr marL="74483" marR="74483" marT="37241" marB="37241" anchor="ctr"/>
                </a:tc>
                <a:extLst>
                  <a:ext uri="{0D108BD9-81ED-4DB2-BD59-A6C34878D82A}">
                    <a16:rowId xmlns:a16="http://schemas.microsoft.com/office/drawing/2014/main" val="3754144724"/>
                  </a:ext>
                </a:extLst>
              </a:tr>
              <a:tr h="516870">
                <a:tc>
                  <a:txBody>
                    <a:bodyPr/>
                    <a:lstStyle/>
                    <a:p>
                      <a:pPr algn="r" fontAlgn="ctr"/>
                      <a:r>
                        <a:rPr lang="en-IN" sz="1200">
                          <a:effectLst/>
                        </a:rPr>
                        <a:t>UK</a:t>
                      </a:r>
                      <a:endParaRPr lang="en-IN" sz="1200" b="1">
                        <a:effectLst/>
                      </a:endParaRPr>
                    </a:p>
                  </a:txBody>
                  <a:tcPr marL="74483" marR="74483" marT="37241" marB="37241" anchor="ctr"/>
                </a:tc>
                <a:tc>
                  <a:txBody>
                    <a:bodyPr/>
                    <a:lstStyle/>
                    <a:p>
                      <a:pPr algn="r" fontAlgn="ctr"/>
                      <a:r>
                        <a:rPr lang="en-IN" sz="1200">
                          <a:effectLst/>
                        </a:rPr>
                        <a:t>1476792</a:t>
                      </a:r>
                    </a:p>
                  </a:txBody>
                  <a:tcPr marL="74483" marR="74483" marT="37241" marB="37241" anchor="ctr"/>
                </a:tc>
                <a:tc>
                  <a:txBody>
                    <a:bodyPr/>
                    <a:lstStyle/>
                    <a:p>
                      <a:pPr algn="r" fontAlgn="ctr"/>
                      <a:r>
                        <a:rPr lang="en-IN" sz="1200">
                          <a:effectLst/>
                        </a:rPr>
                        <a:t>5013</a:t>
                      </a:r>
                    </a:p>
                  </a:txBody>
                  <a:tcPr marL="74483" marR="74483" marT="37241" marB="37241" anchor="ctr"/>
                </a:tc>
                <a:tc>
                  <a:txBody>
                    <a:bodyPr/>
                    <a:lstStyle/>
                    <a:p>
                      <a:pPr algn="r" fontAlgn="ctr"/>
                      <a:r>
                        <a:rPr lang="en-IN" sz="1200">
                          <a:effectLst/>
                        </a:rPr>
                        <a:t>13817.420000</a:t>
                      </a:r>
                    </a:p>
                  </a:txBody>
                  <a:tcPr marL="74483" marR="74483" marT="37241" marB="37241" anchor="ctr"/>
                </a:tc>
                <a:tc>
                  <a:txBody>
                    <a:bodyPr/>
                    <a:lstStyle/>
                    <a:p>
                      <a:pPr algn="r" fontAlgn="ctr"/>
                      <a:r>
                        <a:rPr lang="en-IN" sz="1200">
                          <a:effectLst/>
                        </a:rPr>
                        <a:t>1027</a:t>
                      </a:r>
                    </a:p>
                  </a:txBody>
                  <a:tcPr marL="74483" marR="74483" marT="37241" marB="37241" anchor="ctr"/>
                </a:tc>
                <a:tc>
                  <a:txBody>
                    <a:bodyPr/>
                    <a:lstStyle/>
                    <a:p>
                      <a:pPr algn="r" fontAlgn="ctr"/>
                      <a:r>
                        <a:rPr lang="en-IN" sz="1200">
                          <a:effectLst/>
                        </a:rPr>
                        <a:t>478880.46</a:t>
                      </a:r>
                    </a:p>
                  </a:txBody>
                  <a:tcPr marL="74483" marR="74483" marT="37241" marB="37241" anchor="ctr"/>
                </a:tc>
                <a:tc>
                  <a:txBody>
                    <a:bodyPr/>
                    <a:lstStyle/>
                    <a:p>
                      <a:pPr algn="r" fontAlgn="ctr"/>
                      <a:r>
                        <a:rPr lang="en-IN" sz="1200" dirty="0">
                          <a:effectLst/>
                        </a:rPr>
                        <a:t>269669</a:t>
                      </a:r>
                    </a:p>
                  </a:txBody>
                  <a:tcPr marL="74483" marR="74483" marT="37241" marB="37241" anchor="ctr"/>
                </a:tc>
                <a:tc>
                  <a:txBody>
                    <a:bodyPr/>
                    <a:lstStyle/>
                    <a:p>
                      <a:pPr algn="r" fontAlgn="ctr"/>
                      <a:r>
                        <a:rPr lang="en-IN" sz="1200" dirty="0">
                          <a:effectLst/>
                        </a:rPr>
                        <a:t>13876</a:t>
                      </a:r>
                    </a:p>
                  </a:txBody>
                  <a:tcPr marL="74483" marR="74483" marT="37241" marB="37241" anchor="ctr"/>
                </a:tc>
                <a:extLst>
                  <a:ext uri="{0D108BD9-81ED-4DB2-BD59-A6C34878D82A}">
                    <a16:rowId xmlns:a16="http://schemas.microsoft.com/office/drawing/2014/main" val="3697476235"/>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039127749"/>
              </p:ext>
            </p:extLst>
          </p:nvPr>
        </p:nvGraphicFramePr>
        <p:xfrm>
          <a:off x="6492236" y="1685109"/>
          <a:ext cx="5525595" cy="4258139"/>
        </p:xfrm>
        <a:graphic>
          <a:graphicData uri="http://schemas.openxmlformats.org/drawingml/2006/table">
            <a:tbl>
              <a:tblPr>
                <a:tableStyleId>{08FB837D-C827-4EFA-A057-4D05807E0F7C}</a:tableStyleId>
              </a:tblPr>
              <a:tblGrid>
                <a:gridCol w="613955">
                  <a:extLst>
                    <a:ext uri="{9D8B030D-6E8A-4147-A177-3AD203B41FA5}">
                      <a16:colId xmlns:a16="http://schemas.microsoft.com/office/drawing/2014/main" val="1690630137"/>
                    </a:ext>
                  </a:extLst>
                </a:gridCol>
                <a:gridCol w="613955">
                  <a:extLst>
                    <a:ext uri="{9D8B030D-6E8A-4147-A177-3AD203B41FA5}">
                      <a16:colId xmlns:a16="http://schemas.microsoft.com/office/drawing/2014/main" val="2076497775"/>
                    </a:ext>
                  </a:extLst>
                </a:gridCol>
                <a:gridCol w="613955">
                  <a:extLst>
                    <a:ext uri="{9D8B030D-6E8A-4147-A177-3AD203B41FA5}">
                      <a16:colId xmlns:a16="http://schemas.microsoft.com/office/drawing/2014/main" val="680472436"/>
                    </a:ext>
                  </a:extLst>
                </a:gridCol>
                <a:gridCol w="613955">
                  <a:extLst>
                    <a:ext uri="{9D8B030D-6E8A-4147-A177-3AD203B41FA5}">
                      <a16:colId xmlns:a16="http://schemas.microsoft.com/office/drawing/2014/main" val="3382193825"/>
                    </a:ext>
                  </a:extLst>
                </a:gridCol>
                <a:gridCol w="613955">
                  <a:extLst>
                    <a:ext uri="{9D8B030D-6E8A-4147-A177-3AD203B41FA5}">
                      <a16:colId xmlns:a16="http://schemas.microsoft.com/office/drawing/2014/main" val="1068238168"/>
                    </a:ext>
                  </a:extLst>
                </a:gridCol>
                <a:gridCol w="613955">
                  <a:extLst>
                    <a:ext uri="{9D8B030D-6E8A-4147-A177-3AD203B41FA5}">
                      <a16:colId xmlns:a16="http://schemas.microsoft.com/office/drawing/2014/main" val="1543949486"/>
                    </a:ext>
                  </a:extLst>
                </a:gridCol>
                <a:gridCol w="613955">
                  <a:extLst>
                    <a:ext uri="{9D8B030D-6E8A-4147-A177-3AD203B41FA5}">
                      <a16:colId xmlns:a16="http://schemas.microsoft.com/office/drawing/2014/main" val="1508760644"/>
                    </a:ext>
                  </a:extLst>
                </a:gridCol>
                <a:gridCol w="613955">
                  <a:extLst>
                    <a:ext uri="{9D8B030D-6E8A-4147-A177-3AD203B41FA5}">
                      <a16:colId xmlns:a16="http://schemas.microsoft.com/office/drawing/2014/main" val="2683120467"/>
                    </a:ext>
                  </a:extLst>
                </a:gridCol>
                <a:gridCol w="613955">
                  <a:extLst>
                    <a:ext uri="{9D8B030D-6E8A-4147-A177-3AD203B41FA5}">
                      <a16:colId xmlns:a16="http://schemas.microsoft.com/office/drawing/2014/main" val="2564388564"/>
                    </a:ext>
                  </a:extLst>
                </a:gridCol>
              </a:tblGrid>
              <a:tr h="928480">
                <a:tc>
                  <a:txBody>
                    <a:bodyPr/>
                    <a:lstStyle/>
                    <a:p>
                      <a:endParaRPr lang="en-IN"/>
                    </a:p>
                  </a:txBody>
                  <a:tcPr marL="74483" marR="74483" marT="37241" marB="37241" anchor="ctr"/>
                </a:tc>
                <a:tc>
                  <a:txBody>
                    <a:bodyPr/>
                    <a:lstStyle/>
                    <a:p>
                      <a:pPr algn="r" fontAlgn="ctr"/>
                      <a:r>
                        <a:rPr lang="en-IN" sz="1200" b="1" dirty="0">
                          <a:effectLst/>
                        </a:rPr>
                        <a:t>ORDERNUMBER</a:t>
                      </a:r>
                    </a:p>
                  </a:txBody>
                  <a:tcPr marL="74483" marR="74483" marT="37241" marB="37241" anchor="ctr"/>
                </a:tc>
                <a:tc>
                  <a:txBody>
                    <a:bodyPr/>
                    <a:lstStyle/>
                    <a:p>
                      <a:pPr algn="r" fontAlgn="ctr"/>
                      <a:r>
                        <a:rPr lang="en-IN" sz="1200" b="1" dirty="0">
                          <a:effectLst/>
                        </a:rPr>
                        <a:t>QUANTITYORDERED</a:t>
                      </a:r>
                    </a:p>
                  </a:txBody>
                  <a:tcPr marL="74483" marR="74483" marT="37241" marB="37241" anchor="ctr"/>
                </a:tc>
                <a:tc>
                  <a:txBody>
                    <a:bodyPr/>
                    <a:lstStyle/>
                    <a:p>
                      <a:pPr algn="r" fontAlgn="ctr"/>
                      <a:r>
                        <a:rPr lang="en-IN" sz="1200" b="1" dirty="0">
                          <a:effectLst/>
                        </a:rPr>
                        <a:t>PRICEEACH</a:t>
                      </a:r>
                    </a:p>
                  </a:txBody>
                  <a:tcPr marL="74483" marR="74483" marT="37241" marB="37241" anchor="ctr"/>
                </a:tc>
                <a:tc>
                  <a:txBody>
                    <a:bodyPr/>
                    <a:lstStyle/>
                    <a:p>
                      <a:pPr algn="r" fontAlgn="ctr"/>
                      <a:r>
                        <a:rPr lang="en-IN" sz="1200" b="1" dirty="0">
                          <a:effectLst/>
                        </a:rPr>
                        <a:t>ORDERLINENUMBER</a:t>
                      </a:r>
                    </a:p>
                  </a:txBody>
                  <a:tcPr marL="74483" marR="74483" marT="37241" marB="37241" anchor="ctr"/>
                </a:tc>
                <a:tc>
                  <a:txBody>
                    <a:bodyPr/>
                    <a:lstStyle/>
                    <a:p>
                      <a:pPr algn="r" fontAlgn="ctr"/>
                      <a:r>
                        <a:rPr lang="en-IN" sz="1200" b="1" dirty="0">
                          <a:effectLst/>
                        </a:rPr>
                        <a:t>SALES</a:t>
                      </a:r>
                    </a:p>
                  </a:txBody>
                  <a:tcPr marL="74483" marR="74483" marT="37241" marB="37241" anchor="ctr"/>
                </a:tc>
                <a:tc>
                  <a:txBody>
                    <a:bodyPr/>
                    <a:lstStyle/>
                    <a:p>
                      <a:pPr algn="r" fontAlgn="ctr"/>
                      <a:r>
                        <a:rPr lang="en-IN" sz="1200" b="1" dirty="0">
                          <a:effectLst/>
                        </a:rPr>
                        <a:t>DAYS_SINCE_LASTORDER</a:t>
                      </a:r>
                    </a:p>
                  </a:txBody>
                  <a:tcPr marL="74483" marR="74483" marT="37241" marB="37241" anchor="ctr"/>
                </a:tc>
                <a:tc>
                  <a:txBody>
                    <a:bodyPr/>
                    <a:lstStyle/>
                    <a:p>
                      <a:pPr algn="r" fontAlgn="ctr"/>
                      <a:r>
                        <a:rPr lang="en-IN" sz="1200" b="1" dirty="0">
                          <a:effectLst/>
                        </a:rPr>
                        <a:t>MSRP</a:t>
                      </a:r>
                    </a:p>
                  </a:txBody>
                  <a:tcPr marL="74483" marR="74483" marT="37241" marB="37241" anchor="ctr"/>
                </a:tc>
                <a:tc>
                  <a:txBody>
                    <a:bodyPr/>
                    <a:lstStyle/>
                    <a:p>
                      <a:pPr algn="r" fontAlgn="ctr"/>
                      <a:r>
                        <a:rPr lang="en-IN" sz="1200" b="1" dirty="0" err="1">
                          <a:effectLst/>
                        </a:rPr>
                        <a:t>Total_Profit</a:t>
                      </a:r>
                      <a:endParaRPr lang="en-IN" sz="1200" b="1" dirty="0">
                        <a:effectLst/>
                      </a:endParaRPr>
                    </a:p>
                  </a:txBody>
                  <a:tcPr marL="74483" marR="74483" marT="37241" marB="37241" anchor="ctr"/>
                </a:tc>
                <a:extLst>
                  <a:ext uri="{0D108BD9-81ED-4DB2-BD59-A6C34878D82A}">
                    <a16:rowId xmlns:a16="http://schemas.microsoft.com/office/drawing/2014/main" val="3935594858"/>
                  </a:ext>
                </a:extLst>
              </a:tr>
              <a:tr h="249953">
                <a:tc>
                  <a:txBody>
                    <a:bodyPr/>
                    <a:lstStyle/>
                    <a:p>
                      <a:pPr algn="r" fontAlgn="ctr"/>
                      <a:r>
                        <a:rPr lang="en-IN" sz="1200">
                          <a:effectLst/>
                        </a:rPr>
                        <a:t>CITY</a:t>
                      </a: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dirty="0">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tc>
                  <a:txBody>
                    <a:bodyPr/>
                    <a:lstStyle/>
                    <a:p>
                      <a:pPr algn="r" fontAlgn="ctr"/>
                      <a:endParaRPr lang="en-IN" sz="1200" b="1">
                        <a:effectLst/>
                      </a:endParaRPr>
                    </a:p>
                  </a:txBody>
                  <a:tcPr marL="74483" marR="74483" marT="37241" marB="37241" anchor="ctr"/>
                </a:tc>
                <a:extLst>
                  <a:ext uri="{0D108BD9-81ED-4DB2-BD59-A6C34878D82A}">
                    <a16:rowId xmlns:a16="http://schemas.microsoft.com/office/drawing/2014/main" val="950647231"/>
                  </a:ext>
                </a:extLst>
              </a:tr>
              <a:tr h="605183">
                <a:tc>
                  <a:txBody>
                    <a:bodyPr/>
                    <a:lstStyle/>
                    <a:p>
                      <a:pPr algn="r" fontAlgn="ctr"/>
                      <a:r>
                        <a:rPr lang="en-IN" sz="1200">
                          <a:effectLst/>
                        </a:rPr>
                        <a:t>Madrid</a:t>
                      </a:r>
                      <a:endParaRPr lang="en-IN" sz="1200" b="1">
                        <a:effectLst/>
                      </a:endParaRPr>
                    </a:p>
                  </a:txBody>
                  <a:tcPr marL="74483" marR="74483" marT="37241" marB="37241" anchor="ctr"/>
                </a:tc>
                <a:tc>
                  <a:txBody>
                    <a:bodyPr/>
                    <a:lstStyle/>
                    <a:p>
                      <a:pPr algn="r" fontAlgn="ctr"/>
                      <a:r>
                        <a:rPr lang="en-IN" sz="1200">
                          <a:effectLst/>
                        </a:rPr>
                        <a:t>3125051</a:t>
                      </a:r>
                    </a:p>
                  </a:txBody>
                  <a:tcPr marL="74483" marR="74483" marT="37241" marB="37241" anchor="ctr"/>
                </a:tc>
                <a:tc>
                  <a:txBody>
                    <a:bodyPr/>
                    <a:lstStyle/>
                    <a:p>
                      <a:pPr algn="r" fontAlgn="ctr"/>
                      <a:r>
                        <a:rPr lang="en-IN" sz="1200">
                          <a:effectLst/>
                        </a:rPr>
                        <a:t>10958</a:t>
                      </a:r>
                    </a:p>
                  </a:txBody>
                  <a:tcPr marL="74483" marR="74483" marT="37241" marB="37241" anchor="ctr"/>
                </a:tc>
                <a:tc>
                  <a:txBody>
                    <a:bodyPr/>
                    <a:lstStyle/>
                    <a:p>
                      <a:pPr algn="r" fontAlgn="ctr"/>
                      <a:r>
                        <a:rPr lang="en-IN" sz="1200" dirty="0">
                          <a:effectLst/>
                        </a:rPr>
                        <a:t>29952.370000</a:t>
                      </a:r>
                    </a:p>
                  </a:txBody>
                  <a:tcPr marL="74483" marR="74483" marT="37241" marB="37241" anchor="ctr"/>
                </a:tc>
                <a:tc>
                  <a:txBody>
                    <a:bodyPr/>
                    <a:lstStyle/>
                    <a:p>
                      <a:pPr algn="r" fontAlgn="ctr"/>
                      <a:r>
                        <a:rPr lang="en-IN" sz="1200" dirty="0">
                          <a:effectLst/>
                        </a:rPr>
                        <a:t>1950</a:t>
                      </a:r>
                    </a:p>
                  </a:txBody>
                  <a:tcPr marL="74483" marR="74483" marT="37241" marB="37241" anchor="ctr"/>
                </a:tc>
                <a:tc>
                  <a:txBody>
                    <a:bodyPr/>
                    <a:lstStyle/>
                    <a:p>
                      <a:pPr algn="r" fontAlgn="ctr"/>
                      <a:r>
                        <a:rPr lang="en-IN" sz="1200">
                          <a:effectLst/>
                        </a:rPr>
                        <a:t>1082551.44</a:t>
                      </a:r>
                    </a:p>
                  </a:txBody>
                  <a:tcPr marL="74483" marR="74483" marT="37241" marB="37241" anchor="ctr"/>
                </a:tc>
                <a:tc>
                  <a:txBody>
                    <a:bodyPr/>
                    <a:lstStyle/>
                    <a:p>
                      <a:pPr algn="r" fontAlgn="ctr"/>
                      <a:r>
                        <a:rPr lang="en-IN" sz="1200">
                          <a:effectLst/>
                        </a:rPr>
                        <a:t>549799</a:t>
                      </a:r>
                    </a:p>
                  </a:txBody>
                  <a:tcPr marL="74483" marR="74483" marT="37241" marB="37241" anchor="ctr"/>
                </a:tc>
                <a:tc>
                  <a:txBody>
                    <a:bodyPr/>
                    <a:lstStyle/>
                    <a:p>
                      <a:pPr algn="r" fontAlgn="ctr"/>
                      <a:r>
                        <a:rPr lang="en-IN" sz="1200">
                          <a:effectLst/>
                        </a:rPr>
                        <a:t>29801</a:t>
                      </a:r>
                    </a:p>
                  </a:txBody>
                  <a:tcPr marL="74483" marR="74483" marT="37241" marB="37241" anchor="ctr"/>
                </a:tc>
                <a:tc>
                  <a:txBody>
                    <a:bodyPr/>
                    <a:lstStyle/>
                    <a:p>
                      <a:pPr algn="r" fontAlgn="ctr"/>
                      <a:r>
                        <a:rPr lang="en-IN" sz="1200">
                          <a:effectLst/>
                        </a:rPr>
                        <a:t>1695.44</a:t>
                      </a:r>
                    </a:p>
                  </a:txBody>
                  <a:tcPr marL="74483" marR="74483" marT="37241" marB="37241" anchor="ctr"/>
                </a:tc>
                <a:extLst>
                  <a:ext uri="{0D108BD9-81ED-4DB2-BD59-A6C34878D82A}">
                    <a16:rowId xmlns:a16="http://schemas.microsoft.com/office/drawing/2014/main" val="4149062165"/>
                  </a:ext>
                </a:extLst>
              </a:tr>
              <a:tr h="605183">
                <a:tc>
                  <a:txBody>
                    <a:bodyPr/>
                    <a:lstStyle/>
                    <a:p>
                      <a:pPr algn="r" fontAlgn="ctr"/>
                      <a:r>
                        <a:rPr lang="en-IN" sz="1200">
                          <a:effectLst/>
                        </a:rPr>
                        <a:t>San Rafael</a:t>
                      </a:r>
                      <a:endParaRPr lang="en-IN" sz="1200" b="1">
                        <a:effectLst/>
                      </a:endParaRPr>
                    </a:p>
                  </a:txBody>
                  <a:tcPr marL="74483" marR="74483" marT="37241" marB="37241" anchor="ctr"/>
                </a:tc>
                <a:tc>
                  <a:txBody>
                    <a:bodyPr/>
                    <a:lstStyle/>
                    <a:p>
                      <a:pPr algn="r" fontAlgn="ctr"/>
                      <a:r>
                        <a:rPr lang="en-IN" sz="1200">
                          <a:effectLst/>
                        </a:rPr>
                        <a:t>1850123</a:t>
                      </a:r>
                    </a:p>
                  </a:txBody>
                  <a:tcPr marL="74483" marR="74483" marT="37241" marB="37241" anchor="ctr"/>
                </a:tc>
                <a:tc>
                  <a:txBody>
                    <a:bodyPr/>
                    <a:lstStyle/>
                    <a:p>
                      <a:pPr algn="r" fontAlgn="ctr"/>
                      <a:r>
                        <a:rPr lang="en-IN" sz="1200">
                          <a:effectLst/>
                        </a:rPr>
                        <a:t>6366</a:t>
                      </a:r>
                    </a:p>
                  </a:txBody>
                  <a:tcPr marL="74483" marR="74483" marT="37241" marB="37241" anchor="ctr"/>
                </a:tc>
                <a:tc>
                  <a:txBody>
                    <a:bodyPr/>
                    <a:lstStyle/>
                    <a:p>
                      <a:pPr algn="r" fontAlgn="ctr"/>
                      <a:r>
                        <a:rPr lang="en-IN" sz="1200">
                          <a:effectLst/>
                        </a:rPr>
                        <a:t>18485.340417</a:t>
                      </a:r>
                    </a:p>
                  </a:txBody>
                  <a:tcPr marL="74483" marR="74483" marT="37241" marB="37241" anchor="ctr"/>
                </a:tc>
                <a:tc>
                  <a:txBody>
                    <a:bodyPr/>
                    <a:lstStyle/>
                    <a:p>
                      <a:pPr algn="r" fontAlgn="ctr"/>
                      <a:r>
                        <a:rPr lang="en-IN" sz="1200" dirty="0">
                          <a:effectLst/>
                        </a:rPr>
                        <a:t>1290</a:t>
                      </a:r>
                    </a:p>
                  </a:txBody>
                  <a:tcPr marL="74483" marR="74483" marT="37241" marB="37241" anchor="ctr"/>
                </a:tc>
                <a:tc>
                  <a:txBody>
                    <a:bodyPr/>
                    <a:lstStyle/>
                    <a:p>
                      <a:pPr algn="r" fontAlgn="ctr"/>
                      <a:r>
                        <a:rPr lang="en-IN" sz="1200" dirty="0">
                          <a:effectLst/>
                        </a:rPr>
                        <a:t>654858.06</a:t>
                      </a:r>
                    </a:p>
                  </a:txBody>
                  <a:tcPr marL="74483" marR="74483" marT="37241" marB="37241" anchor="ctr"/>
                </a:tc>
                <a:tc>
                  <a:txBody>
                    <a:bodyPr/>
                    <a:lstStyle/>
                    <a:p>
                      <a:pPr algn="r" fontAlgn="ctr"/>
                      <a:r>
                        <a:rPr lang="en-IN" sz="1200">
                          <a:effectLst/>
                        </a:rPr>
                        <a:t>298001</a:t>
                      </a:r>
                    </a:p>
                  </a:txBody>
                  <a:tcPr marL="74483" marR="74483" marT="37241" marB="37241" anchor="ctr"/>
                </a:tc>
                <a:tc>
                  <a:txBody>
                    <a:bodyPr/>
                    <a:lstStyle/>
                    <a:p>
                      <a:pPr algn="r" fontAlgn="ctr"/>
                      <a:r>
                        <a:rPr lang="en-IN" sz="1200">
                          <a:effectLst/>
                        </a:rPr>
                        <a:t>18451</a:t>
                      </a:r>
                    </a:p>
                  </a:txBody>
                  <a:tcPr marL="74483" marR="74483" marT="37241" marB="37241" anchor="ctr"/>
                </a:tc>
                <a:tc>
                  <a:txBody>
                    <a:bodyPr/>
                    <a:lstStyle/>
                    <a:p>
                      <a:pPr algn="r" fontAlgn="ctr"/>
                      <a:r>
                        <a:rPr lang="en-IN" sz="1200">
                          <a:effectLst/>
                        </a:rPr>
                        <a:t>3155.06</a:t>
                      </a:r>
                    </a:p>
                  </a:txBody>
                  <a:tcPr marL="74483" marR="74483" marT="37241" marB="37241" anchor="ctr"/>
                </a:tc>
                <a:extLst>
                  <a:ext uri="{0D108BD9-81ED-4DB2-BD59-A6C34878D82A}">
                    <a16:rowId xmlns:a16="http://schemas.microsoft.com/office/drawing/2014/main" val="3888494347"/>
                  </a:ext>
                </a:extLst>
              </a:tr>
              <a:tr h="605183">
                <a:tc>
                  <a:txBody>
                    <a:bodyPr/>
                    <a:lstStyle/>
                    <a:p>
                      <a:pPr algn="r" fontAlgn="ctr"/>
                      <a:r>
                        <a:rPr lang="en-IN" sz="1200">
                          <a:effectLst/>
                        </a:rPr>
                        <a:t>NYC</a:t>
                      </a:r>
                      <a:endParaRPr lang="en-IN" sz="1200" b="1">
                        <a:effectLst/>
                      </a:endParaRPr>
                    </a:p>
                  </a:txBody>
                  <a:tcPr marL="74483" marR="74483" marT="37241" marB="37241" anchor="ctr"/>
                </a:tc>
                <a:tc>
                  <a:txBody>
                    <a:bodyPr/>
                    <a:lstStyle/>
                    <a:p>
                      <a:pPr algn="r" fontAlgn="ctr"/>
                      <a:r>
                        <a:rPr lang="en-IN" sz="1200">
                          <a:effectLst/>
                        </a:rPr>
                        <a:t>1557804</a:t>
                      </a:r>
                    </a:p>
                  </a:txBody>
                  <a:tcPr marL="74483" marR="74483" marT="37241" marB="37241" anchor="ctr"/>
                </a:tc>
                <a:tc>
                  <a:txBody>
                    <a:bodyPr/>
                    <a:lstStyle/>
                    <a:p>
                      <a:pPr algn="r" fontAlgn="ctr"/>
                      <a:r>
                        <a:rPr lang="en-IN" sz="1200">
                          <a:effectLst/>
                        </a:rPr>
                        <a:t>5294</a:t>
                      </a:r>
                    </a:p>
                  </a:txBody>
                  <a:tcPr marL="74483" marR="74483" marT="37241" marB="37241" anchor="ctr"/>
                </a:tc>
                <a:tc>
                  <a:txBody>
                    <a:bodyPr/>
                    <a:lstStyle/>
                    <a:p>
                      <a:pPr algn="r" fontAlgn="ctr"/>
                      <a:r>
                        <a:rPr lang="en-IN" sz="1200">
                          <a:effectLst/>
                        </a:rPr>
                        <a:t>16172.630000</a:t>
                      </a:r>
                    </a:p>
                  </a:txBody>
                  <a:tcPr marL="74483" marR="74483" marT="37241" marB="37241" anchor="ctr"/>
                </a:tc>
                <a:tc>
                  <a:txBody>
                    <a:bodyPr/>
                    <a:lstStyle/>
                    <a:p>
                      <a:pPr algn="r" fontAlgn="ctr"/>
                      <a:r>
                        <a:rPr lang="en-IN" sz="1200">
                          <a:effectLst/>
                        </a:rPr>
                        <a:t>968</a:t>
                      </a:r>
                    </a:p>
                  </a:txBody>
                  <a:tcPr marL="74483" marR="74483" marT="37241" marB="37241" anchor="ctr"/>
                </a:tc>
                <a:tc>
                  <a:txBody>
                    <a:bodyPr/>
                    <a:lstStyle/>
                    <a:p>
                      <a:pPr algn="r" fontAlgn="ctr"/>
                      <a:r>
                        <a:rPr lang="en-IN" sz="1200" dirty="0">
                          <a:effectLst/>
                        </a:rPr>
                        <a:t>560787.77</a:t>
                      </a:r>
                    </a:p>
                  </a:txBody>
                  <a:tcPr marL="74483" marR="74483" marT="37241" marB="37241" anchor="ctr"/>
                </a:tc>
                <a:tc>
                  <a:txBody>
                    <a:bodyPr/>
                    <a:lstStyle/>
                    <a:p>
                      <a:pPr algn="r" fontAlgn="ctr"/>
                      <a:r>
                        <a:rPr lang="en-IN" sz="1200">
                          <a:effectLst/>
                        </a:rPr>
                        <a:t>259841</a:t>
                      </a:r>
                    </a:p>
                  </a:txBody>
                  <a:tcPr marL="74483" marR="74483" marT="37241" marB="37241" anchor="ctr"/>
                </a:tc>
                <a:tc>
                  <a:txBody>
                    <a:bodyPr/>
                    <a:lstStyle/>
                    <a:p>
                      <a:pPr algn="r" fontAlgn="ctr"/>
                      <a:r>
                        <a:rPr lang="en-IN" sz="1200">
                          <a:effectLst/>
                        </a:rPr>
                        <a:t>15787</a:t>
                      </a:r>
                    </a:p>
                  </a:txBody>
                  <a:tcPr marL="74483" marR="74483" marT="37241" marB="37241" anchor="ctr"/>
                </a:tc>
                <a:tc>
                  <a:txBody>
                    <a:bodyPr/>
                    <a:lstStyle/>
                    <a:p>
                      <a:pPr algn="r" fontAlgn="ctr"/>
                      <a:r>
                        <a:rPr lang="en-IN" sz="1200">
                          <a:effectLst/>
                        </a:rPr>
                        <a:t>15736.77</a:t>
                      </a:r>
                    </a:p>
                  </a:txBody>
                  <a:tcPr marL="74483" marR="74483" marT="37241" marB="37241" anchor="ctr"/>
                </a:tc>
                <a:extLst>
                  <a:ext uri="{0D108BD9-81ED-4DB2-BD59-A6C34878D82A}">
                    <a16:rowId xmlns:a16="http://schemas.microsoft.com/office/drawing/2014/main" val="2632086596"/>
                  </a:ext>
                </a:extLst>
              </a:tr>
              <a:tr h="605183">
                <a:tc>
                  <a:txBody>
                    <a:bodyPr/>
                    <a:lstStyle/>
                    <a:p>
                      <a:pPr algn="r" fontAlgn="ctr"/>
                      <a:r>
                        <a:rPr lang="en-IN" sz="1200">
                          <a:effectLst/>
                        </a:rPr>
                        <a:t>Singapore</a:t>
                      </a:r>
                      <a:endParaRPr lang="en-IN" sz="1200" b="1">
                        <a:effectLst/>
                      </a:endParaRPr>
                    </a:p>
                  </a:txBody>
                  <a:tcPr marL="74483" marR="74483" marT="37241" marB="37241" anchor="ctr"/>
                </a:tc>
                <a:tc>
                  <a:txBody>
                    <a:bodyPr/>
                    <a:lstStyle/>
                    <a:p>
                      <a:pPr algn="r" fontAlgn="ctr"/>
                      <a:r>
                        <a:rPr lang="en-IN" sz="1200">
                          <a:effectLst/>
                        </a:rPr>
                        <a:t>806424</a:t>
                      </a:r>
                    </a:p>
                  </a:txBody>
                  <a:tcPr marL="74483" marR="74483" marT="37241" marB="37241" anchor="ctr"/>
                </a:tc>
                <a:tc>
                  <a:txBody>
                    <a:bodyPr/>
                    <a:lstStyle/>
                    <a:p>
                      <a:pPr algn="r" fontAlgn="ctr"/>
                      <a:r>
                        <a:rPr lang="en-IN" sz="1200">
                          <a:effectLst/>
                        </a:rPr>
                        <a:t>2760</a:t>
                      </a:r>
                    </a:p>
                  </a:txBody>
                  <a:tcPr marL="74483" marR="74483" marT="37241" marB="37241" anchor="ctr"/>
                </a:tc>
                <a:tc>
                  <a:txBody>
                    <a:bodyPr/>
                    <a:lstStyle/>
                    <a:p>
                      <a:pPr algn="r" fontAlgn="ctr"/>
                      <a:r>
                        <a:rPr lang="en-IN" sz="1200">
                          <a:effectLst/>
                        </a:rPr>
                        <a:t>8304.880000</a:t>
                      </a:r>
                    </a:p>
                  </a:txBody>
                  <a:tcPr marL="74483" marR="74483" marT="37241" marB="37241" anchor="ctr"/>
                </a:tc>
                <a:tc>
                  <a:txBody>
                    <a:bodyPr/>
                    <a:lstStyle/>
                    <a:p>
                      <a:pPr algn="r" fontAlgn="ctr"/>
                      <a:r>
                        <a:rPr lang="en-IN" sz="1200" dirty="0">
                          <a:effectLst/>
                        </a:rPr>
                        <a:t>544</a:t>
                      </a:r>
                    </a:p>
                  </a:txBody>
                  <a:tcPr marL="74483" marR="74483" marT="37241" marB="37241" anchor="ctr"/>
                </a:tc>
                <a:tc>
                  <a:txBody>
                    <a:bodyPr/>
                    <a:lstStyle/>
                    <a:p>
                      <a:pPr algn="r" fontAlgn="ctr"/>
                      <a:r>
                        <a:rPr lang="en-IN" sz="1200">
                          <a:effectLst/>
                        </a:rPr>
                        <a:t>288488.41</a:t>
                      </a:r>
                    </a:p>
                  </a:txBody>
                  <a:tcPr marL="74483" marR="74483" marT="37241" marB="37241" anchor="ctr"/>
                </a:tc>
                <a:tc>
                  <a:txBody>
                    <a:bodyPr/>
                    <a:lstStyle/>
                    <a:p>
                      <a:pPr algn="r" fontAlgn="ctr"/>
                      <a:r>
                        <a:rPr lang="en-IN" sz="1200" dirty="0">
                          <a:effectLst/>
                        </a:rPr>
                        <a:t>138285</a:t>
                      </a:r>
                    </a:p>
                  </a:txBody>
                  <a:tcPr marL="74483" marR="74483" marT="37241" marB="37241" anchor="ctr"/>
                </a:tc>
                <a:tc>
                  <a:txBody>
                    <a:bodyPr/>
                    <a:lstStyle/>
                    <a:p>
                      <a:pPr algn="r" fontAlgn="ctr"/>
                      <a:r>
                        <a:rPr lang="en-IN" sz="1200" dirty="0">
                          <a:effectLst/>
                        </a:rPr>
                        <a:t>8378</a:t>
                      </a:r>
                    </a:p>
                  </a:txBody>
                  <a:tcPr marL="74483" marR="74483" marT="37241" marB="37241" anchor="ctr"/>
                </a:tc>
                <a:tc>
                  <a:txBody>
                    <a:bodyPr/>
                    <a:lstStyle/>
                    <a:p>
                      <a:pPr algn="r" fontAlgn="ctr"/>
                      <a:r>
                        <a:rPr lang="en-IN" sz="1200">
                          <a:effectLst/>
                        </a:rPr>
                        <a:t>-2783.59</a:t>
                      </a:r>
                    </a:p>
                  </a:txBody>
                  <a:tcPr marL="74483" marR="74483" marT="37241" marB="37241" anchor="ctr"/>
                </a:tc>
                <a:extLst>
                  <a:ext uri="{0D108BD9-81ED-4DB2-BD59-A6C34878D82A}">
                    <a16:rowId xmlns:a16="http://schemas.microsoft.com/office/drawing/2014/main" val="1924734557"/>
                  </a:ext>
                </a:extLst>
              </a:tr>
              <a:tr h="579809">
                <a:tc>
                  <a:txBody>
                    <a:bodyPr/>
                    <a:lstStyle/>
                    <a:p>
                      <a:pPr algn="r" fontAlgn="ctr"/>
                      <a:r>
                        <a:rPr lang="en-IN" sz="1200">
                          <a:effectLst/>
                        </a:rPr>
                        <a:t>Paris</a:t>
                      </a:r>
                      <a:endParaRPr lang="en-IN" sz="1200" b="1">
                        <a:effectLst/>
                      </a:endParaRPr>
                    </a:p>
                  </a:txBody>
                  <a:tcPr marL="74483" marR="74483" marT="37241" marB="37241" anchor="ctr"/>
                </a:tc>
                <a:tc>
                  <a:txBody>
                    <a:bodyPr/>
                    <a:lstStyle/>
                    <a:p>
                      <a:pPr algn="r" fontAlgn="ctr"/>
                      <a:r>
                        <a:rPr lang="en-IN" sz="1200">
                          <a:effectLst/>
                        </a:rPr>
                        <a:t>717819</a:t>
                      </a:r>
                    </a:p>
                  </a:txBody>
                  <a:tcPr marL="74483" marR="74483" marT="37241" marB="37241" anchor="ctr"/>
                </a:tc>
                <a:tc>
                  <a:txBody>
                    <a:bodyPr/>
                    <a:lstStyle/>
                    <a:p>
                      <a:pPr algn="r" fontAlgn="ctr"/>
                      <a:r>
                        <a:rPr lang="en-IN" sz="1200">
                          <a:effectLst/>
                        </a:rPr>
                        <a:t>2521</a:t>
                      </a:r>
                    </a:p>
                  </a:txBody>
                  <a:tcPr marL="74483" marR="74483" marT="37241" marB="37241" anchor="ctr"/>
                </a:tc>
                <a:tc>
                  <a:txBody>
                    <a:bodyPr/>
                    <a:lstStyle/>
                    <a:p>
                      <a:pPr algn="r" fontAlgn="ctr"/>
                      <a:r>
                        <a:rPr lang="en-IN" sz="1200">
                          <a:effectLst/>
                        </a:rPr>
                        <a:t>7418.900000</a:t>
                      </a:r>
                    </a:p>
                  </a:txBody>
                  <a:tcPr marL="74483" marR="74483" marT="37241" marB="37241" anchor="ctr"/>
                </a:tc>
                <a:tc>
                  <a:txBody>
                    <a:bodyPr/>
                    <a:lstStyle/>
                    <a:p>
                      <a:pPr algn="r" fontAlgn="ctr"/>
                      <a:r>
                        <a:rPr lang="en-IN" sz="1200">
                          <a:effectLst/>
                        </a:rPr>
                        <a:t>388</a:t>
                      </a:r>
                    </a:p>
                  </a:txBody>
                  <a:tcPr marL="74483" marR="74483" marT="37241" marB="37241" anchor="ctr"/>
                </a:tc>
                <a:tc>
                  <a:txBody>
                    <a:bodyPr/>
                    <a:lstStyle/>
                    <a:p>
                      <a:pPr algn="r" fontAlgn="ctr"/>
                      <a:r>
                        <a:rPr lang="en-IN" sz="1200">
                          <a:effectLst/>
                        </a:rPr>
                        <a:t>268944.68</a:t>
                      </a:r>
                    </a:p>
                  </a:txBody>
                  <a:tcPr marL="74483" marR="74483" marT="37241" marB="37241" anchor="ctr"/>
                </a:tc>
                <a:tc>
                  <a:txBody>
                    <a:bodyPr/>
                    <a:lstStyle/>
                    <a:p>
                      <a:pPr algn="r" fontAlgn="ctr"/>
                      <a:r>
                        <a:rPr lang="en-IN" sz="1200">
                          <a:effectLst/>
                        </a:rPr>
                        <a:t>112254</a:t>
                      </a:r>
                    </a:p>
                  </a:txBody>
                  <a:tcPr marL="74483" marR="74483" marT="37241" marB="37241" anchor="ctr"/>
                </a:tc>
                <a:tc>
                  <a:txBody>
                    <a:bodyPr/>
                    <a:lstStyle/>
                    <a:p>
                      <a:pPr algn="r" fontAlgn="ctr"/>
                      <a:r>
                        <a:rPr lang="en-IN" sz="1200" dirty="0">
                          <a:effectLst/>
                        </a:rPr>
                        <a:t>7367</a:t>
                      </a:r>
                    </a:p>
                  </a:txBody>
                  <a:tcPr marL="74483" marR="74483" marT="37241" marB="37241" anchor="ctr"/>
                </a:tc>
                <a:tc>
                  <a:txBody>
                    <a:bodyPr/>
                    <a:lstStyle/>
                    <a:p>
                      <a:pPr algn="r" fontAlgn="ctr"/>
                      <a:r>
                        <a:rPr lang="en-IN" sz="1200" dirty="0">
                          <a:effectLst/>
                        </a:rPr>
                        <a:t>5015.68</a:t>
                      </a:r>
                    </a:p>
                  </a:txBody>
                  <a:tcPr marL="74483" marR="74483" marT="37241" marB="37241" anchor="ctr"/>
                </a:tc>
                <a:extLst>
                  <a:ext uri="{0D108BD9-81ED-4DB2-BD59-A6C34878D82A}">
                    <a16:rowId xmlns:a16="http://schemas.microsoft.com/office/drawing/2014/main" val="2364368890"/>
                  </a:ext>
                </a:extLst>
              </a:tr>
            </a:tbl>
          </a:graphicData>
        </a:graphic>
      </p:graphicFrame>
    </p:spTree>
    <p:extLst>
      <p:ext uri="{BB962C8B-B14F-4D97-AF65-F5344CB8AC3E}">
        <p14:creationId xmlns:p14="http://schemas.microsoft.com/office/powerpoint/2010/main" val="523499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Crosstab- Shipping status for Product Category</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802680001"/>
              </p:ext>
            </p:extLst>
          </p:nvPr>
        </p:nvGraphicFramePr>
        <p:xfrm>
          <a:off x="1815736" y="2495005"/>
          <a:ext cx="7602584" cy="3657659"/>
        </p:xfrm>
        <a:graphic>
          <a:graphicData uri="http://schemas.openxmlformats.org/drawingml/2006/table">
            <a:tbl>
              <a:tblPr>
                <a:tableStyleId>{08FB837D-C827-4EFA-A057-4D05807E0F7C}</a:tableStyleId>
              </a:tblPr>
              <a:tblGrid>
                <a:gridCol w="950323">
                  <a:extLst>
                    <a:ext uri="{9D8B030D-6E8A-4147-A177-3AD203B41FA5}">
                      <a16:colId xmlns:a16="http://schemas.microsoft.com/office/drawing/2014/main" val="4170010818"/>
                    </a:ext>
                  </a:extLst>
                </a:gridCol>
                <a:gridCol w="950323">
                  <a:extLst>
                    <a:ext uri="{9D8B030D-6E8A-4147-A177-3AD203B41FA5}">
                      <a16:colId xmlns:a16="http://schemas.microsoft.com/office/drawing/2014/main" val="817923750"/>
                    </a:ext>
                  </a:extLst>
                </a:gridCol>
                <a:gridCol w="950323">
                  <a:extLst>
                    <a:ext uri="{9D8B030D-6E8A-4147-A177-3AD203B41FA5}">
                      <a16:colId xmlns:a16="http://schemas.microsoft.com/office/drawing/2014/main" val="84452037"/>
                    </a:ext>
                  </a:extLst>
                </a:gridCol>
                <a:gridCol w="950323">
                  <a:extLst>
                    <a:ext uri="{9D8B030D-6E8A-4147-A177-3AD203B41FA5}">
                      <a16:colId xmlns:a16="http://schemas.microsoft.com/office/drawing/2014/main" val="179488354"/>
                    </a:ext>
                  </a:extLst>
                </a:gridCol>
                <a:gridCol w="950323">
                  <a:extLst>
                    <a:ext uri="{9D8B030D-6E8A-4147-A177-3AD203B41FA5}">
                      <a16:colId xmlns:a16="http://schemas.microsoft.com/office/drawing/2014/main" val="946479502"/>
                    </a:ext>
                  </a:extLst>
                </a:gridCol>
                <a:gridCol w="950323">
                  <a:extLst>
                    <a:ext uri="{9D8B030D-6E8A-4147-A177-3AD203B41FA5}">
                      <a16:colId xmlns:a16="http://schemas.microsoft.com/office/drawing/2014/main" val="1426560077"/>
                    </a:ext>
                  </a:extLst>
                </a:gridCol>
                <a:gridCol w="950323">
                  <a:extLst>
                    <a:ext uri="{9D8B030D-6E8A-4147-A177-3AD203B41FA5}">
                      <a16:colId xmlns:a16="http://schemas.microsoft.com/office/drawing/2014/main" val="1304765661"/>
                    </a:ext>
                  </a:extLst>
                </a:gridCol>
                <a:gridCol w="950323">
                  <a:extLst>
                    <a:ext uri="{9D8B030D-6E8A-4147-A177-3AD203B41FA5}">
                      <a16:colId xmlns:a16="http://schemas.microsoft.com/office/drawing/2014/main" val="3947897970"/>
                    </a:ext>
                  </a:extLst>
                </a:gridCol>
              </a:tblGrid>
              <a:tr h="210029">
                <a:tc>
                  <a:txBody>
                    <a:bodyPr/>
                    <a:lstStyle/>
                    <a:p>
                      <a:pPr algn="r" fontAlgn="ctr"/>
                      <a:r>
                        <a:rPr lang="en-IN" sz="1200">
                          <a:effectLst/>
                        </a:rPr>
                        <a:t>STATUS</a:t>
                      </a:r>
                      <a:endParaRPr lang="en-IN" sz="1200" b="1">
                        <a:effectLst/>
                      </a:endParaRPr>
                    </a:p>
                  </a:txBody>
                  <a:tcPr marL="54473" marR="54473" marT="27236" marB="27236" anchor="ctr"/>
                </a:tc>
                <a:tc>
                  <a:txBody>
                    <a:bodyPr/>
                    <a:lstStyle/>
                    <a:p>
                      <a:pPr algn="r" fontAlgn="ctr"/>
                      <a:r>
                        <a:rPr lang="en-IN" sz="1200">
                          <a:effectLst/>
                        </a:rPr>
                        <a:t>Cancelled</a:t>
                      </a:r>
                      <a:endParaRPr lang="en-IN" sz="1200" b="1">
                        <a:effectLst/>
                      </a:endParaRPr>
                    </a:p>
                  </a:txBody>
                  <a:tcPr marL="54473" marR="54473" marT="27236" marB="27236" anchor="ctr"/>
                </a:tc>
                <a:tc>
                  <a:txBody>
                    <a:bodyPr/>
                    <a:lstStyle/>
                    <a:p>
                      <a:pPr algn="r" fontAlgn="ctr"/>
                      <a:r>
                        <a:rPr lang="en-IN" sz="1200">
                          <a:effectLst/>
                        </a:rPr>
                        <a:t>Disputed</a:t>
                      </a:r>
                      <a:endParaRPr lang="en-IN" sz="1200" b="1">
                        <a:effectLst/>
                      </a:endParaRPr>
                    </a:p>
                  </a:txBody>
                  <a:tcPr marL="54473" marR="54473" marT="27236" marB="27236" anchor="ctr"/>
                </a:tc>
                <a:tc>
                  <a:txBody>
                    <a:bodyPr/>
                    <a:lstStyle/>
                    <a:p>
                      <a:pPr algn="r" fontAlgn="ctr"/>
                      <a:r>
                        <a:rPr lang="en-IN" sz="1200">
                          <a:effectLst/>
                        </a:rPr>
                        <a:t>In Process</a:t>
                      </a:r>
                      <a:endParaRPr lang="en-IN" sz="1200" b="1">
                        <a:effectLst/>
                      </a:endParaRPr>
                    </a:p>
                  </a:txBody>
                  <a:tcPr marL="54473" marR="54473" marT="27236" marB="27236" anchor="ctr"/>
                </a:tc>
                <a:tc>
                  <a:txBody>
                    <a:bodyPr/>
                    <a:lstStyle/>
                    <a:p>
                      <a:pPr algn="r" fontAlgn="ctr"/>
                      <a:r>
                        <a:rPr lang="en-IN" sz="1200">
                          <a:effectLst/>
                        </a:rPr>
                        <a:t>On Hold</a:t>
                      </a:r>
                      <a:endParaRPr lang="en-IN" sz="1200" b="1">
                        <a:effectLst/>
                      </a:endParaRPr>
                    </a:p>
                  </a:txBody>
                  <a:tcPr marL="54473" marR="54473" marT="27236" marB="27236" anchor="ctr"/>
                </a:tc>
                <a:tc>
                  <a:txBody>
                    <a:bodyPr/>
                    <a:lstStyle/>
                    <a:p>
                      <a:pPr algn="r" fontAlgn="ctr"/>
                      <a:r>
                        <a:rPr lang="en-IN" sz="1200">
                          <a:effectLst/>
                        </a:rPr>
                        <a:t>Resolved</a:t>
                      </a:r>
                      <a:endParaRPr lang="en-IN" sz="1200" b="1">
                        <a:effectLst/>
                      </a:endParaRPr>
                    </a:p>
                  </a:txBody>
                  <a:tcPr marL="54473" marR="54473" marT="27236" marB="27236" anchor="ctr"/>
                </a:tc>
                <a:tc>
                  <a:txBody>
                    <a:bodyPr/>
                    <a:lstStyle/>
                    <a:p>
                      <a:pPr algn="r" fontAlgn="ctr"/>
                      <a:r>
                        <a:rPr lang="en-IN" sz="1200">
                          <a:effectLst/>
                        </a:rPr>
                        <a:t>Shipped</a:t>
                      </a:r>
                      <a:endParaRPr lang="en-IN" sz="1200" b="1">
                        <a:effectLst/>
                      </a:endParaRPr>
                    </a:p>
                  </a:txBody>
                  <a:tcPr marL="54473" marR="54473" marT="27236" marB="27236" anchor="ctr"/>
                </a:tc>
                <a:tc>
                  <a:txBody>
                    <a:bodyPr/>
                    <a:lstStyle/>
                    <a:p>
                      <a:pPr algn="r" fontAlgn="ctr"/>
                      <a:r>
                        <a:rPr lang="en-IN" sz="1200" dirty="0">
                          <a:effectLst/>
                        </a:rPr>
                        <a:t>All</a:t>
                      </a:r>
                      <a:endParaRPr lang="en-IN" sz="1200" b="1" dirty="0">
                        <a:effectLst/>
                      </a:endParaRPr>
                    </a:p>
                  </a:txBody>
                  <a:tcPr marL="54473" marR="54473" marT="27236" marB="27236" anchor="ctr"/>
                </a:tc>
                <a:extLst>
                  <a:ext uri="{0D108BD9-81ED-4DB2-BD59-A6C34878D82A}">
                    <a16:rowId xmlns:a16="http://schemas.microsoft.com/office/drawing/2014/main" val="4263548190"/>
                  </a:ext>
                </a:extLst>
              </a:tr>
              <a:tr h="368549">
                <a:tc>
                  <a:txBody>
                    <a:bodyPr/>
                    <a:lstStyle/>
                    <a:p>
                      <a:pPr algn="r" fontAlgn="ctr"/>
                      <a:r>
                        <a:rPr lang="en-IN" sz="1200">
                          <a:effectLst/>
                        </a:rPr>
                        <a:t>PRODUCTLINE</a:t>
                      </a:r>
                      <a:endParaRPr lang="en-IN" sz="1200" b="1">
                        <a:effectLst/>
                      </a:endParaRPr>
                    </a:p>
                  </a:txBody>
                  <a:tcPr marL="54473" marR="54473" marT="27236" marB="27236" anchor="ctr"/>
                </a:tc>
                <a:tc>
                  <a:txBody>
                    <a:bodyPr/>
                    <a:lstStyle/>
                    <a:p>
                      <a:pPr algn="r" fontAlgn="ctr"/>
                      <a:endParaRPr lang="en-IN" sz="1200" b="1">
                        <a:effectLst/>
                      </a:endParaRPr>
                    </a:p>
                  </a:txBody>
                  <a:tcPr marL="54473" marR="54473" marT="27236" marB="27236" anchor="ctr"/>
                </a:tc>
                <a:tc>
                  <a:txBody>
                    <a:bodyPr/>
                    <a:lstStyle/>
                    <a:p>
                      <a:pPr algn="r" fontAlgn="ctr"/>
                      <a:endParaRPr lang="en-IN" sz="1200" b="1">
                        <a:effectLst/>
                      </a:endParaRPr>
                    </a:p>
                  </a:txBody>
                  <a:tcPr marL="54473" marR="54473" marT="27236" marB="27236" anchor="ctr"/>
                </a:tc>
                <a:tc>
                  <a:txBody>
                    <a:bodyPr/>
                    <a:lstStyle/>
                    <a:p>
                      <a:pPr algn="r" fontAlgn="ctr"/>
                      <a:endParaRPr lang="en-IN" sz="1200" b="1">
                        <a:effectLst/>
                      </a:endParaRPr>
                    </a:p>
                  </a:txBody>
                  <a:tcPr marL="54473" marR="54473" marT="27236" marB="27236" anchor="ctr"/>
                </a:tc>
                <a:tc>
                  <a:txBody>
                    <a:bodyPr/>
                    <a:lstStyle/>
                    <a:p>
                      <a:pPr algn="r" fontAlgn="ctr"/>
                      <a:endParaRPr lang="en-IN" sz="1200" b="1">
                        <a:effectLst/>
                      </a:endParaRPr>
                    </a:p>
                  </a:txBody>
                  <a:tcPr marL="54473" marR="54473" marT="27236" marB="27236" anchor="ctr"/>
                </a:tc>
                <a:tc>
                  <a:txBody>
                    <a:bodyPr/>
                    <a:lstStyle/>
                    <a:p>
                      <a:pPr algn="r" fontAlgn="ctr"/>
                      <a:endParaRPr lang="en-IN" sz="1200" b="1">
                        <a:effectLst/>
                      </a:endParaRPr>
                    </a:p>
                  </a:txBody>
                  <a:tcPr marL="54473" marR="54473" marT="27236" marB="27236" anchor="ctr"/>
                </a:tc>
                <a:tc>
                  <a:txBody>
                    <a:bodyPr/>
                    <a:lstStyle/>
                    <a:p>
                      <a:pPr algn="r" fontAlgn="ctr"/>
                      <a:endParaRPr lang="en-IN" sz="1200" b="1">
                        <a:effectLst/>
                      </a:endParaRPr>
                    </a:p>
                  </a:txBody>
                  <a:tcPr marL="54473" marR="54473" marT="27236" marB="27236" anchor="ctr"/>
                </a:tc>
                <a:tc>
                  <a:txBody>
                    <a:bodyPr/>
                    <a:lstStyle/>
                    <a:p>
                      <a:pPr algn="r" fontAlgn="ctr"/>
                      <a:endParaRPr lang="en-IN" sz="1200" b="1">
                        <a:effectLst/>
                      </a:endParaRPr>
                    </a:p>
                  </a:txBody>
                  <a:tcPr marL="54473" marR="54473" marT="27236" marB="27236" anchor="ctr"/>
                </a:tc>
                <a:extLst>
                  <a:ext uri="{0D108BD9-81ED-4DB2-BD59-A6C34878D82A}">
                    <a16:rowId xmlns:a16="http://schemas.microsoft.com/office/drawing/2014/main" val="3917596832"/>
                  </a:ext>
                </a:extLst>
              </a:tr>
              <a:tr h="368549">
                <a:tc>
                  <a:txBody>
                    <a:bodyPr/>
                    <a:lstStyle/>
                    <a:p>
                      <a:pPr algn="r" fontAlgn="ctr"/>
                      <a:r>
                        <a:rPr lang="en-IN" sz="1200">
                          <a:effectLst/>
                        </a:rPr>
                        <a:t>Classic Cars</a:t>
                      </a:r>
                      <a:endParaRPr lang="en-IN" sz="1200" b="1">
                        <a:effectLst/>
                      </a:endParaRPr>
                    </a:p>
                  </a:txBody>
                  <a:tcPr marL="54473" marR="54473" marT="27236" marB="27236" anchor="ctr"/>
                </a:tc>
                <a:tc>
                  <a:txBody>
                    <a:bodyPr/>
                    <a:lstStyle/>
                    <a:p>
                      <a:pPr algn="r" fontAlgn="ctr"/>
                      <a:r>
                        <a:rPr lang="en-IN" sz="1200">
                          <a:effectLst/>
                        </a:rPr>
                        <a:t>3702.675625</a:t>
                      </a:r>
                    </a:p>
                  </a:txBody>
                  <a:tcPr marL="54473" marR="54473" marT="27236" marB="27236" anchor="ctr"/>
                </a:tc>
                <a:tc>
                  <a:txBody>
                    <a:bodyPr/>
                    <a:lstStyle/>
                    <a:p>
                      <a:pPr algn="r" fontAlgn="ctr"/>
                      <a:r>
                        <a:rPr lang="en-IN" sz="1200">
                          <a:effectLst/>
                        </a:rPr>
                        <a:t>8670.956667</a:t>
                      </a:r>
                    </a:p>
                  </a:txBody>
                  <a:tcPr marL="54473" marR="54473" marT="27236" marB="27236" anchor="ctr"/>
                </a:tc>
                <a:tc>
                  <a:txBody>
                    <a:bodyPr/>
                    <a:lstStyle/>
                    <a:p>
                      <a:pPr algn="r" fontAlgn="ctr"/>
                      <a:r>
                        <a:rPr lang="en-IN" sz="1200">
                          <a:effectLst/>
                        </a:rPr>
                        <a:t>4125.761429</a:t>
                      </a:r>
                    </a:p>
                  </a:txBody>
                  <a:tcPr marL="54473" marR="54473" marT="27236" marB="27236" anchor="ctr"/>
                </a:tc>
                <a:tc>
                  <a:txBody>
                    <a:bodyPr/>
                    <a:lstStyle/>
                    <a:p>
                      <a:pPr algn="r" fontAlgn="ctr"/>
                      <a:r>
                        <a:rPr lang="en-IN" sz="1200">
                          <a:effectLst/>
                        </a:rPr>
                        <a:t>4086.637500</a:t>
                      </a:r>
                    </a:p>
                  </a:txBody>
                  <a:tcPr marL="54473" marR="54473" marT="27236" marB="27236" anchor="ctr"/>
                </a:tc>
                <a:tc>
                  <a:txBody>
                    <a:bodyPr/>
                    <a:lstStyle/>
                    <a:p>
                      <a:pPr algn="r" fontAlgn="ctr"/>
                      <a:r>
                        <a:rPr lang="en-IN" sz="1200">
                          <a:effectLst/>
                        </a:rPr>
                        <a:t>3224.917500</a:t>
                      </a:r>
                    </a:p>
                  </a:txBody>
                  <a:tcPr marL="54473" marR="54473" marT="27236" marB="27236" anchor="ctr"/>
                </a:tc>
                <a:tc>
                  <a:txBody>
                    <a:bodyPr/>
                    <a:lstStyle/>
                    <a:p>
                      <a:pPr algn="r" fontAlgn="ctr"/>
                      <a:r>
                        <a:rPr lang="en-IN" sz="1200">
                          <a:effectLst/>
                        </a:rPr>
                        <a:t>4045.773672</a:t>
                      </a:r>
                    </a:p>
                  </a:txBody>
                  <a:tcPr marL="54473" marR="54473" marT="27236" marB="27236" anchor="ctr"/>
                </a:tc>
                <a:tc>
                  <a:txBody>
                    <a:bodyPr/>
                    <a:lstStyle/>
                    <a:p>
                      <a:pPr algn="r" fontAlgn="ctr"/>
                      <a:r>
                        <a:rPr lang="en-IN" sz="1200">
                          <a:effectLst/>
                        </a:rPr>
                        <a:t>4049.387292</a:t>
                      </a:r>
                    </a:p>
                  </a:txBody>
                  <a:tcPr marL="54473" marR="54473" marT="27236" marB="27236" anchor="ctr"/>
                </a:tc>
                <a:extLst>
                  <a:ext uri="{0D108BD9-81ED-4DB2-BD59-A6C34878D82A}">
                    <a16:rowId xmlns:a16="http://schemas.microsoft.com/office/drawing/2014/main" val="1289361084"/>
                  </a:ext>
                </a:extLst>
              </a:tr>
              <a:tr h="368549">
                <a:tc>
                  <a:txBody>
                    <a:bodyPr/>
                    <a:lstStyle/>
                    <a:p>
                      <a:pPr algn="r" fontAlgn="ctr"/>
                      <a:r>
                        <a:rPr lang="en-IN" sz="1200">
                          <a:effectLst/>
                        </a:rPr>
                        <a:t>Motorcycles</a:t>
                      </a:r>
                      <a:endParaRPr lang="en-IN" sz="1200" b="1">
                        <a:effectLst/>
                      </a:endParaRP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5303.650000</a:t>
                      </a: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4992.610000</a:t>
                      </a: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3485.940131</a:t>
                      </a:r>
                    </a:p>
                  </a:txBody>
                  <a:tcPr marL="54473" marR="54473" marT="27236" marB="27236" anchor="ctr"/>
                </a:tc>
                <a:tc>
                  <a:txBody>
                    <a:bodyPr/>
                    <a:lstStyle/>
                    <a:p>
                      <a:pPr algn="r" fontAlgn="ctr"/>
                      <a:r>
                        <a:rPr lang="en-IN" sz="1200">
                          <a:effectLst/>
                        </a:rPr>
                        <a:t>3525.598051</a:t>
                      </a:r>
                    </a:p>
                  </a:txBody>
                  <a:tcPr marL="54473" marR="54473" marT="27236" marB="27236" anchor="ctr"/>
                </a:tc>
                <a:extLst>
                  <a:ext uri="{0D108BD9-81ED-4DB2-BD59-A6C34878D82A}">
                    <a16:rowId xmlns:a16="http://schemas.microsoft.com/office/drawing/2014/main" val="4228840093"/>
                  </a:ext>
                </a:extLst>
              </a:tr>
              <a:tr h="368549">
                <a:tc>
                  <a:txBody>
                    <a:bodyPr/>
                    <a:lstStyle/>
                    <a:p>
                      <a:pPr algn="r" fontAlgn="ctr"/>
                      <a:r>
                        <a:rPr lang="en-IN" sz="1200">
                          <a:effectLst/>
                        </a:rPr>
                        <a:t>Planes</a:t>
                      </a:r>
                      <a:endParaRPr lang="en-IN" sz="1200" b="1">
                        <a:effectLst/>
                      </a:endParaRPr>
                    </a:p>
                  </a:txBody>
                  <a:tcPr marL="54473" marR="54473" marT="27236" marB="27236" anchor="ctr"/>
                </a:tc>
                <a:tc>
                  <a:txBody>
                    <a:bodyPr/>
                    <a:lstStyle/>
                    <a:p>
                      <a:pPr algn="r" fontAlgn="ctr"/>
                      <a:r>
                        <a:rPr lang="en-IN" sz="1200">
                          <a:effectLst/>
                        </a:rPr>
                        <a:t>2952.725833</a:t>
                      </a:r>
                    </a:p>
                  </a:txBody>
                  <a:tcPr marL="54473" marR="54473" marT="27236" marB="27236" anchor="ctr"/>
                </a:tc>
                <a:tc>
                  <a:txBody>
                    <a:bodyPr/>
                    <a:lstStyle/>
                    <a:p>
                      <a:pPr algn="r" fontAlgn="ctr"/>
                      <a:r>
                        <a:rPr lang="en-IN" sz="1200">
                          <a:effectLst/>
                        </a:rPr>
                        <a:t>1921.920000</a:t>
                      </a: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3858.614444</a:t>
                      </a:r>
                    </a:p>
                  </a:txBody>
                  <a:tcPr marL="54473" marR="54473" marT="27236" marB="27236" anchor="ctr"/>
                </a:tc>
                <a:tc>
                  <a:txBody>
                    <a:bodyPr/>
                    <a:lstStyle/>
                    <a:p>
                      <a:pPr algn="r" fontAlgn="ctr"/>
                      <a:r>
                        <a:rPr lang="en-IN" sz="1200">
                          <a:effectLst/>
                        </a:rPr>
                        <a:t>2877.743333</a:t>
                      </a:r>
                    </a:p>
                  </a:txBody>
                  <a:tcPr marL="54473" marR="54473" marT="27236" marB="27236" anchor="ctr"/>
                </a:tc>
                <a:tc>
                  <a:txBody>
                    <a:bodyPr/>
                    <a:lstStyle/>
                    <a:p>
                      <a:pPr algn="r" fontAlgn="ctr"/>
                      <a:r>
                        <a:rPr lang="en-IN" sz="1200">
                          <a:effectLst/>
                        </a:rPr>
                        <a:t>3199.949517</a:t>
                      </a:r>
                    </a:p>
                  </a:txBody>
                  <a:tcPr marL="54473" marR="54473" marT="27236" marB="27236" anchor="ctr"/>
                </a:tc>
                <a:tc>
                  <a:txBody>
                    <a:bodyPr/>
                    <a:lstStyle/>
                    <a:p>
                      <a:pPr algn="r" fontAlgn="ctr"/>
                      <a:r>
                        <a:rPr lang="en-IN" sz="1200">
                          <a:effectLst/>
                        </a:rPr>
                        <a:t>3188.563882</a:t>
                      </a:r>
                    </a:p>
                  </a:txBody>
                  <a:tcPr marL="54473" marR="54473" marT="27236" marB="27236" anchor="ctr"/>
                </a:tc>
                <a:extLst>
                  <a:ext uri="{0D108BD9-81ED-4DB2-BD59-A6C34878D82A}">
                    <a16:rowId xmlns:a16="http://schemas.microsoft.com/office/drawing/2014/main" val="2906319279"/>
                  </a:ext>
                </a:extLst>
              </a:tr>
              <a:tr h="368549">
                <a:tc>
                  <a:txBody>
                    <a:bodyPr/>
                    <a:lstStyle/>
                    <a:p>
                      <a:pPr algn="r" fontAlgn="ctr"/>
                      <a:r>
                        <a:rPr lang="en-IN" sz="1200">
                          <a:effectLst/>
                        </a:rPr>
                        <a:t>Ships</a:t>
                      </a:r>
                      <a:endParaRPr lang="en-IN" sz="1200" b="1">
                        <a:effectLst/>
                      </a:endParaRPr>
                    </a:p>
                  </a:txBody>
                  <a:tcPr marL="54473" marR="54473" marT="27236" marB="27236" anchor="ctr"/>
                </a:tc>
                <a:tc>
                  <a:txBody>
                    <a:bodyPr/>
                    <a:lstStyle/>
                    <a:p>
                      <a:pPr algn="r" fontAlgn="ctr"/>
                      <a:r>
                        <a:rPr lang="en-IN" sz="1200">
                          <a:effectLst/>
                        </a:rPr>
                        <a:t>3148.091667</a:t>
                      </a:r>
                    </a:p>
                  </a:txBody>
                  <a:tcPr marL="54473" marR="54473" marT="27236" marB="27236" anchor="ctr"/>
                </a:tc>
                <a:tc>
                  <a:txBody>
                    <a:bodyPr/>
                    <a:lstStyle/>
                    <a:p>
                      <a:pPr algn="r" fontAlgn="ctr"/>
                      <a:r>
                        <a:rPr lang="en-IN" sz="1200">
                          <a:effectLst/>
                        </a:rPr>
                        <a:t>3070.400000</a:t>
                      </a: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2958.076250</a:t>
                      </a:r>
                    </a:p>
                  </a:txBody>
                  <a:tcPr marL="54473" marR="54473" marT="27236" marB="27236" anchor="ctr"/>
                </a:tc>
                <a:tc>
                  <a:txBody>
                    <a:bodyPr/>
                    <a:lstStyle/>
                    <a:p>
                      <a:pPr algn="r" fontAlgn="ctr"/>
                      <a:r>
                        <a:rPr lang="en-IN" sz="1200">
                          <a:effectLst/>
                        </a:rPr>
                        <a:t>3321.975833</a:t>
                      </a:r>
                    </a:p>
                  </a:txBody>
                  <a:tcPr marL="54473" marR="54473" marT="27236" marB="27236" anchor="ctr"/>
                </a:tc>
                <a:tc>
                  <a:txBody>
                    <a:bodyPr/>
                    <a:lstStyle/>
                    <a:p>
                      <a:pPr algn="r" fontAlgn="ctr"/>
                      <a:r>
                        <a:rPr lang="en-IN" sz="1200">
                          <a:effectLst/>
                        </a:rPr>
                        <a:t>3019.763613</a:t>
                      </a:r>
                    </a:p>
                  </a:txBody>
                  <a:tcPr marL="54473" marR="54473" marT="27236" marB="27236" anchor="ctr"/>
                </a:tc>
                <a:tc>
                  <a:txBody>
                    <a:bodyPr/>
                    <a:lstStyle/>
                    <a:p>
                      <a:pPr algn="r" fontAlgn="ctr"/>
                      <a:r>
                        <a:rPr lang="en-IN" sz="1200">
                          <a:effectLst/>
                        </a:rPr>
                        <a:t>3043.648783</a:t>
                      </a:r>
                    </a:p>
                  </a:txBody>
                  <a:tcPr marL="54473" marR="54473" marT="27236" marB="27236" anchor="ctr"/>
                </a:tc>
                <a:extLst>
                  <a:ext uri="{0D108BD9-81ED-4DB2-BD59-A6C34878D82A}">
                    <a16:rowId xmlns:a16="http://schemas.microsoft.com/office/drawing/2014/main" val="2579404366"/>
                  </a:ext>
                </a:extLst>
              </a:tr>
              <a:tr h="368549">
                <a:tc>
                  <a:txBody>
                    <a:bodyPr/>
                    <a:lstStyle/>
                    <a:p>
                      <a:pPr algn="r" fontAlgn="ctr"/>
                      <a:r>
                        <a:rPr lang="en-IN" sz="1200">
                          <a:effectLst/>
                        </a:rPr>
                        <a:t>Trains</a:t>
                      </a:r>
                      <a:endParaRPr lang="en-IN" sz="1200" b="1">
                        <a:effectLst/>
                      </a:endParaRPr>
                    </a:p>
                  </a:txBody>
                  <a:tcPr marL="54473" marR="54473" marT="27236" marB="27236" anchor="ctr"/>
                </a:tc>
                <a:tc>
                  <a:txBody>
                    <a:bodyPr/>
                    <a:lstStyle/>
                    <a:p>
                      <a:pPr algn="r" fontAlgn="ctr"/>
                      <a:r>
                        <a:rPr lang="en-IN" sz="1200">
                          <a:effectLst/>
                        </a:rPr>
                        <a:t>5082.420000</a:t>
                      </a: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5808.480000</a:t>
                      </a: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2871.367600</a:t>
                      </a:r>
                    </a:p>
                  </a:txBody>
                  <a:tcPr marL="54473" marR="54473" marT="27236" marB="27236" anchor="ctr"/>
                </a:tc>
                <a:tc>
                  <a:txBody>
                    <a:bodyPr/>
                    <a:lstStyle/>
                    <a:p>
                      <a:pPr algn="r" fontAlgn="ctr"/>
                      <a:r>
                        <a:rPr lang="en-IN" sz="1200">
                          <a:effectLst/>
                        </a:rPr>
                        <a:t>2938.226883</a:t>
                      </a:r>
                    </a:p>
                  </a:txBody>
                  <a:tcPr marL="54473" marR="54473" marT="27236" marB="27236" anchor="ctr"/>
                </a:tc>
                <a:extLst>
                  <a:ext uri="{0D108BD9-81ED-4DB2-BD59-A6C34878D82A}">
                    <a16:rowId xmlns:a16="http://schemas.microsoft.com/office/drawing/2014/main" val="1156762694"/>
                  </a:ext>
                </a:extLst>
              </a:tr>
              <a:tr h="368549">
                <a:tc>
                  <a:txBody>
                    <a:bodyPr/>
                    <a:lstStyle/>
                    <a:p>
                      <a:pPr algn="r" fontAlgn="ctr"/>
                      <a:r>
                        <a:rPr lang="en-IN" sz="1200">
                          <a:effectLst/>
                        </a:rPr>
                        <a:t>Trucks and Buses</a:t>
                      </a:r>
                      <a:endParaRPr lang="en-IN" sz="1200" b="1">
                        <a:effectLst/>
                      </a:endParaRP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NaN</a:t>
                      </a:r>
                    </a:p>
                  </a:txBody>
                  <a:tcPr marL="54473" marR="54473" marT="27236" marB="27236" anchor="ctr"/>
                </a:tc>
                <a:tc>
                  <a:txBody>
                    <a:bodyPr/>
                    <a:lstStyle/>
                    <a:p>
                      <a:pPr algn="r" fontAlgn="ctr"/>
                      <a:r>
                        <a:rPr lang="en-IN" sz="1200">
                          <a:effectLst/>
                        </a:rPr>
                        <a:t>3911.491818</a:t>
                      </a:r>
                    </a:p>
                  </a:txBody>
                  <a:tcPr marL="54473" marR="54473" marT="27236" marB="27236" anchor="ctr"/>
                </a:tc>
                <a:tc>
                  <a:txBody>
                    <a:bodyPr/>
                    <a:lstStyle/>
                    <a:p>
                      <a:pPr algn="r" fontAlgn="ctr"/>
                      <a:r>
                        <a:rPr lang="en-IN" sz="1200">
                          <a:effectLst/>
                        </a:rPr>
                        <a:t>5048.322500</a:t>
                      </a:r>
                    </a:p>
                  </a:txBody>
                  <a:tcPr marL="54473" marR="54473" marT="27236" marB="27236" anchor="ctr"/>
                </a:tc>
                <a:tc>
                  <a:txBody>
                    <a:bodyPr/>
                    <a:lstStyle/>
                    <a:p>
                      <a:pPr algn="r" fontAlgn="ctr"/>
                      <a:r>
                        <a:rPr lang="en-IN" sz="1200">
                          <a:effectLst/>
                        </a:rPr>
                        <a:t>4094.550000</a:t>
                      </a:r>
                    </a:p>
                  </a:txBody>
                  <a:tcPr marL="54473" marR="54473" marT="27236" marB="27236" anchor="ctr"/>
                </a:tc>
                <a:tc>
                  <a:txBody>
                    <a:bodyPr/>
                    <a:lstStyle/>
                    <a:p>
                      <a:pPr algn="r" fontAlgn="ctr"/>
                      <a:r>
                        <a:rPr lang="en-IN" sz="1200">
                          <a:effectLst/>
                        </a:rPr>
                        <a:t>3737.697236</a:t>
                      </a:r>
                    </a:p>
                  </a:txBody>
                  <a:tcPr marL="54473" marR="54473" marT="27236" marB="27236" anchor="ctr"/>
                </a:tc>
                <a:tc>
                  <a:txBody>
                    <a:bodyPr/>
                    <a:lstStyle/>
                    <a:p>
                      <a:pPr algn="r" fontAlgn="ctr"/>
                      <a:r>
                        <a:rPr lang="en-IN" sz="1200">
                          <a:effectLst/>
                        </a:rPr>
                        <a:t>3767.997254</a:t>
                      </a:r>
                    </a:p>
                  </a:txBody>
                  <a:tcPr marL="54473" marR="54473" marT="27236" marB="27236" anchor="ctr"/>
                </a:tc>
                <a:extLst>
                  <a:ext uri="{0D108BD9-81ED-4DB2-BD59-A6C34878D82A}">
                    <a16:rowId xmlns:a16="http://schemas.microsoft.com/office/drawing/2014/main" val="1628916552"/>
                  </a:ext>
                </a:extLst>
              </a:tr>
              <a:tr h="368549">
                <a:tc>
                  <a:txBody>
                    <a:bodyPr/>
                    <a:lstStyle/>
                    <a:p>
                      <a:pPr algn="r" fontAlgn="ctr"/>
                      <a:r>
                        <a:rPr lang="en-IN" sz="1200">
                          <a:effectLst/>
                        </a:rPr>
                        <a:t>Vintage Cars</a:t>
                      </a:r>
                      <a:endParaRPr lang="en-IN" sz="1200" b="1">
                        <a:effectLst/>
                      </a:endParaRPr>
                    </a:p>
                  </a:txBody>
                  <a:tcPr marL="54473" marR="54473" marT="27236" marB="27236" anchor="ctr"/>
                </a:tc>
                <a:tc>
                  <a:txBody>
                    <a:bodyPr/>
                    <a:lstStyle/>
                    <a:p>
                      <a:pPr algn="r" fontAlgn="ctr"/>
                      <a:r>
                        <a:rPr lang="en-IN" sz="1200">
                          <a:effectLst/>
                        </a:rPr>
                        <a:t>2927.991538</a:t>
                      </a:r>
                    </a:p>
                  </a:txBody>
                  <a:tcPr marL="54473" marR="54473" marT="27236" marB="27236" anchor="ctr"/>
                </a:tc>
                <a:tc>
                  <a:txBody>
                    <a:bodyPr/>
                    <a:lstStyle/>
                    <a:p>
                      <a:pPr algn="r" fontAlgn="ctr"/>
                      <a:r>
                        <a:rPr lang="en-IN" sz="1200">
                          <a:effectLst/>
                        </a:rPr>
                        <a:t>3731.925000</a:t>
                      </a:r>
                    </a:p>
                  </a:txBody>
                  <a:tcPr marL="54473" marR="54473" marT="27236" marB="27236" anchor="ctr"/>
                </a:tc>
                <a:tc>
                  <a:txBody>
                    <a:bodyPr/>
                    <a:lstStyle/>
                    <a:p>
                      <a:pPr algn="r" fontAlgn="ctr"/>
                      <a:r>
                        <a:rPr lang="en-IN" sz="1200">
                          <a:effectLst/>
                        </a:rPr>
                        <a:t>2746.430625</a:t>
                      </a:r>
                    </a:p>
                  </a:txBody>
                  <a:tcPr marL="54473" marR="54473" marT="27236" marB="27236" anchor="ctr"/>
                </a:tc>
                <a:tc>
                  <a:txBody>
                    <a:bodyPr/>
                    <a:lstStyle/>
                    <a:p>
                      <a:pPr algn="r" fontAlgn="ctr"/>
                      <a:r>
                        <a:rPr lang="en-IN" sz="1200">
                          <a:effectLst/>
                        </a:rPr>
                        <a:t>4505.891111</a:t>
                      </a:r>
                    </a:p>
                  </a:txBody>
                  <a:tcPr marL="54473" marR="54473" marT="27236" marB="27236" anchor="ctr"/>
                </a:tc>
                <a:tc>
                  <a:txBody>
                    <a:bodyPr/>
                    <a:lstStyle/>
                    <a:p>
                      <a:pPr algn="r" fontAlgn="ctr"/>
                      <a:r>
                        <a:rPr lang="en-IN" sz="1200">
                          <a:effectLst/>
                        </a:rPr>
                        <a:t>3004.956000</a:t>
                      </a:r>
                    </a:p>
                  </a:txBody>
                  <a:tcPr marL="54473" marR="54473" marT="27236" marB="27236" anchor="ctr"/>
                </a:tc>
                <a:tc>
                  <a:txBody>
                    <a:bodyPr/>
                    <a:lstStyle/>
                    <a:p>
                      <a:pPr algn="r" fontAlgn="ctr"/>
                      <a:r>
                        <a:rPr lang="en-IN" sz="1200">
                          <a:effectLst/>
                        </a:rPr>
                        <a:t>3112.670076</a:t>
                      </a:r>
                    </a:p>
                  </a:txBody>
                  <a:tcPr marL="54473" marR="54473" marT="27236" marB="27236" anchor="ctr"/>
                </a:tc>
                <a:tc>
                  <a:txBody>
                    <a:bodyPr/>
                    <a:lstStyle/>
                    <a:p>
                      <a:pPr algn="r" fontAlgn="ctr"/>
                      <a:r>
                        <a:rPr lang="en-IN" sz="1200">
                          <a:effectLst/>
                        </a:rPr>
                        <a:t>3120.337962</a:t>
                      </a:r>
                    </a:p>
                  </a:txBody>
                  <a:tcPr marL="54473" marR="54473" marT="27236" marB="27236" anchor="ctr"/>
                </a:tc>
                <a:extLst>
                  <a:ext uri="{0D108BD9-81ED-4DB2-BD59-A6C34878D82A}">
                    <a16:rowId xmlns:a16="http://schemas.microsoft.com/office/drawing/2014/main" val="2978086432"/>
                  </a:ext>
                </a:extLst>
              </a:tr>
              <a:tr h="368549">
                <a:tc>
                  <a:txBody>
                    <a:bodyPr/>
                    <a:lstStyle/>
                    <a:p>
                      <a:pPr algn="r" fontAlgn="ctr"/>
                      <a:r>
                        <a:rPr lang="en-IN" sz="1200">
                          <a:effectLst/>
                        </a:rPr>
                        <a:t>All</a:t>
                      </a:r>
                      <a:endParaRPr lang="en-IN" sz="1200" b="1">
                        <a:effectLst/>
                      </a:endParaRPr>
                    </a:p>
                  </a:txBody>
                  <a:tcPr marL="54473" marR="54473" marT="27236" marB="27236" anchor="ctr"/>
                </a:tc>
                <a:tc>
                  <a:txBody>
                    <a:bodyPr/>
                    <a:lstStyle/>
                    <a:p>
                      <a:pPr algn="r" fontAlgn="ctr"/>
                      <a:r>
                        <a:rPr lang="en-IN" sz="1200">
                          <a:effectLst/>
                        </a:rPr>
                        <a:t>3241.458000</a:t>
                      </a:r>
                    </a:p>
                  </a:txBody>
                  <a:tcPr marL="54473" marR="54473" marT="27236" marB="27236" anchor="ctr"/>
                </a:tc>
                <a:tc>
                  <a:txBody>
                    <a:bodyPr/>
                    <a:lstStyle/>
                    <a:p>
                      <a:pPr algn="r" fontAlgn="ctr"/>
                      <a:r>
                        <a:rPr lang="en-IN" sz="1200">
                          <a:effectLst/>
                        </a:rPr>
                        <a:t>5158.061429</a:t>
                      </a:r>
                    </a:p>
                  </a:txBody>
                  <a:tcPr marL="54473" marR="54473" marT="27236" marB="27236" anchor="ctr"/>
                </a:tc>
                <a:tc>
                  <a:txBody>
                    <a:bodyPr/>
                    <a:lstStyle/>
                    <a:p>
                      <a:pPr algn="r" fontAlgn="ctr"/>
                      <a:r>
                        <a:rPr lang="en-IN" sz="1200">
                          <a:effectLst/>
                        </a:rPr>
                        <a:t>3529.999024</a:t>
                      </a:r>
                    </a:p>
                  </a:txBody>
                  <a:tcPr marL="54473" marR="54473" marT="27236" marB="27236" anchor="ctr"/>
                </a:tc>
                <a:tc>
                  <a:txBody>
                    <a:bodyPr/>
                    <a:lstStyle/>
                    <a:p>
                      <a:pPr algn="r" fontAlgn="ctr"/>
                      <a:r>
                        <a:rPr lang="en-IN" sz="1200">
                          <a:effectLst/>
                        </a:rPr>
                        <a:t>4067.708864</a:t>
                      </a:r>
                    </a:p>
                  </a:txBody>
                  <a:tcPr marL="54473" marR="54473" marT="27236" marB="27236" anchor="ctr"/>
                </a:tc>
                <a:tc>
                  <a:txBody>
                    <a:bodyPr/>
                    <a:lstStyle/>
                    <a:p>
                      <a:pPr algn="r" fontAlgn="ctr"/>
                      <a:r>
                        <a:rPr lang="en-IN" sz="1200">
                          <a:effectLst/>
                        </a:rPr>
                        <a:t>3206.771915</a:t>
                      </a:r>
                    </a:p>
                  </a:txBody>
                  <a:tcPr marL="54473" marR="54473" marT="27236" marB="27236" anchor="ctr"/>
                </a:tc>
                <a:tc>
                  <a:txBody>
                    <a:bodyPr/>
                    <a:lstStyle/>
                    <a:p>
                      <a:pPr algn="r" fontAlgn="ctr"/>
                      <a:r>
                        <a:rPr lang="en-IN" sz="1200">
                          <a:effectLst/>
                        </a:rPr>
                        <a:t>3549.426974</a:t>
                      </a:r>
                    </a:p>
                  </a:txBody>
                  <a:tcPr marL="54473" marR="54473" marT="27236" marB="27236" anchor="ctr"/>
                </a:tc>
                <a:tc>
                  <a:txBody>
                    <a:bodyPr/>
                    <a:lstStyle/>
                    <a:p>
                      <a:pPr algn="r" fontAlgn="ctr"/>
                      <a:r>
                        <a:rPr lang="en-IN" sz="1200" dirty="0">
                          <a:effectLst/>
                        </a:rPr>
                        <a:t>3553.047583</a:t>
                      </a:r>
                    </a:p>
                  </a:txBody>
                  <a:tcPr marL="54473" marR="54473" marT="27236" marB="27236" anchor="ctr"/>
                </a:tc>
                <a:extLst>
                  <a:ext uri="{0D108BD9-81ED-4DB2-BD59-A6C34878D82A}">
                    <a16:rowId xmlns:a16="http://schemas.microsoft.com/office/drawing/2014/main" val="1902386287"/>
                  </a:ext>
                </a:extLst>
              </a:tr>
            </a:tbl>
          </a:graphicData>
        </a:graphic>
      </p:graphicFrame>
    </p:spTree>
    <p:extLst>
      <p:ext uri="{BB962C8B-B14F-4D97-AF65-F5344CB8AC3E}">
        <p14:creationId xmlns:p14="http://schemas.microsoft.com/office/powerpoint/2010/main" val="3028956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37626"/>
            <a:ext cx="10132254" cy="900331"/>
          </a:xfrm>
        </p:spPr>
        <p:txBody>
          <a:bodyPr/>
          <a:lstStyle/>
          <a:p>
            <a:r>
              <a:rPr lang="en-US" dirty="0" smtClean="0"/>
              <a:t>BOXPLOT and Distribution of NUM Variables</a:t>
            </a:r>
            <a:endParaRPr lang="en-IN" dirty="0"/>
          </a:p>
        </p:txBody>
      </p:sp>
      <p:pic>
        <p:nvPicPr>
          <p:cNvPr id="4" name="Picture 3"/>
          <p:cNvPicPr>
            <a:picLocks noChangeAspect="1"/>
          </p:cNvPicPr>
          <p:nvPr/>
        </p:nvPicPr>
        <p:blipFill>
          <a:blip r:embed="rId2"/>
          <a:stretch>
            <a:fillRect/>
          </a:stretch>
        </p:blipFill>
        <p:spPr>
          <a:xfrm>
            <a:off x="1871003" y="1364566"/>
            <a:ext cx="7329268" cy="4994031"/>
          </a:xfrm>
          <a:prstGeom prst="rect">
            <a:avLst/>
          </a:prstGeom>
        </p:spPr>
      </p:pic>
    </p:spTree>
    <p:extLst>
      <p:ext uri="{BB962C8B-B14F-4D97-AF65-F5344CB8AC3E}">
        <p14:creationId xmlns:p14="http://schemas.microsoft.com/office/powerpoint/2010/main" val="2346303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
            <a:ext cx="10131425" cy="1711234"/>
          </a:xfrm>
        </p:spPr>
        <p:txBody>
          <a:bodyPr/>
          <a:lstStyle/>
          <a:p>
            <a:r>
              <a:rPr lang="en-US" dirty="0" smtClean="0"/>
              <a:t>COUNTPLOT- Product LINE &amp; COUNTRY</a:t>
            </a:r>
            <a:endParaRPr lang="en-IN" dirty="0"/>
          </a:p>
        </p:txBody>
      </p:sp>
      <p:pic>
        <p:nvPicPr>
          <p:cNvPr id="4" name="Picture 3"/>
          <p:cNvPicPr>
            <a:picLocks noChangeAspect="1"/>
          </p:cNvPicPr>
          <p:nvPr/>
        </p:nvPicPr>
        <p:blipFill>
          <a:blip r:embed="rId2"/>
          <a:stretch>
            <a:fillRect/>
          </a:stretch>
        </p:blipFill>
        <p:spPr>
          <a:xfrm>
            <a:off x="685801" y="2272938"/>
            <a:ext cx="5362302" cy="3410358"/>
          </a:xfrm>
          <a:prstGeom prst="rect">
            <a:avLst/>
          </a:prstGeom>
        </p:spPr>
      </p:pic>
      <p:pic>
        <p:nvPicPr>
          <p:cNvPr id="5" name="Picture 4"/>
          <p:cNvPicPr>
            <a:picLocks noChangeAspect="1"/>
          </p:cNvPicPr>
          <p:nvPr/>
        </p:nvPicPr>
        <p:blipFill>
          <a:blip r:embed="rId3"/>
          <a:stretch>
            <a:fillRect/>
          </a:stretch>
        </p:blipFill>
        <p:spPr>
          <a:xfrm>
            <a:off x="6413863" y="2272938"/>
            <a:ext cx="4572000" cy="3410358"/>
          </a:xfrm>
          <a:prstGeom prst="rect">
            <a:avLst/>
          </a:prstGeom>
        </p:spPr>
      </p:pic>
    </p:spTree>
    <p:extLst>
      <p:ext uri="{BB962C8B-B14F-4D97-AF65-F5344CB8AC3E}">
        <p14:creationId xmlns:p14="http://schemas.microsoft.com/office/powerpoint/2010/main" val="250903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54746"/>
            <a:ext cx="10131425" cy="1252024"/>
          </a:xfrm>
        </p:spPr>
        <p:txBody>
          <a:bodyPr/>
          <a:lstStyle/>
          <a:p>
            <a:r>
              <a:rPr lang="en-US" dirty="0" err="1" smtClean="0"/>
              <a:t>Histoplot</a:t>
            </a:r>
            <a:endParaRPr lang="en-IN" dirty="0"/>
          </a:p>
        </p:txBody>
      </p:sp>
      <p:pic>
        <p:nvPicPr>
          <p:cNvPr id="5" name="Picture 4"/>
          <p:cNvPicPr>
            <a:picLocks noChangeAspect="1"/>
          </p:cNvPicPr>
          <p:nvPr/>
        </p:nvPicPr>
        <p:blipFill>
          <a:blip r:embed="rId2"/>
          <a:stretch>
            <a:fillRect/>
          </a:stretch>
        </p:blipFill>
        <p:spPr>
          <a:xfrm>
            <a:off x="1631853" y="1515291"/>
            <a:ext cx="7642776" cy="5060852"/>
          </a:xfrm>
          <a:prstGeom prst="rect">
            <a:avLst/>
          </a:prstGeom>
        </p:spPr>
      </p:pic>
    </p:spTree>
    <p:extLst>
      <p:ext uri="{BB962C8B-B14F-4D97-AF65-F5344CB8AC3E}">
        <p14:creationId xmlns:p14="http://schemas.microsoft.com/office/powerpoint/2010/main" val="4195928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09006"/>
            <a:ext cx="10131425" cy="1358537"/>
          </a:xfrm>
        </p:spPr>
        <p:txBody>
          <a:bodyPr/>
          <a:lstStyle/>
          <a:p>
            <a:r>
              <a:rPr lang="en-US" dirty="0" smtClean="0"/>
              <a:t>BOXPLOT-NUM Variables</a:t>
            </a:r>
            <a:endParaRPr lang="en-IN" dirty="0"/>
          </a:p>
        </p:txBody>
      </p:sp>
      <p:pic>
        <p:nvPicPr>
          <p:cNvPr id="4" name="Picture 3"/>
          <p:cNvPicPr>
            <a:picLocks noChangeAspect="1"/>
          </p:cNvPicPr>
          <p:nvPr/>
        </p:nvPicPr>
        <p:blipFill>
          <a:blip r:embed="rId2"/>
          <a:stretch>
            <a:fillRect/>
          </a:stretch>
        </p:blipFill>
        <p:spPr>
          <a:xfrm>
            <a:off x="1378635" y="1824780"/>
            <a:ext cx="8074928" cy="3896750"/>
          </a:xfrm>
          <a:prstGeom prst="rect">
            <a:avLst/>
          </a:prstGeom>
        </p:spPr>
      </p:pic>
      <p:sp>
        <p:nvSpPr>
          <p:cNvPr id="5" name="Rectangle 4"/>
          <p:cNvSpPr/>
          <p:nvPr/>
        </p:nvSpPr>
        <p:spPr>
          <a:xfrm>
            <a:off x="1476103" y="5956663"/>
            <a:ext cx="8151223" cy="809897"/>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200" dirty="0" smtClean="0"/>
              <a:t>Outliers present in MSRP, SALES, PRICE, QUANTITYORDERED, Used quartile method for upper and lower range removal of outliers</a:t>
            </a:r>
            <a:endParaRPr lang="en-IN" sz="1200" dirty="0"/>
          </a:p>
        </p:txBody>
      </p:sp>
    </p:spTree>
    <p:extLst>
      <p:ext uri="{BB962C8B-B14F-4D97-AF65-F5344CB8AC3E}">
        <p14:creationId xmlns:p14="http://schemas.microsoft.com/office/powerpoint/2010/main" val="1439945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96948"/>
            <a:ext cx="10131425" cy="1491175"/>
          </a:xfrm>
        </p:spPr>
        <p:txBody>
          <a:bodyPr/>
          <a:lstStyle/>
          <a:p>
            <a:r>
              <a:rPr lang="en-US" dirty="0" smtClean="0"/>
              <a:t>BOXPLOT- SALES VS COUNTRY</a:t>
            </a:r>
            <a:endParaRPr lang="en-IN" dirty="0"/>
          </a:p>
        </p:txBody>
      </p:sp>
      <p:pic>
        <p:nvPicPr>
          <p:cNvPr id="5" name="Picture 4"/>
          <p:cNvPicPr>
            <a:picLocks noChangeAspect="1"/>
          </p:cNvPicPr>
          <p:nvPr/>
        </p:nvPicPr>
        <p:blipFill>
          <a:blip r:embed="rId2"/>
          <a:stretch>
            <a:fillRect/>
          </a:stretch>
        </p:blipFill>
        <p:spPr>
          <a:xfrm>
            <a:off x="809897" y="1201783"/>
            <a:ext cx="10267405" cy="4741817"/>
          </a:xfrm>
          <a:prstGeom prst="rect">
            <a:avLst/>
          </a:prstGeom>
        </p:spPr>
      </p:pic>
      <p:sp>
        <p:nvSpPr>
          <p:cNvPr id="6" name="Rectangle 5"/>
          <p:cNvSpPr/>
          <p:nvPr/>
        </p:nvSpPr>
        <p:spPr>
          <a:xfrm>
            <a:off x="953589" y="6139544"/>
            <a:ext cx="10175965" cy="548640"/>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200" dirty="0" smtClean="0"/>
              <a:t>The median sales for USA, France, Norway, Spain, Australia and UK is similar. Sum of sales is highest for USA wherein Denmark has highest upper quartile range</a:t>
            </a:r>
            <a:endParaRPr lang="en-IN" sz="1200" dirty="0"/>
          </a:p>
        </p:txBody>
      </p:sp>
    </p:spTree>
    <p:extLst>
      <p:ext uri="{BB962C8B-B14F-4D97-AF65-F5344CB8AC3E}">
        <p14:creationId xmlns:p14="http://schemas.microsoft.com/office/powerpoint/2010/main" val="127207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10131425" cy="931817"/>
          </a:xfrm>
        </p:spPr>
        <p:txBody>
          <a:bodyPr/>
          <a:lstStyle/>
          <a:p>
            <a:r>
              <a:rPr lang="en-US" dirty="0" smtClean="0"/>
              <a:t>BOXPLOT- ORDERNUMBER VS PRODUCTLINE</a:t>
            </a:r>
            <a:endParaRPr lang="en-IN" dirty="0"/>
          </a:p>
        </p:txBody>
      </p:sp>
      <p:pic>
        <p:nvPicPr>
          <p:cNvPr id="4" name="Picture 3"/>
          <p:cNvPicPr>
            <a:picLocks noChangeAspect="1"/>
          </p:cNvPicPr>
          <p:nvPr/>
        </p:nvPicPr>
        <p:blipFill>
          <a:blip r:embed="rId2"/>
          <a:stretch>
            <a:fillRect/>
          </a:stretch>
        </p:blipFill>
        <p:spPr>
          <a:xfrm>
            <a:off x="1397726" y="1946367"/>
            <a:ext cx="8425543" cy="3749039"/>
          </a:xfrm>
          <a:prstGeom prst="rect">
            <a:avLst/>
          </a:prstGeom>
        </p:spPr>
      </p:pic>
      <p:sp>
        <p:nvSpPr>
          <p:cNvPr id="5" name="Rectangle 4"/>
          <p:cNvSpPr/>
          <p:nvPr/>
        </p:nvSpPr>
        <p:spPr>
          <a:xfrm>
            <a:off x="1449977" y="5956663"/>
            <a:ext cx="8608423" cy="744583"/>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200" dirty="0" smtClean="0"/>
              <a:t>The median order number is highest for planes . Minimum lower range is at 10,100 order numbers and highest upper range is at 10425</a:t>
            </a:r>
            <a:endParaRPr lang="en-IN" sz="1200" dirty="0"/>
          </a:p>
        </p:txBody>
      </p:sp>
    </p:spTree>
    <p:extLst>
      <p:ext uri="{BB962C8B-B14F-4D97-AF65-F5344CB8AC3E}">
        <p14:creationId xmlns:p14="http://schemas.microsoft.com/office/powerpoint/2010/main" val="1116468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0"/>
            <a:ext cx="10131425" cy="1227909"/>
          </a:xfrm>
        </p:spPr>
        <p:txBody>
          <a:bodyPr/>
          <a:lstStyle/>
          <a:p>
            <a:r>
              <a:rPr lang="en-US" dirty="0" smtClean="0"/>
              <a:t>Scatter PLOT</a:t>
            </a:r>
            <a:endParaRPr lang="en-IN" dirty="0"/>
          </a:p>
        </p:txBody>
      </p:sp>
      <p:pic>
        <p:nvPicPr>
          <p:cNvPr id="4" name="Picture 3"/>
          <p:cNvPicPr>
            <a:picLocks noChangeAspect="1"/>
          </p:cNvPicPr>
          <p:nvPr/>
        </p:nvPicPr>
        <p:blipFill>
          <a:blip r:embed="rId2"/>
          <a:stretch>
            <a:fillRect/>
          </a:stretch>
        </p:blipFill>
        <p:spPr>
          <a:xfrm>
            <a:off x="685801" y="1071154"/>
            <a:ext cx="9288193" cy="5442189"/>
          </a:xfrm>
          <a:prstGeom prst="rect">
            <a:avLst/>
          </a:prstGeom>
        </p:spPr>
      </p:pic>
    </p:spTree>
    <p:extLst>
      <p:ext uri="{BB962C8B-B14F-4D97-AF65-F5344CB8AC3E}">
        <p14:creationId xmlns:p14="http://schemas.microsoft.com/office/powerpoint/2010/main" val="2678742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04504"/>
            <a:ext cx="10131425" cy="1306286"/>
          </a:xfrm>
        </p:spPr>
        <p:txBody>
          <a:bodyPr/>
          <a:lstStyle/>
          <a:p>
            <a:r>
              <a:rPr lang="en-US" dirty="0" smtClean="0"/>
              <a:t>ORDER DATE- LINE GRAPH</a:t>
            </a:r>
            <a:endParaRPr lang="en-IN" dirty="0"/>
          </a:p>
        </p:txBody>
      </p:sp>
      <p:pic>
        <p:nvPicPr>
          <p:cNvPr id="4" name="Picture 3"/>
          <p:cNvPicPr>
            <a:picLocks noChangeAspect="1"/>
          </p:cNvPicPr>
          <p:nvPr/>
        </p:nvPicPr>
        <p:blipFill>
          <a:blip r:embed="rId2"/>
          <a:stretch>
            <a:fillRect/>
          </a:stretch>
        </p:blipFill>
        <p:spPr>
          <a:xfrm>
            <a:off x="685801" y="1188720"/>
            <a:ext cx="10136777" cy="3905795"/>
          </a:xfrm>
          <a:prstGeom prst="rect">
            <a:avLst/>
          </a:prstGeom>
        </p:spPr>
      </p:pic>
      <p:sp>
        <p:nvSpPr>
          <p:cNvPr id="5" name="Rectangle 4"/>
          <p:cNvSpPr/>
          <p:nvPr/>
        </p:nvSpPr>
        <p:spPr>
          <a:xfrm>
            <a:off x="685801" y="5094515"/>
            <a:ext cx="9614263" cy="1384663"/>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400" dirty="0" smtClean="0"/>
              <a:t>The image screen shot is from tableau. Line graph shows the periodical change in Count of Sales against Order Date taken on Year, Quarterly and Monthly basis, Q4 shows peak values in  sales in Year 2018 and 2019</a:t>
            </a:r>
          </a:p>
          <a:p>
            <a:r>
              <a:rPr lang="en-US" sz="1400" dirty="0" smtClean="0"/>
              <a:t>Pls. sue below link to view the graphs</a:t>
            </a:r>
          </a:p>
          <a:p>
            <a:endParaRPr lang="en-US" sz="1600" b="1" dirty="0">
              <a:solidFill>
                <a:srgbClr val="FF3300"/>
              </a:solidFill>
            </a:endParaRPr>
          </a:p>
          <a:p>
            <a:r>
              <a:rPr lang="en-US" sz="1600" b="1" dirty="0">
                <a:solidFill>
                  <a:srgbClr val="FF3300"/>
                </a:solidFill>
              </a:rPr>
              <a:t>https://public.tableau.com/app/profile/reena.roy/viz/MarketingAnalytics1_Sales/Linechart?publish=yes</a:t>
            </a:r>
            <a:endParaRPr lang="en-US" sz="1600" b="1" dirty="0" smtClean="0">
              <a:solidFill>
                <a:srgbClr val="FF3300"/>
              </a:solidFill>
            </a:endParaRPr>
          </a:p>
          <a:p>
            <a:endParaRPr lang="en-IN" sz="1400" dirty="0"/>
          </a:p>
        </p:txBody>
      </p:sp>
    </p:spTree>
    <p:extLst>
      <p:ext uri="{BB962C8B-B14F-4D97-AF65-F5344CB8AC3E}">
        <p14:creationId xmlns:p14="http://schemas.microsoft.com/office/powerpoint/2010/main" val="296007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10131425" cy="997131"/>
          </a:xfrm>
        </p:spPr>
        <p:txBody>
          <a:bodyPr/>
          <a:lstStyle/>
          <a:p>
            <a:r>
              <a:rPr lang="en-US" dirty="0" smtClean="0"/>
              <a:t>Histogram-Count of sales</a:t>
            </a:r>
            <a:endParaRPr lang="en-IN" dirty="0"/>
          </a:p>
        </p:txBody>
      </p:sp>
      <p:pic>
        <p:nvPicPr>
          <p:cNvPr id="4" name="Picture 3"/>
          <p:cNvPicPr>
            <a:picLocks noChangeAspect="1"/>
          </p:cNvPicPr>
          <p:nvPr/>
        </p:nvPicPr>
        <p:blipFill>
          <a:blip r:embed="rId2"/>
          <a:stretch>
            <a:fillRect/>
          </a:stretch>
        </p:blipFill>
        <p:spPr>
          <a:xfrm>
            <a:off x="1522889" y="1489165"/>
            <a:ext cx="8888208" cy="4443883"/>
          </a:xfrm>
          <a:prstGeom prst="rect">
            <a:avLst/>
          </a:prstGeom>
        </p:spPr>
      </p:pic>
    </p:spTree>
    <p:extLst>
      <p:ext uri="{BB962C8B-B14F-4D97-AF65-F5344CB8AC3E}">
        <p14:creationId xmlns:p14="http://schemas.microsoft.com/office/powerpoint/2010/main" val="2396184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87384"/>
            <a:ext cx="10131425" cy="1188720"/>
          </a:xfrm>
        </p:spPr>
        <p:txBody>
          <a:bodyPr/>
          <a:lstStyle/>
          <a:p>
            <a:r>
              <a:rPr lang="en-US" dirty="0" err="1" smtClean="0"/>
              <a:t>Barplot</a:t>
            </a:r>
            <a:r>
              <a:rPr lang="en-US" dirty="0" smtClean="0"/>
              <a:t>- Count of Sales Vs </a:t>
            </a:r>
            <a:r>
              <a:rPr lang="en-US" dirty="0" err="1" smtClean="0"/>
              <a:t>Productline</a:t>
            </a:r>
            <a:endParaRPr lang="en-IN" dirty="0"/>
          </a:p>
        </p:txBody>
      </p:sp>
      <p:pic>
        <p:nvPicPr>
          <p:cNvPr id="4" name="Picture 3"/>
          <p:cNvPicPr>
            <a:picLocks noChangeAspect="1"/>
          </p:cNvPicPr>
          <p:nvPr/>
        </p:nvPicPr>
        <p:blipFill>
          <a:blip r:embed="rId2"/>
          <a:stretch>
            <a:fillRect/>
          </a:stretch>
        </p:blipFill>
        <p:spPr>
          <a:xfrm>
            <a:off x="1575301" y="1632857"/>
            <a:ext cx="8352423" cy="4234543"/>
          </a:xfrm>
          <a:prstGeom prst="rect">
            <a:avLst/>
          </a:prstGeom>
        </p:spPr>
      </p:pic>
      <p:sp>
        <p:nvSpPr>
          <p:cNvPr id="5" name="Rectangle 4"/>
          <p:cNvSpPr/>
          <p:nvPr/>
        </p:nvSpPr>
        <p:spPr>
          <a:xfrm>
            <a:off x="1149531" y="6061166"/>
            <a:ext cx="9117875" cy="627017"/>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200" dirty="0" smtClean="0"/>
              <a:t>The </a:t>
            </a:r>
            <a:r>
              <a:rPr lang="en-US" sz="1200" dirty="0" err="1" smtClean="0"/>
              <a:t>barplot</a:t>
            </a:r>
            <a:r>
              <a:rPr lang="en-US" sz="1200" dirty="0" smtClean="0"/>
              <a:t> shows that Classic Cars have highest sales .</a:t>
            </a:r>
            <a:endParaRPr lang="en-IN" sz="1200" dirty="0"/>
          </a:p>
        </p:txBody>
      </p:sp>
    </p:spTree>
    <p:extLst>
      <p:ext uri="{BB962C8B-B14F-4D97-AF65-F5344CB8AC3E}">
        <p14:creationId xmlns:p14="http://schemas.microsoft.com/office/powerpoint/2010/main" val="3288702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Eda</a:t>
            </a:r>
            <a:r>
              <a:rPr lang="en-IN" dirty="0" smtClean="0"/>
              <a:t> SUMMARY [INFERENCES]</a:t>
            </a:r>
            <a:endParaRPr lang="en-IN" dirty="0"/>
          </a:p>
        </p:txBody>
      </p:sp>
      <p:sp>
        <p:nvSpPr>
          <p:cNvPr id="3" name="Content Placeholder 2"/>
          <p:cNvSpPr>
            <a:spLocks noGrp="1"/>
          </p:cNvSpPr>
          <p:nvPr>
            <p:ph idx="1"/>
          </p:nvPr>
        </p:nvSpPr>
        <p:spPr>
          <a:xfrm>
            <a:off x="685801" y="2142067"/>
            <a:ext cx="10131425" cy="3840722"/>
          </a:xfrm>
        </p:spPr>
        <p:txBody>
          <a:bodyPr anchor="t">
            <a:normAutofit fontScale="92500" lnSpcReduction="20000"/>
          </a:bodyPr>
          <a:lstStyle/>
          <a:p>
            <a:r>
              <a:rPr lang="en-US" dirty="0" smtClean="0"/>
              <a:t>Country wise USA has highest sales followed by Spain, France, Australia and UK</a:t>
            </a:r>
          </a:p>
          <a:p>
            <a:r>
              <a:rPr lang="en-US" dirty="0" smtClean="0"/>
              <a:t>City wise highest sales is for Madrid followed by San Rafael, NYC, Singapore and Paris</a:t>
            </a:r>
          </a:p>
          <a:p>
            <a:r>
              <a:rPr lang="en-US" dirty="0" smtClean="0"/>
              <a:t>The </a:t>
            </a:r>
            <a:r>
              <a:rPr lang="en-US" dirty="0" err="1" smtClean="0"/>
              <a:t>countplot</a:t>
            </a:r>
            <a:r>
              <a:rPr lang="en-US" dirty="0" smtClean="0"/>
              <a:t> shows highest count of Product wise sales for Classic Cars followed by Vintage cars</a:t>
            </a:r>
          </a:p>
          <a:p>
            <a:r>
              <a:rPr lang="en-US" dirty="0" smtClean="0"/>
              <a:t>The boxplot and </a:t>
            </a:r>
            <a:r>
              <a:rPr lang="en-US" dirty="0" err="1" smtClean="0"/>
              <a:t>distplot</a:t>
            </a:r>
            <a:r>
              <a:rPr lang="en-US" dirty="0" smtClean="0"/>
              <a:t> shows comparative visualization for numerical </a:t>
            </a:r>
            <a:r>
              <a:rPr lang="en-US" dirty="0" err="1" smtClean="0"/>
              <a:t>varibles</a:t>
            </a:r>
            <a:r>
              <a:rPr lang="en-US" dirty="0" smtClean="0"/>
              <a:t> boxplot and the respective distribution. Sales has slight Left skew with outliers present . Outliers are present in Sales, MSRP, PRICE and Quantity ordered</a:t>
            </a:r>
          </a:p>
          <a:p>
            <a:r>
              <a:rPr lang="en-US" dirty="0" smtClean="0"/>
              <a:t>SKEW</a:t>
            </a:r>
          </a:p>
          <a:p>
            <a:r>
              <a:rPr lang="en-US" altLang="en-US" sz="1200" b="1" dirty="0">
                <a:latin typeface="Courier New" panose="02070309020205020404" pitchFamily="49" charset="0"/>
                <a:cs typeface="Courier New" panose="02070309020205020404" pitchFamily="49" charset="0"/>
              </a:rPr>
              <a:t>ORDERNUMBER -</a:t>
            </a:r>
            <a:r>
              <a:rPr lang="en-US" altLang="en-US" sz="1200" b="1" dirty="0" smtClean="0">
                <a:latin typeface="Courier New" panose="02070309020205020404" pitchFamily="49" charset="0"/>
                <a:cs typeface="Courier New" panose="02070309020205020404" pitchFamily="49" charset="0"/>
              </a:rPr>
              <a:t>0.006995</a:t>
            </a:r>
          </a:p>
          <a:p>
            <a:r>
              <a:rPr lang="en-US" altLang="en-US" sz="1200" b="1" dirty="0">
                <a:latin typeface="Courier New" panose="02070309020205020404" pitchFamily="49" charset="0"/>
                <a:cs typeface="Courier New" panose="02070309020205020404" pitchFamily="49" charset="0"/>
              </a:rPr>
              <a:t>QUANTITYORDERED </a:t>
            </a:r>
            <a:r>
              <a:rPr lang="en-US" altLang="en-US" sz="1200" b="1" dirty="0" smtClean="0">
                <a:latin typeface="Courier New" panose="02070309020205020404" pitchFamily="49" charset="0"/>
                <a:cs typeface="Courier New" panose="02070309020205020404" pitchFamily="49" charset="0"/>
              </a:rPr>
              <a:t>0.369286</a:t>
            </a:r>
          </a:p>
          <a:p>
            <a:r>
              <a:rPr lang="en-US" altLang="en-US" sz="1200" b="1" dirty="0">
                <a:latin typeface="Courier New" panose="02070309020205020404" pitchFamily="49" charset="0"/>
                <a:cs typeface="Courier New" panose="02070309020205020404" pitchFamily="49" charset="0"/>
              </a:rPr>
              <a:t>PRICEEACH </a:t>
            </a:r>
            <a:r>
              <a:rPr lang="en-US" altLang="en-US" sz="1200" b="1" dirty="0" smtClean="0">
                <a:latin typeface="Courier New" panose="02070309020205020404" pitchFamily="49" charset="0"/>
                <a:cs typeface="Courier New" panose="02070309020205020404" pitchFamily="49" charset="0"/>
              </a:rPr>
              <a:t>0.697222</a:t>
            </a:r>
          </a:p>
          <a:p>
            <a:r>
              <a:rPr lang="en-US" altLang="en-US" sz="1200" b="1" dirty="0">
                <a:latin typeface="Courier New" panose="02070309020205020404" pitchFamily="49" charset="0"/>
                <a:cs typeface="Courier New" panose="02070309020205020404" pitchFamily="49" charset="0"/>
              </a:rPr>
              <a:t>ORDERLINENUMBER </a:t>
            </a:r>
            <a:r>
              <a:rPr lang="en-US" altLang="en-US" sz="1200" b="1" dirty="0" smtClean="0">
                <a:latin typeface="Courier New" panose="02070309020205020404" pitchFamily="49" charset="0"/>
                <a:cs typeface="Courier New" panose="02070309020205020404" pitchFamily="49" charset="0"/>
              </a:rPr>
              <a:t>0.575327</a:t>
            </a:r>
          </a:p>
          <a:p>
            <a:r>
              <a:rPr lang="en-US" altLang="en-US" sz="1200" b="1" dirty="0">
                <a:latin typeface="Courier New" panose="02070309020205020404" pitchFamily="49" charset="0"/>
                <a:cs typeface="Courier New" panose="02070309020205020404" pitchFamily="49" charset="0"/>
              </a:rPr>
              <a:t>SALES </a:t>
            </a:r>
            <a:r>
              <a:rPr lang="en-US" altLang="en-US" sz="1200" b="1" dirty="0" smtClean="0">
                <a:latin typeface="Courier New" panose="02070309020205020404" pitchFamily="49" charset="0"/>
                <a:cs typeface="Courier New" panose="02070309020205020404" pitchFamily="49" charset="0"/>
              </a:rPr>
              <a:t>1.155940</a:t>
            </a:r>
          </a:p>
          <a:p>
            <a:r>
              <a:rPr lang="en-US" altLang="en-US" sz="1200" b="1" dirty="0" smtClean="0">
                <a:latin typeface="Courier New" panose="02070309020205020404" pitchFamily="49" charset="0"/>
                <a:cs typeface="Courier New" panose="02070309020205020404" pitchFamily="49" charset="0"/>
              </a:rPr>
              <a:t>The Scatterplot shows that most variables don’t have much correlation</a:t>
            </a:r>
          </a:p>
          <a:p>
            <a:endParaRPr lang="en-US" altLang="en-US" sz="1200" dirty="0" smtClean="0">
              <a:solidFill>
                <a:srgbClr val="000000"/>
              </a:solidFill>
              <a:latin typeface="Courier New" panose="02070309020205020404" pitchFamily="49" charset="0"/>
              <a:cs typeface="Courier New" panose="02070309020205020404" pitchFamily="49" charset="0"/>
            </a:endParaRPr>
          </a:p>
          <a:p>
            <a:endParaRPr lang="en-US" altLang="en-US" sz="1200" dirty="0" smtClean="0">
              <a:latin typeface="Courier New" panose="02070309020205020404" pitchFamily="49" charset="0"/>
              <a:cs typeface="Courier New" panose="02070309020205020404" pitchFamily="49" charset="0"/>
            </a:endParaRPr>
          </a:p>
          <a:p>
            <a:endParaRPr lang="en-US" sz="1200" dirty="0" smtClean="0"/>
          </a:p>
          <a:p>
            <a:endParaRPr lang="en-US" dirty="0" smtClean="0"/>
          </a:p>
          <a:p>
            <a:endParaRPr lang="en-IN" dirty="0"/>
          </a:p>
        </p:txBody>
      </p:sp>
      <p:sp>
        <p:nvSpPr>
          <p:cNvPr id="4" name="Rectangle 1"/>
          <p:cNvSpPr>
            <a:spLocks noChangeArrowheads="1"/>
          </p:cNvSpPr>
          <p:nvPr/>
        </p:nvSpPr>
        <p:spPr bwMode="auto">
          <a:xfrm>
            <a:off x="0" y="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ORDERNUMBER -0.006995 QUANTITYORDERED 0.369286 PRICEEACH 0.697222 ORDERLINENUMBER 0.575327 SALES 1.155940 DAYS_SINCE_LASTORDER -0.002983 MSRP 0.575646 </a:t>
            </a:r>
            <a:r>
              <a:rPr kumimoji="0" lang="en-US" altLang="en-US" sz="10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Total_Profit</a:t>
            </a:r>
            <a:r>
              <a:rPr kumimoji="0" lang="en-US" altLang="en-US" sz="10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0.624441 </a:t>
            </a:r>
            <a:r>
              <a:rPr kumimoji="0" lang="en-US" altLang="en-US" sz="10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dtype</a:t>
            </a:r>
            <a:r>
              <a:rPr kumimoji="0" lang="en-US" altLang="en-US" sz="10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float64</a:t>
            </a:r>
            <a:r>
              <a:rPr kumimoji="0" lang="en-US" altLang="en-US" sz="1100" b="0" i="0" u="none" strike="noStrike" cap="none" normalizeH="0" baseline="0" dirty="0" smtClean="0">
                <a:ln>
                  <a:noFill/>
                </a:ln>
                <a:solidFill>
                  <a:schemeClr val="tx1"/>
                </a:solidFill>
                <a:effectLst/>
              </a:rPr>
              <a:t> </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31035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259" y="235133"/>
            <a:ext cx="11416936" cy="1071154"/>
          </a:xfrm>
        </p:spPr>
        <p:txBody>
          <a:bodyPr/>
          <a:lstStyle/>
          <a:p>
            <a:r>
              <a:rPr lang="en-IN" dirty="0" smtClean="0"/>
              <a:t>RFM </a:t>
            </a:r>
            <a:r>
              <a:rPr lang="en-IN" dirty="0" smtClean="0"/>
              <a:t>–KNIME workflow</a:t>
            </a:r>
            <a:endParaRPr lang="en-IN" dirty="0"/>
          </a:p>
        </p:txBody>
      </p:sp>
      <p:pic>
        <p:nvPicPr>
          <p:cNvPr id="4" name="Picture 3"/>
          <p:cNvPicPr>
            <a:picLocks noChangeAspect="1"/>
          </p:cNvPicPr>
          <p:nvPr/>
        </p:nvPicPr>
        <p:blipFill>
          <a:blip r:embed="rId2"/>
          <a:stretch>
            <a:fillRect/>
          </a:stretch>
        </p:blipFill>
        <p:spPr>
          <a:xfrm>
            <a:off x="261259" y="1031967"/>
            <a:ext cx="5826034" cy="4504669"/>
          </a:xfrm>
          <a:prstGeom prst="rect">
            <a:avLst/>
          </a:prstGeom>
        </p:spPr>
      </p:pic>
      <p:pic>
        <p:nvPicPr>
          <p:cNvPr id="5" name="Picture 4"/>
          <p:cNvPicPr>
            <a:picLocks noChangeAspect="1"/>
          </p:cNvPicPr>
          <p:nvPr/>
        </p:nvPicPr>
        <p:blipFill>
          <a:blip r:embed="rId3"/>
          <a:stretch>
            <a:fillRect/>
          </a:stretch>
        </p:blipFill>
        <p:spPr>
          <a:xfrm>
            <a:off x="6222026" y="1007858"/>
            <a:ext cx="5730737" cy="4504669"/>
          </a:xfrm>
          <a:prstGeom prst="rect">
            <a:avLst/>
          </a:prstGeom>
        </p:spPr>
      </p:pic>
      <p:sp>
        <p:nvSpPr>
          <p:cNvPr id="6" name="Rectangle 5"/>
          <p:cNvSpPr/>
          <p:nvPr/>
        </p:nvSpPr>
        <p:spPr>
          <a:xfrm>
            <a:off x="261259" y="5536637"/>
            <a:ext cx="11416936" cy="1107844"/>
          </a:xfrm>
          <a:prstGeom prst="rect">
            <a:avLst/>
          </a:prstGeom>
        </p:spPr>
        <p:style>
          <a:lnRef idx="2">
            <a:schemeClr val="accent6"/>
          </a:lnRef>
          <a:fillRef idx="1">
            <a:schemeClr val="lt1"/>
          </a:fillRef>
          <a:effectRef idx="0">
            <a:schemeClr val="accent6"/>
          </a:effectRef>
          <a:fontRef idx="minor">
            <a:schemeClr val="dk1"/>
          </a:fontRef>
        </p:style>
        <p:txBody>
          <a:bodyPr rtlCol="0" anchor="t"/>
          <a:lstStyle/>
          <a:p>
            <a:r>
              <a:rPr lang="en-US" sz="1200" dirty="0" smtClean="0"/>
              <a:t>Above is the screenshot of KNIME workflow. 1. open the excel reader node and  upload the excel file from browser. 2). Insert a calculated field called Profit.</a:t>
            </a:r>
          </a:p>
          <a:p>
            <a:r>
              <a:rPr lang="en-US" sz="1200" dirty="0" smtClean="0"/>
              <a:t>3). Again using Math Formula node insert the calculated field  Monetary 4) Using Date and Time difference node calculate </a:t>
            </a:r>
            <a:r>
              <a:rPr lang="en-US" sz="1200" dirty="0" err="1" smtClean="0"/>
              <a:t>Recency</a:t>
            </a:r>
            <a:r>
              <a:rPr lang="en-US" sz="1200" dirty="0" smtClean="0"/>
              <a:t>  5). Use Column Filter to filter out columns like Address and </a:t>
            </a:r>
            <a:r>
              <a:rPr lang="en-US" sz="1200" dirty="0" err="1" smtClean="0"/>
              <a:t>Pincode</a:t>
            </a:r>
            <a:r>
              <a:rPr lang="en-US" sz="1200" dirty="0" smtClean="0"/>
              <a:t> 6) </a:t>
            </a:r>
            <a:r>
              <a:rPr lang="en-US" sz="1200" dirty="0" err="1" smtClean="0"/>
              <a:t>Groupby</a:t>
            </a:r>
            <a:r>
              <a:rPr lang="en-US" sz="1200" dirty="0" smtClean="0"/>
              <a:t> to segregate the customers by customers name 7) Use Auto bin to allot 4 Bins or segments to the customers</a:t>
            </a:r>
          </a:p>
          <a:p>
            <a:r>
              <a:rPr lang="en-US" sz="1200" dirty="0" smtClean="0"/>
              <a:t>8) Use Table </a:t>
            </a:r>
            <a:r>
              <a:rPr lang="en-US" sz="1200" dirty="0" err="1" smtClean="0"/>
              <a:t>creater</a:t>
            </a:r>
            <a:r>
              <a:rPr lang="en-US" sz="1200" dirty="0" smtClean="0"/>
              <a:t> and Cell Replacer to assign the </a:t>
            </a:r>
            <a:r>
              <a:rPr lang="en-US" sz="1200" dirty="0" err="1" smtClean="0"/>
              <a:t>Recency</a:t>
            </a:r>
            <a:r>
              <a:rPr lang="en-US" sz="1200" dirty="0" smtClean="0"/>
              <a:t>, Frequency and Monetary </a:t>
            </a:r>
            <a:r>
              <a:rPr lang="en-US" sz="1200" dirty="0" err="1" smtClean="0"/>
              <a:t>segementation</a:t>
            </a:r>
            <a:r>
              <a:rPr lang="en-US" sz="1200" dirty="0" smtClean="0"/>
              <a:t> like High for H, Medium High for MH, Low Medium for LM and Low for L to the four Bins 1, 2, 3, 4 from High to low order wise</a:t>
            </a:r>
            <a:endParaRPr lang="en-IN" sz="1200" dirty="0"/>
          </a:p>
        </p:txBody>
      </p:sp>
    </p:spTree>
    <p:extLst>
      <p:ext uri="{BB962C8B-B14F-4D97-AF65-F5344CB8AC3E}">
        <p14:creationId xmlns:p14="http://schemas.microsoft.com/office/powerpoint/2010/main" val="1211886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52697"/>
            <a:ext cx="10509068" cy="1319349"/>
          </a:xfrm>
        </p:spPr>
        <p:txBody>
          <a:bodyPr/>
          <a:lstStyle/>
          <a:p>
            <a:r>
              <a:rPr lang="en-US" dirty="0" smtClean="0"/>
              <a:t>OUTPUT TABLE- AUTOBIN</a:t>
            </a:r>
            <a:endParaRPr lang="en-IN" dirty="0"/>
          </a:p>
        </p:txBody>
      </p:sp>
      <p:pic>
        <p:nvPicPr>
          <p:cNvPr id="5" name="Picture 4"/>
          <p:cNvPicPr>
            <a:picLocks noChangeAspect="1"/>
          </p:cNvPicPr>
          <p:nvPr/>
        </p:nvPicPr>
        <p:blipFill>
          <a:blip r:embed="rId2"/>
          <a:stretch>
            <a:fillRect/>
          </a:stretch>
        </p:blipFill>
        <p:spPr>
          <a:xfrm>
            <a:off x="1026616" y="1815738"/>
            <a:ext cx="9790610" cy="4702628"/>
          </a:xfrm>
          <a:prstGeom prst="rect">
            <a:avLst/>
          </a:prstGeom>
        </p:spPr>
      </p:pic>
    </p:spTree>
    <p:extLst>
      <p:ext uri="{BB962C8B-B14F-4D97-AF65-F5344CB8AC3E}">
        <p14:creationId xmlns:p14="http://schemas.microsoft.com/office/powerpoint/2010/main" val="10525829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 </a:t>
            </a:r>
            <a:r>
              <a:rPr lang="en-US" dirty="0" err="1" smtClean="0"/>
              <a:t>Segementation</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793488899"/>
              </p:ext>
            </p:extLst>
          </p:nvPr>
        </p:nvGraphicFramePr>
        <p:xfrm>
          <a:off x="846877" y="2256545"/>
          <a:ext cx="3303969" cy="3654780"/>
        </p:xfrm>
        <a:graphic>
          <a:graphicData uri="http://schemas.openxmlformats.org/drawingml/2006/table">
            <a:tbl>
              <a:tblPr>
                <a:tableStyleId>{08FB837D-C827-4EFA-A057-4D05807E0F7C}</a:tableStyleId>
              </a:tblPr>
              <a:tblGrid>
                <a:gridCol w="1171801">
                  <a:extLst>
                    <a:ext uri="{9D8B030D-6E8A-4147-A177-3AD203B41FA5}">
                      <a16:colId xmlns:a16="http://schemas.microsoft.com/office/drawing/2014/main" val="547869313"/>
                    </a:ext>
                  </a:extLst>
                </a:gridCol>
                <a:gridCol w="876303">
                  <a:extLst>
                    <a:ext uri="{9D8B030D-6E8A-4147-A177-3AD203B41FA5}">
                      <a16:colId xmlns:a16="http://schemas.microsoft.com/office/drawing/2014/main" val="1188894204"/>
                    </a:ext>
                  </a:extLst>
                </a:gridCol>
                <a:gridCol w="213981">
                  <a:extLst>
                    <a:ext uri="{9D8B030D-6E8A-4147-A177-3AD203B41FA5}">
                      <a16:colId xmlns:a16="http://schemas.microsoft.com/office/drawing/2014/main" val="563609889"/>
                    </a:ext>
                  </a:extLst>
                </a:gridCol>
                <a:gridCol w="213981">
                  <a:extLst>
                    <a:ext uri="{9D8B030D-6E8A-4147-A177-3AD203B41FA5}">
                      <a16:colId xmlns:a16="http://schemas.microsoft.com/office/drawing/2014/main" val="191172503"/>
                    </a:ext>
                  </a:extLst>
                </a:gridCol>
                <a:gridCol w="224171">
                  <a:extLst>
                    <a:ext uri="{9D8B030D-6E8A-4147-A177-3AD203B41FA5}">
                      <a16:colId xmlns:a16="http://schemas.microsoft.com/office/drawing/2014/main" val="2453022441"/>
                    </a:ext>
                  </a:extLst>
                </a:gridCol>
                <a:gridCol w="603732">
                  <a:extLst>
                    <a:ext uri="{9D8B030D-6E8A-4147-A177-3AD203B41FA5}">
                      <a16:colId xmlns:a16="http://schemas.microsoft.com/office/drawing/2014/main" val="629166154"/>
                    </a:ext>
                  </a:extLst>
                </a:gridCol>
              </a:tblGrid>
              <a:tr h="276860">
                <a:tc>
                  <a:txBody>
                    <a:bodyPr/>
                    <a:lstStyle/>
                    <a:p>
                      <a:pPr algn="l" fontAlgn="b"/>
                      <a:r>
                        <a:rPr lang="en-US" sz="900" u="none" strike="noStrike">
                          <a:effectLst/>
                        </a:rPr>
                        <a:t>Sum of Count of CUSTOMERNAME</a:t>
                      </a:r>
                      <a:endParaRPr lang="en-US" sz="900" b="1"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dirty="0">
                          <a:effectLst/>
                        </a:rPr>
                        <a:t>Column Labels</a:t>
                      </a:r>
                      <a:endParaRPr lang="en-IN" sz="900" b="1" i="0" u="none" strike="noStrike" dirty="0">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1"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282059499"/>
                  </a:ext>
                </a:extLst>
              </a:tr>
              <a:tr h="152962">
                <a:tc>
                  <a:txBody>
                    <a:bodyPr/>
                    <a:lstStyle/>
                    <a:p>
                      <a:pPr algn="l" fontAlgn="b"/>
                      <a:r>
                        <a:rPr lang="en-IN" sz="900" u="none" strike="noStrike">
                          <a:effectLst/>
                        </a:rPr>
                        <a:t>Row Labels</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H</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L</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LM</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MH</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Grand Total</a:t>
                      </a:r>
                      <a:endParaRPr lang="en-IN" sz="900" b="1"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815515230"/>
                  </a:ext>
                </a:extLst>
              </a:tr>
              <a:tr h="152962">
                <a:tc>
                  <a:txBody>
                    <a:bodyPr/>
                    <a:lstStyle/>
                    <a:p>
                      <a:pPr algn="l" fontAlgn="b"/>
                      <a:r>
                        <a:rPr lang="en-IN" sz="900" u="none" strike="noStrike">
                          <a:effectLst/>
                        </a:rPr>
                        <a:t>H</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765</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43</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133</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149</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1090</a:t>
                      </a:r>
                      <a:endParaRPr lang="en-IN" sz="900" b="1"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1141515135"/>
                  </a:ext>
                </a:extLst>
              </a:tr>
              <a:tr h="152962">
                <a:tc>
                  <a:txBody>
                    <a:bodyPr/>
                    <a:lstStyle/>
                    <a:p>
                      <a:pPr algn="l" fontAlgn="b"/>
                      <a:r>
                        <a:rPr lang="en-IN" sz="900" u="none" strike="noStrike">
                          <a:effectLst/>
                        </a:rPr>
                        <a:t>H</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r" fontAlgn="b"/>
                      <a:r>
                        <a:rPr lang="en-IN" sz="900" u="none" strike="noStrike">
                          <a:effectLst/>
                        </a:rPr>
                        <a:t>734</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36</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770</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1321412529"/>
                  </a:ext>
                </a:extLst>
              </a:tr>
              <a:tr h="152962">
                <a:tc>
                  <a:txBody>
                    <a:bodyPr/>
                    <a:lstStyle/>
                    <a:p>
                      <a:pPr algn="l" fontAlgn="b"/>
                      <a:r>
                        <a:rPr lang="en-IN" sz="900" u="none" strike="noStrike">
                          <a:effectLst/>
                        </a:rPr>
                        <a:t>L</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20</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39</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59</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574087283"/>
                  </a:ext>
                </a:extLst>
              </a:tr>
              <a:tr h="152962">
                <a:tc>
                  <a:txBody>
                    <a:bodyPr/>
                    <a:lstStyle/>
                    <a:p>
                      <a:pPr algn="l" fontAlgn="b"/>
                      <a:r>
                        <a:rPr lang="en-IN" sz="900" u="none" strike="noStrike">
                          <a:effectLst/>
                        </a:rPr>
                        <a:t>LM</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23</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94</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25</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142</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3315689302"/>
                  </a:ext>
                </a:extLst>
              </a:tr>
              <a:tr h="152962">
                <a:tc>
                  <a:txBody>
                    <a:bodyPr/>
                    <a:lstStyle/>
                    <a:p>
                      <a:pPr algn="l" fontAlgn="b"/>
                      <a:r>
                        <a:rPr lang="en-IN" sz="900" u="none" strike="noStrike">
                          <a:effectLst/>
                        </a:rPr>
                        <a:t>MH</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r" fontAlgn="b"/>
                      <a:r>
                        <a:rPr lang="en-IN" sz="900" u="none" strike="noStrike">
                          <a:effectLst/>
                        </a:rPr>
                        <a:t>31</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88</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119</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1122305793"/>
                  </a:ext>
                </a:extLst>
              </a:tr>
              <a:tr h="152962">
                <a:tc>
                  <a:txBody>
                    <a:bodyPr/>
                    <a:lstStyle/>
                    <a:p>
                      <a:pPr algn="l" fontAlgn="b"/>
                      <a:r>
                        <a:rPr lang="en-IN" sz="900" u="none" strike="noStrike">
                          <a:effectLst/>
                        </a:rPr>
                        <a:t>L</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41</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182</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110</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113</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446</a:t>
                      </a:r>
                      <a:endParaRPr lang="en-IN" sz="900" b="1"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2473889034"/>
                  </a:ext>
                </a:extLst>
              </a:tr>
              <a:tr h="152962">
                <a:tc>
                  <a:txBody>
                    <a:bodyPr/>
                    <a:lstStyle/>
                    <a:p>
                      <a:pPr algn="l" fontAlgn="b"/>
                      <a:r>
                        <a:rPr lang="en-IN" sz="900" u="none" strike="noStrike">
                          <a:effectLst/>
                        </a:rPr>
                        <a:t>H</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r" fontAlgn="b"/>
                      <a:r>
                        <a:rPr lang="en-IN" sz="900" u="none" strike="noStrike">
                          <a:effectLst/>
                        </a:rPr>
                        <a:t>41</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41</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621288871"/>
                  </a:ext>
                </a:extLst>
              </a:tr>
              <a:tr h="152962">
                <a:tc>
                  <a:txBody>
                    <a:bodyPr/>
                    <a:lstStyle/>
                    <a:p>
                      <a:pPr algn="l" fontAlgn="b"/>
                      <a:r>
                        <a:rPr lang="en-IN" sz="900" u="none" strike="noStrike">
                          <a:effectLst/>
                        </a:rPr>
                        <a:t>L</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182</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35</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217</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3524992937"/>
                  </a:ext>
                </a:extLst>
              </a:tr>
              <a:tr h="152962">
                <a:tc>
                  <a:txBody>
                    <a:bodyPr/>
                    <a:lstStyle/>
                    <a:p>
                      <a:pPr algn="l" fontAlgn="b"/>
                      <a:r>
                        <a:rPr lang="en-IN" sz="900" u="none" strike="noStrike">
                          <a:effectLst/>
                        </a:rPr>
                        <a:t>LM</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75</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26</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101</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3304444732"/>
                  </a:ext>
                </a:extLst>
              </a:tr>
              <a:tr h="152962">
                <a:tc>
                  <a:txBody>
                    <a:bodyPr/>
                    <a:lstStyle/>
                    <a:p>
                      <a:pPr algn="l" fontAlgn="b"/>
                      <a:r>
                        <a:rPr lang="en-IN" sz="900" u="none" strike="noStrike">
                          <a:effectLst/>
                        </a:rPr>
                        <a:t>MH</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87</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87</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467505592"/>
                  </a:ext>
                </a:extLst>
              </a:tr>
              <a:tr h="152962">
                <a:tc>
                  <a:txBody>
                    <a:bodyPr/>
                    <a:lstStyle/>
                    <a:p>
                      <a:pPr algn="l" fontAlgn="b"/>
                      <a:r>
                        <a:rPr lang="en-IN" sz="900" u="none" strike="noStrike">
                          <a:effectLst/>
                        </a:rPr>
                        <a:t>LM</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214</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38</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181</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159</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592</a:t>
                      </a:r>
                      <a:endParaRPr lang="en-IN" sz="900" b="1"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2248901352"/>
                  </a:ext>
                </a:extLst>
              </a:tr>
              <a:tr h="152962">
                <a:tc>
                  <a:txBody>
                    <a:bodyPr/>
                    <a:lstStyle/>
                    <a:p>
                      <a:pPr algn="l" fontAlgn="b"/>
                      <a:r>
                        <a:rPr lang="en-IN" sz="900" u="none" strike="noStrike">
                          <a:effectLst/>
                        </a:rPr>
                        <a:t>H</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r" fontAlgn="b"/>
                      <a:r>
                        <a:rPr lang="en-IN" sz="900" u="none" strike="noStrike">
                          <a:effectLst/>
                        </a:rPr>
                        <a:t>182</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182</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3301430102"/>
                  </a:ext>
                </a:extLst>
              </a:tr>
              <a:tr h="152962">
                <a:tc>
                  <a:txBody>
                    <a:bodyPr/>
                    <a:lstStyle/>
                    <a:p>
                      <a:pPr algn="l" fontAlgn="b"/>
                      <a:r>
                        <a:rPr lang="en-IN" sz="900" u="none" strike="noStrike">
                          <a:effectLst/>
                        </a:rPr>
                        <a:t>L</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17</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39</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56</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956298372"/>
                  </a:ext>
                </a:extLst>
              </a:tr>
              <a:tr h="152962">
                <a:tc>
                  <a:txBody>
                    <a:bodyPr/>
                    <a:lstStyle/>
                    <a:p>
                      <a:pPr algn="l" fontAlgn="b"/>
                      <a:r>
                        <a:rPr lang="en-IN" sz="900" u="none" strike="noStrike">
                          <a:effectLst/>
                        </a:rPr>
                        <a:t>LM</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21</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142</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100</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263</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111954940"/>
                  </a:ext>
                </a:extLst>
              </a:tr>
              <a:tr h="152962">
                <a:tc>
                  <a:txBody>
                    <a:bodyPr/>
                    <a:lstStyle/>
                    <a:p>
                      <a:pPr algn="l" fontAlgn="b"/>
                      <a:r>
                        <a:rPr lang="en-IN" sz="900" u="none" strike="noStrike">
                          <a:effectLst/>
                        </a:rPr>
                        <a:t>MH</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r" fontAlgn="b"/>
                      <a:r>
                        <a:rPr lang="en-IN" sz="900" u="none" strike="noStrike">
                          <a:effectLst/>
                        </a:rPr>
                        <a:t>32</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59</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91</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940764272"/>
                  </a:ext>
                </a:extLst>
              </a:tr>
              <a:tr h="152962">
                <a:tc>
                  <a:txBody>
                    <a:bodyPr/>
                    <a:lstStyle/>
                    <a:p>
                      <a:pPr algn="l" fontAlgn="b"/>
                      <a:r>
                        <a:rPr lang="en-IN" sz="900" u="none" strike="noStrike">
                          <a:effectLst/>
                        </a:rPr>
                        <a:t>MH</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264</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68</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78</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209</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619</a:t>
                      </a:r>
                      <a:endParaRPr lang="en-IN" sz="900" b="1"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1649340442"/>
                  </a:ext>
                </a:extLst>
              </a:tr>
              <a:tr h="160610">
                <a:tc>
                  <a:txBody>
                    <a:bodyPr/>
                    <a:lstStyle/>
                    <a:p>
                      <a:pPr algn="l" fontAlgn="b"/>
                      <a:r>
                        <a:rPr lang="en-IN" sz="900" u="none" strike="noStrike">
                          <a:effectLst/>
                        </a:rPr>
                        <a:t>H</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r" fontAlgn="b"/>
                      <a:r>
                        <a:rPr lang="en-IN" sz="900" u="none" strike="noStrike">
                          <a:effectLst/>
                        </a:rPr>
                        <a:t>264</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35</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299</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3385230545"/>
                  </a:ext>
                </a:extLst>
              </a:tr>
              <a:tr h="152962">
                <a:tc>
                  <a:txBody>
                    <a:bodyPr/>
                    <a:lstStyle/>
                    <a:p>
                      <a:pPr algn="l" fontAlgn="b"/>
                      <a:r>
                        <a:rPr lang="en-IN" sz="900" u="none" strike="noStrike">
                          <a:effectLst/>
                        </a:rPr>
                        <a:t>L</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68</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68</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3950216416"/>
                  </a:ext>
                </a:extLst>
              </a:tr>
              <a:tr h="152962">
                <a:tc>
                  <a:txBody>
                    <a:bodyPr/>
                    <a:lstStyle/>
                    <a:p>
                      <a:pPr algn="l" fontAlgn="b"/>
                      <a:r>
                        <a:rPr lang="en-IN" sz="900" u="none" strike="noStrike">
                          <a:effectLst/>
                        </a:rPr>
                        <a:t>LM</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49</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52</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101</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1341510530"/>
                  </a:ext>
                </a:extLst>
              </a:tr>
              <a:tr h="152962">
                <a:tc>
                  <a:txBody>
                    <a:bodyPr/>
                    <a:lstStyle/>
                    <a:p>
                      <a:pPr algn="l" fontAlgn="b"/>
                      <a:r>
                        <a:rPr lang="en-IN" sz="900" u="none" strike="noStrike">
                          <a:effectLst/>
                        </a:rPr>
                        <a:t>MH</a:t>
                      </a:r>
                      <a:endParaRPr lang="en-IN" sz="900" b="0" i="0" u="none" strike="noStrike">
                        <a:solidFill>
                          <a:srgbClr val="000000"/>
                        </a:solidFill>
                        <a:effectLst/>
                        <a:latin typeface="Calibri" panose="020F0502020204030204" pitchFamily="34" charset="0"/>
                      </a:endParaRPr>
                    </a:p>
                  </a:txBody>
                  <a:tcPr marL="68833"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l" fontAlgn="b"/>
                      <a:r>
                        <a:rPr lang="en-IN" sz="900" u="none" strike="noStrike">
                          <a:effectLst/>
                        </a:rPr>
                        <a:t> </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29</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122</a:t>
                      </a:r>
                      <a:endParaRPr lang="en-IN" sz="900" b="0"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151</a:t>
                      </a:r>
                      <a:endParaRPr lang="en-IN" sz="900" b="0" i="0" u="none" strike="noStrike">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3287527056"/>
                  </a:ext>
                </a:extLst>
              </a:tr>
              <a:tr h="152962">
                <a:tc>
                  <a:txBody>
                    <a:bodyPr/>
                    <a:lstStyle/>
                    <a:p>
                      <a:pPr algn="l" fontAlgn="b"/>
                      <a:r>
                        <a:rPr lang="en-IN" sz="900" u="none" strike="noStrike">
                          <a:effectLst/>
                        </a:rPr>
                        <a:t>Grand Total</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1284</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331</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502</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a:effectLst/>
                        </a:rPr>
                        <a:t>630</a:t>
                      </a:r>
                      <a:endParaRPr lang="en-IN" sz="900" b="1" i="0" u="none" strike="noStrike">
                        <a:solidFill>
                          <a:srgbClr val="000000"/>
                        </a:solidFill>
                        <a:effectLst/>
                        <a:latin typeface="Calibri" panose="020F0502020204030204" pitchFamily="34" charset="0"/>
                      </a:endParaRPr>
                    </a:p>
                  </a:txBody>
                  <a:tcPr marL="7648" marR="7648" marT="7648" marB="0" anchor="b"/>
                </a:tc>
                <a:tc>
                  <a:txBody>
                    <a:bodyPr/>
                    <a:lstStyle/>
                    <a:p>
                      <a:pPr algn="r" fontAlgn="b"/>
                      <a:r>
                        <a:rPr lang="en-IN" sz="900" u="none" strike="noStrike" dirty="0">
                          <a:effectLst/>
                        </a:rPr>
                        <a:t>2747</a:t>
                      </a:r>
                      <a:endParaRPr lang="en-IN" sz="900" b="1" i="0" u="none" strike="noStrike" dirty="0">
                        <a:solidFill>
                          <a:srgbClr val="000000"/>
                        </a:solidFill>
                        <a:effectLst/>
                        <a:latin typeface="Calibri" panose="020F0502020204030204" pitchFamily="34" charset="0"/>
                      </a:endParaRPr>
                    </a:p>
                  </a:txBody>
                  <a:tcPr marL="7648" marR="7648" marT="7648" marB="0" anchor="b"/>
                </a:tc>
                <a:extLst>
                  <a:ext uri="{0D108BD9-81ED-4DB2-BD59-A6C34878D82A}">
                    <a16:rowId xmlns:a16="http://schemas.microsoft.com/office/drawing/2014/main" val="1998148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681707246"/>
              </p:ext>
            </p:extLst>
          </p:nvPr>
        </p:nvGraphicFramePr>
        <p:xfrm>
          <a:off x="5238205" y="2256538"/>
          <a:ext cx="4167054" cy="3843818"/>
        </p:xfrm>
        <a:graphic>
          <a:graphicData uri="http://schemas.openxmlformats.org/drawingml/2006/table">
            <a:tbl>
              <a:tblPr/>
              <a:tblGrid>
                <a:gridCol w="694509">
                  <a:extLst>
                    <a:ext uri="{9D8B030D-6E8A-4147-A177-3AD203B41FA5}">
                      <a16:colId xmlns:a16="http://schemas.microsoft.com/office/drawing/2014/main" val="547332647"/>
                    </a:ext>
                  </a:extLst>
                </a:gridCol>
                <a:gridCol w="694509">
                  <a:extLst>
                    <a:ext uri="{9D8B030D-6E8A-4147-A177-3AD203B41FA5}">
                      <a16:colId xmlns:a16="http://schemas.microsoft.com/office/drawing/2014/main" val="1478551486"/>
                    </a:ext>
                  </a:extLst>
                </a:gridCol>
                <a:gridCol w="694509">
                  <a:extLst>
                    <a:ext uri="{9D8B030D-6E8A-4147-A177-3AD203B41FA5}">
                      <a16:colId xmlns:a16="http://schemas.microsoft.com/office/drawing/2014/main" val="3859124080"/>
                    </a:ext>
                  </a:extLst>
                </a:gridCol>
                <a:gridCol w="694509">
                  <a:extLst>
                    <a:ext uri="{9D8B030D-6E8A-4147-A177-3AD203B41FA5}">
                      <a16:colId xmlns:a16="http://schemas.microsoft.com/office/drawing/2014/main" val="4230940957"/>
                    </a:ext>
                  </a:extLst>
                </a:gridCol>
                <a:gridCol w="694509">
                  <a:extLst>
                    <a:ext uri="{9D8B030D-6E8A-4147-A177-3AD203B41FA5}">
                      <a16:colId xmlns:a16="http://schemas.microsoft.com/office/drawing/2014/main" val="4169604472"/>
                    </a:ext>
                  </a:extLst>
                </a:gridCol>
                <a:gridCol w="694509">
                  <a:extLst>
                    <a:ext uri="{9D8B030D-6E8A-4147-A177-3AD203B41FA5}">
                      <a16:colId xmlns:a16="http://schemas.microsoft.com/office/drawing/2014/main" val="3384306024"/>
                    </a:ext>
                  </a:extLst>
                </a:gridCol>
              </a:tblGrid>
              <a:tr h="198818">
                <a:tc>
                  <a:txBody>
                    <a:bodyPr/>
                    <a:lstStyle/>
                    <a:p>
                      <a:pPr algn="l" fontAlgn="b"/>
                      <a:r>
                        <a:rPr lang="en-IN" sz="1100" b="0" i="0" u="none" strike="noStrike" dirty="0">
                          <a:solidFill>
                            <a:srgbClr val="000000"/>
                          </a:solidFill>
                          <a:effectLst/>
                          <a:latin typeface="Calibri" panose="020F0502020204030204" pitchFamily="34" charset="0"/>
                        </a:rPr>
                        <a:t> </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gridSpan="4">
                  <a:txBody>
                    <a:bodyPr/>
                    <a:lstStyle/>
                    <a:p>
                      <a:pPr algn="ctr" fontAlgn="b"/>
                      <a:r>
                        <a:rPr lang="en-IN" sz="1100" b="1" i="0" u="none" strike="noStrike" dirty="0">
                          <a:solidFill>
                            <a:srgbClr val="000000"/>
                          </a:solidFill>
                          <a:effectLst/>
                          <a:latin typeface="Calibri" panose="020F0502020204030204" pitchFamily="34" charset="0"/>
                        </a:rPr>
                        <a:t>Monetary</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81066779"/>
                  </a:ext>
                </a:extLst>
              </a:tr>
              <a:tr h="213783">
                <a:tc>
                  <a:txBody>
                    <a:bodyPr/>
                    <a:lstStyle/>
                    <a:p>
                      <a:pPr algn="l" fontAlgn="b"/>
                      <a:r>
                        <a:rPr lang="en-IN" sz="1100" b="1" i="0" u="none" strike="noStrike">
                          <a:solidFill>
                            <a:srgbClr val="000000"/>
                          </a:solidFill>
                          <a:effectLst/>
                          <a:latin typeface="Calibri" panose="020F0502020204030204" pitchFamily="34" charset="0"/>
                        </a:rPr>
                        <a:t>Recency</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1" i="0" u="none" strike="noStrike" dirty="0">
                          <a:solidFill>
                            <a:srgbClr val="000000"/>
                          </a:solidFill>
                          <a:effectLst/>
                          <a:latin typeface="Calibri" panose="020F0502020204030204" pitchFamily="34" charset="0"/>
                        </a:rPr>
                        <a:t>Frequency</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1" i="0" u="none" strike="noStrike" dirty="0">
                          <a:solidFill>
                            <a:srgbClr val="000000"/>
                          </a:solidFill>
                          <a:effectLst/>
                          <a:latin typeface="Calibri" panose="020F0502020204030204" pitchFamily="34" charset="0"/>
                        </a:rPr>
                        <a:t>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1" i="0" u="none" strike="noStrike" dirty="0">
                          <a:solidFill>
                            <a:srgbClr val="000000"/>
                          </a:solidFill>
                          <a:effectLst/>
                          <a:latin typeface="Calibri" panose="020F0502020204030204" pitchFamily="34" charset="0"/>
                        </a:rPr>
                        <a:t>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1" i="0" u="none" strike="noStrike" dirty="0">
                          <a:solidFill>
                            <a:srgbClr val="000000"/>
                          </a:solidFill>
                          <a:effectLst/>
                          <a:latin typeface="Calibri" panose="020F0502020204030204" pitchFamily="34" charset="0"/>
                        </a:rPr>
                        <a:t>LM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1" i="0" u="none" strike="noStrike" dirty="0">
                          <a:solidFill>
                            <a:srgbClr val="000000"/>
                          </a:solidFill>
                          <a:effectLst/>
                          <a:latin typeface="Calibri" panose="020F0502020204030204" pitchFamily="34" charset="0"/>
                        </a:rPr>
                        <a:t>MH</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888995107"/>
                  </a:ext>
                </a:extLst>
              </a:tr>
              <a:tr h="213783">
                <a:tc rowSpan="4">
                  <a:txBody>
                    <a:bodyPr/>
                    <a:lstStyle/>
                    <a:p>
                      <a:pPr algn="ctr" fontAlgn="b"/>
                      <a:r>
                        <a:rPr lang="en-IN" sz="1100" b="1" i="0" u="none" strike="noStrike" dirty="0">
                          <a:solidFill>
                            <a:srgbClr val="000000"/>
                          </a:solidFill>
                          <a:effectLst/>
                          <a:latin typeface="Calibri" panose="020F0502020204030204" pitchFamily="34" charset="0"/>
                        </a:rPr>
                        <a:t>H</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1" i="0" u="none" strike="noStrike" dirty="0">
                          <a:solidFill>
                            <a:srgbClr val="000000"/>
                          </a:solidFill>
                          <a:effectLst/>
                          <a:latin typeface="Calibri" panose="020F0502020204030204" pitchFamily="34" charset="0"/>
                        </a:rPr>
                        <a:t>H</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r" fontAlgn="b"/>
                      <a:r>
                        <a:rPr lang="en-IN" sz="1100" b="1" i="0" u="none" strike="noStrike" dirty="0">
                          <a:solidFill>
                            <a:srgbClr val="FFC000"/>
                          </a:solidFill>
                          <a:effectLst/>
                          <a:latin typeface="Calibri" panose="020F0502020204030204" pitchFamily="34" charset="0"/>
                        </a:rPr>
                        <a:t>734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r" fontAlgn="b"/>
                      <a:r>
                        <a:rPr lang="en-IN" sz="1100" b="1" i="0" u="none" strike="noStrike">
                          <a:solidFill>
                            <a:srgbClr val="FFC000"/>
                          </a:solidFill>
                          <a:effectLst/>
                          <a:latin typeface="Calibri" panose="020F0502020204030204" pitchFamily="34" charset="0"/>
                        </a:rPr>
                        <a:t>36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extLst>
                  <a:ext uri="{0D108BD9-81ED-4DB2-BD59-A6C34878D82A}">
                    <a16:rowId xmlns:a16="http://schemas.microsoft.com/office/drawing/2014/main" val="991237826"/>
                  </a:ext>
                </a:extLst>
              </a:tr>
              <a:tr h="213783">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L</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r" fontAlgn="b"/>
                      <a:r>
                        <a:rPr lang="en-IN" sz="1100" b="1" i="0" u="none" strike="noStrike" dirty="0">
                          <a:solidFill>
                            <a:srgbClr val="000000"/>
                          </a:solidFill>
                          <a:effectLst/>
                          <a:latin typeface="Calibri" panose="020F0502020204030204" pitchFamily="34" charset="0"/>
                        </a:rPr>
                        <a:t>20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r" fontAlgn="b"/>
                      <a:r>
                        <a:rPr lang="en-IN" sz="1100" b="1" i="0" u="none" strike="noStrike" dirty="0">
                          <a:solidFill>
                            <a:srgbClr val="000000"/>
                          </a:solidFill>
                          <a:effectLst/>
                          <a:latin typeface="Calibri" panose="020F0502020204030204" pitchFamily="34" charset="0"/>
                        </a:rPr>
                        <a:t>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l" fontAlgn="b"/>
                      <a:r>
                        <a:rPr lang="en-IN" sz="11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extLst>
                  <a:ext uri="{0D108BD9-81ED-4DB2-BD59-A6C34878D82A}">
                    <a16:rowId xmlns:a16="http://schemas.microsoft.com/office/drawing/2014/main" val="1256060693"/>
                  </a:ext>
                </a:extLst>
              </a:tr>
              <a:tr h="213783">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LM</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r" fontAlgn="b"/>
                      <a:r>
                        <a:rPr lang="en-IN" sz="1100" b="1" i="0" u="none" strike="noStrike">
                          <a:solidFill>
                            <a:srgbClr val="000000"/>
                          </a:solidFill>
                          <a:effectLst/>
                          <a:latin typeface="Calibri" panose="020F0502020204030204" pitchFamily="34" charset="0"/>
                        </a:rPr>
                        <a:t>23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r" fontAlgn="b"/>
                      <a:r>
                        <a:rPr lang="en-IN" sz="1100" b="1" i="0" u="none" strike="noStrike" dirty="0">
                          <a:solidFill>
                            <a:srgbClr val="000000"/>
                          </a:solidFill>
                          <a:effectLst/>
                          <a:latin typeface="Calibri" panose="020F0502020204030204" pitchFamily="34" charset="0"/>
                        </a:rPr>
                        <a:t>94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r" fontAlgn="b"/>
                      <a:r>
                        <a:rPr lang="en-IN" sz="1100" b="1" i="0" u="none" strike="noStrike">
                          <a:solidFill>
                            <a:srgbClr val="000000"/>
                          </a:solidFill>
                          <a:effectLst/>
                          <a:latin typeface="Calibri" panose="020F0502020204030204" pitchFamily="34" charset="0"/>
                        </a:rPr>
                        <a:t>25</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extLst>
                  <a:ext uri="{0D108BD9-81ED-4DB2-BD59-A6C34878D82A}">
                    <a16:rowId xmlns:a16="http://schemas.microsoft.com/office/drawing/2014/main" val="2098412299"/>
                  </a:ext>
                </a:extLst>
              </a:tr>
              <a:tr h="213783">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MH</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r" fontAlgn="b"/>
                      <a:r>
                        <a:rPr lang="en-IN" sz="1100" b="1" i="0" u="none" strike="noStrike">
                          <a:solidFill>
                            <a:srgbClr val="FFFFFF"/>
                          </a:solidFill>
                          <a:effectLst/>
                          <a:latin typeface="Calibri" panose="020F0502020204030204" pitchFamily="34" charset="0"/>
                        </a:rPr>
                        <a:t>31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l" fontAlgn="b"/>
                      <a:r>
                        <a:rPr lang="en-IN" sz="1100" b="1" i="0" u="none" strike="noStrike">
                          <a:solidFill>
                            <a:srgbClr val="FFFFFF"/>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l" fontAlgn="b"/>
                      <a:r>
                        <a:rPr lang="en-IN" sz="1100" b="1" i="0" u="none" strike="noStrike" dirty="0">
                          <a:solidFill>
                            <a:srgbClr val="FFFFFF"/>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tc>
                  <a:txBody>
                    <a:bodyPr/>
                    <a:lstStyle/>
                    <a:p>
                      <a:pPr algn="r" fontAlgn="b"/>
                      <a:r>
                        <a:rPr lang="en-IN" sz="1100" b="1" i="0" u="none" strike="noStrike" dirty="0">
                          <a:solidFill>
                            <a:srgbClr val="FFFFFF"/>
                          </a:solidFill>
                          <a:effectLst/>
                          <a:latin typeface="Calibri" panose="020F0502020204030204" pitchFamily="34" charset="0"/>
                        </a:rPr>
                        <a:t>88</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3399"/>
                    </a:solidFill>
                  </a:tcPr>
                </a:tc>
                <a:extLst>
                  <a:ext uri="{0D108BD9-81ED-4DB2-BD59-A6C34878D82A}">
                    <a16:rowId xmlns:a16="http://schemas.microsoft.com/office/drawing/2014/main" val="3346969921"/>
                  </a:ext>
                </a:extLst>
              </a:tr>
              <a:tr h="213783">
                <a:tc rowSpan="4">
                  <a:txBody>
                    <a:bodyPr/>
                    <a:lstStyle/>
                    <a:p>
                      <a:pPr algn="ctr" fontAlgn="b"/>
                      <a:r>
                        <a:rPr lang="en-IN" sz="1100" b="1" i="0" u="none" strike="noStrike">
                          <a:solidFill>
                            <a:srgbClr val="000000"/>
                          </a:solidFill>
                          <a:effectLst/>
                          <a:latin typeface="Calibri" panose="020F0502020204030204" pitchFamily="34" charset="0"/>
                        </a:rPr>
                        <a:t>L</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1" i="0" u="none" strike="noStrike" dirty="0">
                          <a:solidFill>
                            <a:srgbClr val="000000"/>
                          </a:solidFill>
                          <a:effectLst/>
                          <a:latin typeface="Calibri" panose="020F0502020204030204" pitchFamily="34" charset="0"/>
                        </a:rPr>
                        <a:t>H</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r" fontAlgn="b"/>
                      <a:r>
                        <a:rPr lang="en-IN" sz="1100" b="1" i="0" u="none" strike="noStrike" dirty="0">
                          <a:solidFill>
                            <a:srgbClr val="FFC000"/>
                          </a:solidFill>
                          <a:effectLst/>
                          <a:latin typeface="Calibri" panose="020F0502020204030204" pitchFamily="34" charset="0"/>
                        </a:rPr>
                        <a:t>41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extLst>
                  <a:ext uri="{0D108BD9-81ED-4DB2-BD59-A6C34878D82A}">
                    <a16:rowId xmlns:a16="http://schemas.microsoft.com/office/drawing/2014/main" val="1056720026"/>
                  </a:ext>
                </a:extLst>
              </a:tr>
              <a:tr h="213783">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L</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r" fontAlgn="b"/>
                      <a:r>
                        <a:rPr lang="en-IN" sz="1100" b="1" i="0" u="none" strike="noStrike" dirty="0">
                          <a:solidFill>
                            <a:srgbClr val="FF0000"/>
                          </a:solidFill>
                          <a:effectLst/>
                          <a:latin typeface="Calibri" panose="020F0502020204030204" pitchFamily="34" charset="0"/>
                        </a:rPr>
                        <a:t>182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r" fontAlgn="b"/>
                      <a:r>
                        <a:rPr lang="en-IN" sz="1100" b="0" i="0" u="none" strike="noStrike" dirty="0">
                          <a:solidFill>
                            <a:srgbClr val="000000"/>
                          </a:solidFill>
                          <a:effectLst/>
                          <a:latin typeface="Calibri" panose="020F0502020204030204" pitchFamily="34" charset="0"/>
                        </a:rPr>
                        <a:t>35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extLst>
                  <a:ext uri="{0D108BD9-81ED-4DB2-BD59-A6C34878D82A}">
                    <a16:rowId xmlns:a16="http://schemas.microsoft.com/office/drawing/2014/main" val="858168456"/>
                  </a:ext>
                </a:extLst>
              </a:tr>
              <a:tr h="213783">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LM</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r" fontAlgn="b"/>
                      <a:r>
                        <a:rPr lang="en-IN" sz="1100" b="0" i="0" u="none" strike="noStrike" dirty="0">
                          <a:solidFill>
                            <a:srgbClr val="000000"/>
                          </a:solidFill>
                          <a:effectLst/>
                          <a:latin typeface="Calibri" panose="020F0502020204030204" pitchFamily="34" charset="0"/>
                        </a:rPr>
                        <a:t>75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r" fontAlgn="b"/>
                      <a:r>
                        <a:rPr lang="en-IN" sz="1100" b="1" i="0" u="none" strike="noStrike" dirty="0">
                          <a:solidFill>
                            <a:srgbClr val="FFFFFF"/>
                          </a:solidFill>
                          <a:effectLst/>
                          <a:latin typeface="Calibri" panose="020F0502020204030204" pitchFamily="34" charset="0"/>
                        </a:rPr>
                        <a:t>26</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extLst>
                  <a:ext uri="{0D108BD9-81ED-4DB2-BD59-A6C34878D82A}">
                    <a16:rowId xmlns:a16="http://schemas.microsoft.com/office/drawing/2014/main" val="2402093856"/>
                  </a:ext>
                </a:extLst>
              </a:tr>
              <a:tr h="213783">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MH</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tc>
                  <a:txBody>
                    <a:bodyPr/>
                    <a:lstStyle/>
                    <a:p>
                      <a:pPr algn="r" fontAlgn="b"/>
                      <a:r>
                        <a:rPr lang="en-IN" sz="1100" b="1" i="0" u="none" strike="noStrike" dirty="0">
                          <a:solidFill>
                            <a:srgbClr val="FFFFFF"/>
                          </a:solidFill>
                          <a:effectLst/>
                          <a:latin typeface="Calibri" panose="020F0502020204030204" pitchFamily="34" charset="0"/>
                        </a:rPr>
                        <a:t>87</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399FF"/>
                    </a:solidFill>
                  </a:tcPr>
                </a:tc>
                <a:extLst>
                  <a:ext uri="{0D108BD9-81ED-4DB2-BD59-A6C34878D82A}">
                    <a16:rowId xmlns:a16="http://schemas.microsoft.com/office/drawing/2014/main" val="578719662"/>
                  </a:ext>
                </a:extLst>
              </a:tr>
              <a:tr h="213783">
                <a:tc rowSpan="4">
                  <a:txBody>
                    <a:bodyPr/>
                    <a:lstStyle/>
                    <a:p>
                      <a:pPr algn="ctr" fontAlgn="b"/>
                      <a:r>
                        <a:rPr lang="en-IN" sz="1100" b="1" i="0" u="none" strike="noStrike">
                          <a:solidFill>
                            <a:srgbClr val="000000"/>
                          </a:solidFill>
                          <a:effectLst/>
                          <a:latin typeface="Calibri" panose="020F0502020204030204" pitchFamily="34" charset="0"/>
                        </a:rPr>
                        <a:t>LM</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1" i="0" u="none" strike="noStrike">
                          <a:solidFill>
                            <a:srgbClr val="000000"/>
                          </a:solidFill>
                          <a:effectLst/>
                          <a:latin typeface="Calibri" panose="020F0502020204030204" pitchFamily="34" charset="0"/>
                        </a:rPr>
                        <a:t>H</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r" fontAlgn="b"/>
                      <a:r>
                        <a:rPr lang="en-IN" sz="1100" b="1" i="0" u="none" strike="noStrike" dirty="0">
                          <a:solidFill>
                            <a:srgbClr val="FFC000"/>
                          </a:solidFill>
                          <a:effectLst/>
                          <a:latin typeface="Calibri" panose="020F0502020204030204" pitchFamily="34" charset="0"/>
                        </a:rPr>
                        <a:t>182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extLst>
                  <a:ext uri="{0D108BD9-81ED-4DB2-BD59-A6C34878D82A}">
                    <a16:rowId xmlns:a16="http://schemas.microsoft.com/office/drawing/2014/main" val="1999848600"/>
                  </a:ext>
                </a:extLst>
              </a:tr>
              <a:tr h="213783">
                <a:tc vMerge="1">
                  <a:txBody>
                    <a:bodyPr/>
                    <a:lstStyle/>
                    <a:p>
                      <a:endParaRPr lang="en-IN"/>
                    </a:p>
                  </a:txBody>
                  <a:tcPr/>
                </a:tc>
                <a:tc>
                  <a:txBody>
                    <a:bodyPr/>
                    <a:lstStyle/>
                    <a:p>
                      <a:pPr algn="l" fontAlgn="b"/>
                      <a:r>
                        <a:rPr lang="en-IN" sz="1100" b="1" i="0" u="none" strike="noStrike">
                          <a:solidFill>
                            <a:srgbClr val="000000"/>
                          </a:solidFill>
                          <a:effectLst/>
                          <a:latin typeface="Calibri" panose="020F0502020204030204" pitchFamily="34" charset="0"/>
                        </a:rPr>
                        <a:t>L</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r" fontAlgn="b"/>
                      <a:r>
                        <a:rPr lang="en-IN" sz="1100" b="1" i="0" u="none" strike="noStrike" dirty="0">
                          <a:solidFill>
                            <a:srgbClr val="FF0000"/>
                          </a:solidFill>
                          <a:effectLst/>
                          <a:latin typeface="Calibri" panose="020F0502020204030204" pitchFamily="34" charset="0"/>
                        </a:rPr>
                        <a:t>17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r" fontAlgn="b"/>
                      <a:r>
                        <a:rPr lang="en-IN" sz="1100" b="0" i="0" u="none" strike="noStrike">
                          <a:solidFill>
                            <a:srgbClr val="000000"/>
                          </a:solidFill>
                          <a:effectLst/>
                          <a:latin typeface="Calibri" panose="020F0502020204030204" pitchFamily="34" charset="0"/>
                        </a:rPr>
                        <a:t>39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extLst>
                  <a:ext uri="{0D108BD9-81ED-4DB2-BD59-A6C34878D82A}">
                    <a16:rowId xmlns:a16="http://schemas.microsoft.com/office/drawing/2014/main" val="3314665887"/>
                  </a:ext>
                </a:extLst>
              </a:tr>
              <a:tr h="213783">
                <a:tc vMerge="1">
                  <a:txBody>
                    <a:bodyPr/>
                    <a:lstStyle/>
                    <a:p>
                      <a:endParaRPr lang="en-IN"/>
                    </a:p>
                  </a:txBody>
                  <a:tcPr/>
                </a:tc>
                <a:tc>
                  <a:txBody>
                    <a:bodyPr/>
                    <a:lstStyle/>
                    <a:p>
                      <a:pPr algn="l" fontAlgn="b"/>
                      <a:r>
                        <a:rPr lang="en-IN" sz="1100" b="1" i="0" u="none" strike="noStrike">
                          <a:solidFill>
                            <a:srgbClr val="000000"/>
                          </a:solidFill>
                          <a:effectLst/>
                          <a:latin typeface="Calibri" panose="020F0502020204030204" pitchFamily="34" charset="0"/>
                        </a:rPr>
                        <a:t>LM</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r" fontAlgn="b"/>
                      <a:r>
                        <a:rPr lang="en-IN" sz="1100" b="0" i="0" u="none" strike="noStrike" dirty="0">
                          <a:solidFill>
                            <a:srgbClr val="000000"/>
                          </a:solidFill>
                          <a:effectLst/>
                          <a:latin typeface="Calibri" panose="020F0502020204030204" pitchFamily="34" charset="0"/>
                        </a:rPr>
                        <a:t>21</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r" fontAlgn="b"/>
                      <a:r>
                        <a:rPr lang="en-IN" sz="1100" b="0" i="0" u="none" strike="noStrike" dirty="0">
                          <a:solidFill>
                            <a:srgbClr val="000000"/>
                          </a:solidFill>
                          <a:effectLst/>
                          <a:latin typeface="Calibri" panose="020F0502020204030204" pitchFamily="34" charset="0"/>
                        </a:rPr>
                        <a:t>142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r" fontAlgn="b"/>
                      <a:r>
                        <a:rPr lang="en-IN" sz="1100" b="1" i="0" u="none" strike="noStrike" dirty="0">
                          <a:solidFill>
                            <a:srgbClr val="FFFFFF"/>
                          </a:solidFill>
                          <a:effectLst/>
                          <a:latin typeface="Calibri" panose="020F0502020204030204" pitchFamily="34" charset="0"/>
                        </a:rPr>
                        <a:t>100</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extLst>
                  <a:ext uri="{0D108BD9-81ED-4DB2-BD59-A6C34878D82A}">
                    <a16:rowId xmlns:a16="http://schemas.microsoft.com/office/drawing/2014/main" val="3045590189"/>
                  </a:ext>
                </a:extLst>
              </a:tr>
              <a:tr h="213783">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MH</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r" fontAlgn="b"/>
                      <a:r>
                        <a:rPr lang="en-IN" sz="1100" b="1" i="0" u="none" strike="noStrike">
                          <a:solidFill>
                            <a:srgbClr val="FFFFFF"/>
                          </a:solidFill>
                          <a:effectLst/>
                          <a:latin typeface="Calibri" panose="020F0502020204030204" pitchFamily="34" charset="0"/>
                        </a:rPr>
                        <a:t>32</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tc>
                  <a:txBody>
                    <a:bodyPr/>
                    <a:lstStyle/>
                    <a:p>
                      <a:pPr algn="r" fontAlgn="b"/>
                      <a:r>
                        <a:rPr lang="en-IN" sz="1100" b="1" i="0" u="none" strike="noStrike" dirty="0">
                          <a:solidFill>
                            <a:srgbClr val="FFFFFF"/>
                          </a:solidFill>
                          <a:effectLst/>
                          <a:latin typeface="Calibri" panose="020F0502020204030204" pitchFamily="34" charset="0"/>
                        </a:rPr>
                        <a:t>59</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CC00"/>
                    </a:solidFill>
                  </a:tcPr>
                </a:tc>
                <a:extLst>
                  <a:ext uri="{0D108BD9-81ED-4DB2-BD59-A6C34878D82A}">
                    <a16:rowId xmlns:a16="http://schemas.microsoft.com/office/drawing/2014/main" val="4215322102"/>
                  </a:ext>
                </a:extLst>
              </a:tr>
              <a:tr h="213783">
                <a:tc rowSpan="4">
                  <a:txBody>
                    <a:bodyPr/>
                    <a:lstStyle/>
                    <a:p>
                      <a:pPr algn="ctr" fontAlgn="b"/>
                      <a:r>
                        <a:rPr lang="en-IN" sz="1100" b="1" i="0" u="none" strike="noStrike">
                          <a:solidFill>
                            <a:srgbClr val="000000"/>
                          </a:solidFill>
                          <a:effectLst/>
                          <a:latin typeface="Calibri" panose="020F0502020204030204" pitchFamily="34" charset="0"/>
                        </a:rPr>
                        <a:t>MH</a:t>
                      </a:r>
                    </a:p>
                  </a:txBody>
                  <a:tcPr marL="9525" marR="9525" marT="9525"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1" i="0" u="none" strike="noStrike" dirty="0">
                          <a:solidFill>
                            <a:srgbClr val="000000"/>
                          </a:solidFill>
                          <a:effectLst/>
                          <a:latin typeface="Calibri" panose="020F0502020204030204" pitchFamily="34" charset="0"/>
                        </a:rPr>
                        <a:t>H</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r" fontAlgn="b"/>
                      <a:r>
                        <a:rPr lang="en-IN" sz="1100" b="1" i="0" u="none" strike="noStrike" dirty="0">
                          <a:solidFill>
                            <a:srgbClr val="FFC000"/>
                          </a:solidFill>
                          <a:effectLst/>
                          <a:latin typeface="Calibri" panose="020F0502020204030204" pitchFamily="34" charset="0"/>
                        </a:rPr>
                        <a:t>264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tc>
                  <a:txBody>
                    <a:bodyPr/>
                    <a:lstStyle/>
                    <a:p>
                      <a:pPr algn="l" fontAlgn="b"/>
                      <a:r>
                        <a:rPr lang="en-IN" sz="1100" b="0"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tc>
                  <a:txBody>
                    <a:bodyPr/>
                    <a:lstStyle/>
                    <a:p>
                      <a:pPr algn="r" fontAlgn="b"/>
                      <a:r>
                        <a:rPr lang="en-IN" sz="1100" b="1" i="0" u="none" strike="noStrike">
                          <a:solidFill>
                            <a:srgbClr val="FFC000"/>
                          </a:solidFill>
                          <a:effectLst/>
                          <a:latin typeface="Calibri" panose="020F0502020204030204" pitchFamily="34" charset="0"/>
                        </a:rPr>
                        <a:t>35</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extLst>
                  <a:ext uri="{0D108BD9-81ED-4DB2-BD59-A6C34878D82A}">
                    <a16:rowId xmlns:a16="http://schemas.microsoft.com/office/drawing/2014/main" val="2679448598"/>
                  </a:ext>
                </a:extLst>
              </a:tr>
              <a:tr h="213783">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L</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tc>
                  <a:txBody>
                    <a:bodyPr/>
                    <a:lstStyle/>
                    <a:p>
                      <a:pPr algn="r" fontAlgn="b"/>
                      <a:r>
                        <a:rPr lang="en-IN" sz="1100" b="1" i="0" u="none" strike="noStrike" dirty="0">
                          <a:solidFill>
                            <a:srgbClr val="000000"/>
                          </a:solidFill>
                          <a:effectLst/>
                          <a:latin typeface="Calibri" panose="020F0502020204030204" pitchFamily="34" charset="0"/>
                        </a:rPr>
                        <a:t>68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tc>
                  <a:txBody>
                    <a:bodyPr/>
                    <a:lstStyle/>
                    <a:p>
                      <a:pPr algn="l" fontAlgn="b"/>
                      <a:r>
                        <a:rPr lang="en-IN" sz="1100" b="1" i="0" u="none" strike="noStrike" dirty="0">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tc>
                  <a:txBody>
                    <a:bodyPr/>
                    <a:lstStyle/>
                    <a:p>
                      <a:pPr algn="l" fontAlgn="b"/>
                      <a:r>
                        <a:rPr lang="en-IN" sz="11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extLst>
                  <a:ext uri="{0D108BD9-81ED-4DB2-BD59-A6C34878D82A}">
                    <a16:rowId xmlns:a16="http://schemas.microsoft.com/office/drawing/2014/main" val="1343184777"/>
                  </a:ext>
                </a:extLst>
              </a:tr>
              <a:tr h="213783">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LM</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tc>
                  <a:txBody>
                    <a:bodyPr/>
                    <a:lstStyle/>
                    <a:p>
                      <a:pPr algn="l" fontAlgn="b"/>
                      <a:r>
                        <a:rPr lang="en-IN" sz="1100" b="1"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tc>
                  <a:txBody>
                    <a:bodyPr/>
                    <a:lstStyle/>
                    <a:p>
                      <a:pPr algn="r" fontAlgn="b"/>
                      <a:r>
                        <a:rPr lang="en-IN" sz="1100" b="1" i="0" u="none" strike="noStrike" dirty="0">
                          <a:solidFill>
                            <a:srgbClr val="000000"/>
                          </a:solidFill>
                          <a:effectLst/>
                          <a:latin typeface="Calibri" panose="020F0502020204030204" pitchFamily="34" charset="0"/>
                        </a:rPr>
                        <a:t>49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tc>
                  <a:txBody>
                    <a:bodyPr/>
                    <a:lstStyle/>
                    <a:p>
                      <a:pPr algn="r" fontAlgn="b"/>
                      <a:r>
                        <a:rPr lang="en-IN" sz="1100" b="1" i="0" u="none" strike="noStrike" dirty="0">
                          <a:solidFill>
                            <a:srgbClr val="000000"/>
                          </a:solidFill>
                          <a:effectLst/>
                          <a:latin typeface="Calibri" panose="020F0502020204030204" pitchFamily="34" charset="0"/>
                        </a:rPr>
                        <a:t>52</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00"/>
                    </a:solidFill>
                  </a:tcPr>
                </a:tc>
                <a:extLst>
                  <a:ext uri="{0D108BD9-81ED-4DB2-BD59-A6C34878D82A}">
                    <a16:rowId xmlns:a16="http://schemas.microsoft.com/office/drawing/2014/main" val="213452996"/>
                  </a:ext>
                </a:extLst>
              </a:tr>
              <a:tr h="224472">
                <a:tc vMerge="1">
                  <a:txBody>
                    <a:bodyPr/>
                    <a:lstStyle/>
                    <a:p>
                      <a:endParaRPr lang="en-IN"/>
                    </a:p>
                  </a:txBody>
                  <a:tcPr/>
                </a:tc>
                <a:tc>
                  <a:txBody>
                    <a:bodyPr/>
                    <a:lstStyle/>
                    <a:p>
                      <a:pPr algn="l" fontAlgn="b"/>
                      <a:r>
                        <a:rPr lang="en-IN" sz="1100" b="1" i="0" u="none" strike="noStrike" dirty="0">
                          <a:solidFill>
                            <a:srgbClr val="000000"/>
                          </a:solidFill>
                          <a:effectLst/>
                          <a:latin typeface="Calibri" panose="020F0502020204030204" pitchFamily="34" charset="0"/>
                        </a:rPr>
                        <a:t>MH</a:t>
                      </a:r>
                    </a:p>
                  </a:txBody>
                  <a:tcPr marL="857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1"/>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3300"/>
                    </a:solidFill>
                  </a:tcPr>
                </a:tc>
                <a:tc>
                  <a:txBody>
                    <a:bodyPr/>
                    <a:lstStyle/>
                    <a:p>
                      <a:pPr algn="l"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3300"/>
                    </a:solidFill>
                  </a:tcPr>
                </a:tc>
                <a:tc>
                  <a:txBody>
                    <a:bodyPr/>
                    <a:lstStyle/>
                    <a:p>
                      <a:pPr algn="r" fontAlgn="b"/>
                      <a:r>
                        <a:rPr lang="en-IN" sz="1100" b="1" i="0" u="none" strike="noStrike" dirty="0">
                          <a:solidFill>
                            <a:srgbClr val="FFFFFF"/>
                          </a:solidFill>
                          <a:effectLst/>
                          <a:latin typeface="Calibri" panose="020F0502020204030204" pitchFamily="34" charset="0"/>
                        </a:rPr>
                        <a:t>29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3300"/>
                    </a:solidFill>
                  </a:tcPr>
                </a:tc>
                <a:tc>
                  <a:txBody>
                    <a:bodyPr/>
                    <a:lstStyle/>
                    <a:p>
                      <a:pPr algn="r" fontAlgn="b"/>
                      <a:r>
                        <a:rPr lang="en-IN" sz="1100" b="1" i="0" u="none" strike="noStrike" dirty="0">
                          <a:solidFill>
                            <a:srgbClr val="FFFFFF"/>
                          </a:solidFill>
                          <a:effectLst/>
                          <a:latin typeface="Calibri" panose="020F0502020204030204" pitchFamily="34" charset="0"/>
                        </a:rPr>
                        <a:t>122</a:t>
                      </a:r>
                    </a:p>
                  </a:txBody>
                  <a:tcPr marL="9525" marR="9525" marT="9525"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3300"/>
                    </a:solidFill>
                  </a:tcPr>
                </a:tc>
                <a:extLst>
                  <a:ext uri="{0D108BD9-81ED-4DB2-BD59-A6C34878D82A}">
                    <a16:rowId xmlns:a16="http://schemas.microsoft.com/office/drawing/2014/main" val="4113226524"/>
                  </a:ext>
                </a:extLst>
              </a:tr>
            </a:tbl>
          </a:graphicData>
        </a:graphic>
      </p:graphicFrame>
    </p:spTree>
    <p:extLst>
      <p:ext uri="{BB962C8B-B14F-4D97-AF65-F5344CB8AC3E}">
        <p14:creationId xmlns:p14="http://schemas.microsoft.com/office/powerpoint/2010/main" val="40282292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Autobin</a:t>
            </a:r>
            <a:r>
              <a:rPr lang="en-US" dirty="0" smtClean="0"/>
              <a:t> Extract- Best and LOST customers </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74866237"/>
              </p:ext>
            </p:extLst>
          </p:nvPr>
        </p:nvGraphicFramePr>
        <p:xfrm>
          <a:off x="346167" y="2168436"/>
          <a:ext cx="4762455" cy="4335624"/>
        </p:xfrm>
        <a:graphic>
          <a:graphicData uri="http://schemas.openxmlformats.org/drawingml/2006/table">
            <a:tbl>
              <a:tblPr>
                <a:tableStyleId>{08FB837D-C827-4EFA-A057-4D05807E0F7C}</a:tableStyleId>
              </a:tblPr>
              <a:tblGrid>
                <a:gridCol w="1627369">
                  <a:extLst>
                    <a:ext uri="{9D8B030D-6E8A-4147-A177-3AD203B41FA5}">
                      <a16:colId xmlns:a16="http://schemas.microsoft.com/office/drawing/2014/main" val="1648881024"/>
                    </a:ext>
                  </a:extLst>
                </a:gridCol>
                <a:gridCol w="550537">
                  <a:extLst>
                    <a:ext uri="{9D8B030D-6E8A-4147-A177-3AD203B41FA5}">
                      <a16:colId xmlns:a16="http://schemas.microsoft.com/office/drawing/2014/main" val="4282877337"/>
                    </a:ext>
                  </a:extLst>
                </a:gridCol>
                <a:gridCol w="478990">
                  <a:extLst>
                    <a:ext uri="{9D8B030D-6E8A-4147-A177-3AD203B41FA5}">
                      <a16:colId xmlns:a16="http://schemas.microsoft.com/office/drawing/2014/main" val="1458585731"/>
                    </a:ext>
                  </a:extLst>
                </a:gridCol>
                <a:gridCol w="478990">
                  <a:extLst>
                    <a:ext uri="{9D8B030D-6E8A-4147-A177-3AD203B41FA5}">
                      <a16:colId xmlns:a16="http://schemas.microsoft.com/office/drawing/2014/main" val="3868832173"/>
                    </a:ext>
                  </a:extLst>
                </a:gridCol>
                <a:gridCol w="668589">
                  <a:extLst>
                    <a:ext uri="{9D8B030D-6E8A-4147-A177-3AD203B41FA5}">
                      <a16:colId xmlns:a16="http://schemas.microsoft.com/office/drawing/2014/main" val="1922621460"/>
                    </a:ext>
                  </a:extLst>
                </a:gridCol>
                <a:gridCol w="478990">
                  <a:extLst>
                    <a:ext uri="{9D8B030D-6E8A-4147-A177-3AD203B41FA5}">
                      <a16:colId xmlns:a16="http://schemas.microsoft.com/office/drawing/2014/main" val="506133839"/>
                    </a:ext>
                  </a:extLst>
                </a:gridCol>
                <a:gridCol w="478990">
                  <a:extLst>
                    <a:ext uri="{9D8B030D-6E8A-4147-A177-3AD203B41FA5}">
                      <a16:colId xmlns:a16="http://schemas.microsoft.com/office/drawing/2014/main" val="3306604108"/>
                    </a:ext>
                  </a:extLst>
                </a:gridCol>
              </a:tblGrid>
              <a:tr h="726344">
                <a:tc>
                  <a:txBody>
                    <a:bodyPr/>
                    <a:lstStyle/>
                    <a:p>
                      <a:pPr algn="l" fontAlgn="b"/>
                      <a:r>
                        <a:rPr lang="en-IN" sz="1000" u="none" strike="noStrike">
                          <a:effectLst/>
                        </a:rPr>
                        <a:t>Row Labels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000" u="none" strike="noStrike">
                          <a:effectLst/>
                        </a:rPr>
                        <a:t>Sum of SALES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000" u="none" strike="noStrike">
                          <a:effectLst/>
                        </a:rPr>
                        <a:t>Min of DAYS_SINCE_LASTORDER</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000" u="none" strike="noStrike">
                          <a:effectLst/>
                        </a:rPr>
                        <a:t>Count of CUSTOMERNAME</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IN" sz="1000" u="none" strike="noStrike">
                          <a:effectLst/>
                        </a:rPr>
                        <a:t>MONETARY</a:t>
                      </a:r>
                      <a:endParaRPr lang="en-IN" sz="1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000" u="none" strike="noStrike">
                          <a:effectLst/>
                        </a:rPr>
                        <a:t>FREQUENCY</a:t>
                      </a:r>
                      <a:endParaRPr lang="en-IN" sz="1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000" u="none" strike="noStrike">
                          <a:effectLst/>
                        </a:rPr>
                        <a:t>RECENCY</a:t>
                      </a:r>
                      <a:endParaRPr lang="en-IN" sz="10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271594609"/>
                  </a:ext>
                </a:extLst>
              </a:tr>
              <a:tr h="295434">
                <a:tc>
                  <a:txBody>
                    <a:bodyPr/>
                    <a:lstStyle/>
                    <a:p>
                      <a:pPr algn="l" fontAlgn="b"/>
                      <a:r>
                        <a:rPr lang="en-IN" sz="1000" u="none" strike="noStrike">
                          <a:effectLst/>
                        </a:rPr>
                        <a:t>Auto Assoc. &amp; Cie.</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64834.32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275</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18</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99082771"/>
                  </a:ext>
                </a:extLst>
              </a:tr>
              <a:tr h="295434">
                <a:tc>
                  <a:txBody>
                    <a:bodyPr/>
                    <a:lstStyle/>
                    <a:p>
                      <a:pPr algn="l" fontAlgn="b"/>
                      <a:r>
                        <a:rPr lang="en-IN" sz="1000" u="none" strike="noStrike">
                          <a:effectLst/>
                        </a:rPr>
                        <a:t>Bavarian Collectables Imports, Co.</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34993.92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801</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14</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47072130"/>
                  </a:ext>
                </a:extLst>
              </a:tr>
              <a:tr h="295434">
                <a:tc>
                  <a:txBody>
                    <a:bodyPr/>
                    <a:lstStyle/>
                    <a:p>
                      <a:pPr algn="l" fontAlgn="b"/>
                      <a:r>
                        <a:rPr lang="en-IN" sz="1000" u="none" strike="noStrike">
                          <a:effectLst/>
                        </a:rPr>
                        <a:t>CAF Imports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49642.05</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625</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13</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83779602"/>
                  </a:ext>
                </a:extLst>
              </a:tr>
              <a:tr h="295434">
                <a:tc>
                  <a:txBody>
                    <a:bodyPr/>
                    <a:lstStyle/>
                    <a:p>
                      <a:pPr algn="l" fontAlgn="b"/>
                      <a:r>
                        <a:rPr lang="en-IN" sz="1000" u="none" strike="noStrike">
                          <a:effectLst/>
                        </a:rPr>
                        <a:t>Cambridge Collectables Co.</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36163.62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484</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11</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71429033"/>
                  </a:ext>
                </a:extLst>
              </a:tr>
              <a:tr h="295434">
                <a:tc>
                  <a:txBody>
                    <a:bodyPr/>
                    <a:lstStyle/>
                    <a:p>
                      <a:pPr algn="l" fontAlgn="b"/>
                      <a:r>
                        <a:rPr lang="en-IN" sz="1000" u="none" strike="noStrike">
                          <a:effectLst/>
                        </a:rPr>
                        <a:t>Clover Collections, Co.</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57756.43</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659</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16</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05333249"/>
                  </a:ext>
                </a:extLst>
              </a:tr>
              <a:tr h="295434">
                <a:tc>
                  <a:txBody>
                    <a:bodyPr/>
                    <a:lstStyle/>
                    <a:p>
                      <a:pPr algn="l" fontAlgn="b"/>
                      <a:r>
                        <a:rPr lang="en-IN" sz="1000" u="none" strike="noStrike">
                          <a:effectLst/>
                        </a:rPr>
                        <a:t>Daedalus Designs Imports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69052.41</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573</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20</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45764419"/>
                  </a:ext>
                </a:extLst>
              </a:tr>
              <a:tr h="295434">
                <a:tc>
                  <a:txBody>
                    <a:bodyPr/>
                    <a:lstStyle/>
                    <a:p>
                      <a:pPr algn="l" fontAlgn="b"/>
                      <a:r>
                        <a:rPr lang="en-IN" sz="1000" u="none" strike="noStrike">
                          <a:effectLst/>
                        </a:rPr>
                        <a:t>Double Decker Gift Stores, Ltd</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36019.04</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670</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3930865"/>
                  </a:ext>
                </a:extLst>
              </a:tr>
              <a:tr h="295434">
                <a:tc>
                  <a:txBody>
                    <a:bodyPr/>
                    <a:lstStyle/>
                    <a:p>
                      <a:pPr algn="l" fontAlgn="b"/>
                      <a:r>
                        <a:rPr lang="en-IN" sz="1000" u="none" strike="noStrike">
                          <a:effectLst/>
                        </a:rPr>
                        <a:t>Iberia Gift Imports, Corp.</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54723.62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904</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15</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32888954"/>
                  </a:ext>
                </a:extLst>
              </a:tr>
              <a:tr h="295434">
                <a:tc>
                  <a:txBody>
                    <a:bodyPr/>
                    <a:lstStyle/>
                    <a:p>
                      <a:pPr algn="l" fontAlgn="b"/>
                      <a:r>
                        <a:rPr lang="en-IN" sz="1000" u="none" strike="noStrike">
                          <a:effectLst/>
                        </a:rPr>
                        <a:t>Online Mini Collectables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57197.96</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467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15</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30876836"/>
                  </a:ext>
                </a:extLst>
              </a:tr>
              <a:tr h="295434">
                <a:tc>
                  <a:txBody>
                    <a:bodyPr/>
                    <a:lstStyle/>
                    <a:p>
                      <a:pPr algn="l" fontAlgn="b"/>
                      <a:r>
                        <a:rPr lang="en-IN" sz="1000" u="none" strike="noStrike">
                          <a:effectLst/>
                        </a:rPr>
                        <a:t>Osaka Souveniers Co.</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67605.07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563</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20</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889312509"/>
                  </a:ext>
                </a:extLst>
              </a:tr>
              <a:tr h="295434">
                <a:tc>
                  <a:txBody>
                    <a:bodyPr/>
                    <a:lstStyle/>
                    <a:p>
                      <a:pPr algn="l" fontAlgn="b"/>
                      <a:r>
                        <a:rPr lang="en-IN" sz="1000" u="none" strike="noStrike">
                          <a:effectLst/>
                        </a:rPr>
                        <a:t>Signal Collectibles Ltd.</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50218.51</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836</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15</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41074217"/>
                  </a:ext>
                </a:extLst>
              </a:tr>
              <a:tr h="295434">
                <a:tc>
                  <a:txBody>
                    <a:bodyPr/>
                    <a:lstStyle/>
                    <a:p>
                      <a:pPr algn="l" fontAlgn="b"/>
                      <a:r>
                        <a:rPr lang="en-IN" sz="1000" u="none" strike="noStrike">
                          <a:effectLst/>
                        </a:rPr>
                        <a:t>West Coast Collectables Co.</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46084.64</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523</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13</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dirty="0">
                          <a:effectLst/>
                        </a:rPr>
                        <a:t>L</a:t>
                      </a:r>
                      <a:endParaRPr lang="en-IN" sz="1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5023526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093725332"/>
              </p:ext>
            </p:extLst>
          </p:nvPr>
        </p:nvGraphicFramePr>
        <p:xfrm>
          <a:off x="5394961" y="2168439"/>
          <a:ext cx="3772852" cy="4467787"/>
        </p:xfrm>
        <a:graphic>
          <a:graphicData uri="http://schemas.openxmlformats.org/drawingml/2006/table">
            <a:tbl>
              <a:tblPr>
                <a:tableStyleId>{08FB837D-C827-4EFA-A057-4D05807E0F7C}</a:tableStyleId>
              </a:tblPr>
              <a:tblGrid>
                <a:gridCol w="1193364">
                  <a:extLst>
                    <a:ext uri="{9D8B030D-6E8A-4147-A177-3AD203B41FA5}">
                      <a16:colId xmlns:a16="http://schemas.microsoft.com/office/drawing/2014/main" val="1797634088"/>
                    </a:ext>
                  </a:extLst>
                </a:gridCol>
                <a:gridCol w="336455">
                  <a:extLst>
                    <a:ext uri="{9D8B030D-6E8A-4147-A177-3AD203B41FA5}">
                      <a16:colId xmlns:a16="http://schemas.microsoft.com/office/drawing/2014/main" val="478714154"/>
                    </a:ext>
                  </a:extLst>
                </a:gridCol>
                <a:gridCol w="539730">
                  <a:extLst>
                    <a:ext uri="{9D8B030D-6E8A-4147-A177-3AD203B41FA5}">
                      <a16:colId xmlns:a16="http://schemas.microsoft.com/office/drawing/2014/main" val="1495221518"/>
                    </a:ext>
                  </a:extLst>
                </a:gridCol>
                <a:gridCol w="560758">
                  <a:extLst>
                    <a:ext uri="{9D8B030D-6E8A-4147-A177-3AD203B41FA5}">
                      <a16:colId xmlns:a16="http://schemas.microsoft.com/office/drawing/2014/main" val="3943781329"/>
                    </a:ext>
                  </a:extLst>
                </a:gridCol>
                <a:gridCol w="469635">
                  <a:extLst>
                    <a:ext uri="{9D8B030D-6E8A-4147-A177-3AD203B41FA5}">
                      <a16:colId xmlns:a16="http://schemas.microsoft.com/office/drawing/2014/main" val="2350255154"/>
                    </a:ext>
                  </a:extLst>
                </a:gridCol>
                <a:gridCol w="336455">
                  <a:extLst>
                    <a:ext uri="{9D8B030D-6E8A-4147-A177-3AD203B41FA5}">
                      <a16:colId xmlns:a16="http://schemas.microsoft.com/office/drawing/2014/main" val="1041435424"/>
                    </a:ext>
                  </a:extLst>
                </a:gridCol>
                <a:gridCol w="336455">
                  <a:extLst>
                    <a:ext uri="{9D8B030D-6E8A-4147-A177-3AD203B41FA5}">
                      <a16:colId xmlns:a16="http://schemas.microsoft.com/office/drawing/2014/main" val="1648114214"/>
                    </a:ext>
                  </a:extLst>
                </a:gridCol>
              </a:tblGrid>
              <a:tr h="803122">
                <a:tc>
                  <a:txBody>
                    <a:bodyPr/>
                    <a:lstStyle/>
                    <a:p>
                      <a:pPr algn="l" fontAlgn="b"/>
                      <a:r>
                        <a:rPr lang="en-IN" sz="1100" u="none" strike="noStrike">
                          <a:effectLst/>
                        </a:rPr>
                        <a:t>Row Labels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100" u="none" strike="noStrike">
                          <a:effectLst/>
                        </a:rPr>
                        <a:t>Sum of SALES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100" u="none" strike="noStrike">
                          <a:effectLst/>
                        </a:rPr>
                        <a:t>Min of DAYS_SINCE_LASTORDER</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100" u="none" strike="noStrike">
                          <a:effectLst/>
                        </a:rPr>
                        <a:t>Count of CUSTOMERNAME</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IN" sz="1100" u="none" strike="noStrike">
                          <a:effectLst/>
                        </a:rPr>
                        <a:t>MONETARY</a:t>
                      </a:r>
                      <a:endParaRPr lang="en-IN"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FREQUENCY</a:t>
                      </a:r>
                      <a:endParaRPr lang="en-IN" sz="11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100" u="none" strike="noStrike">
                          <a:effectLst/>
                        </a:rPr>
                        <a:t>RECENCY</a:t>
                      </a:r>
                      <a:endParaRPr lang="en-IN" sz="11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71669230"/>
                  </a:ext>
                </a:extLst>
              </a:tr>
              <a:tr h="407185">
                <a:tc>
                  <a:txBody>
                    <a:bodyPr/>
                    <a:lstStyle/>
                    <a:p>
                      <a:pPr algn="l" fontAlgn="b"/>
                      <a:r>
                        <a:rPr lang="en-IN" sz="1100" u="none" strike="noStrike">
                          <a:effectLst/>
                        </a:rPr>
                        <a:t>Euro Shopping Channel</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912294.1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42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259</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9399218"/>
                  </a:ext>
                </a:extLst>
              </a:tr>
              <a:tr h="407185">
                <a:tc>
                  <a:txBody>
                    <a:bodyPr/>
                    <a:lstStyle/>
                    <a:p>
                      <a:pPr algn="l" fontAlgn="b"/>
                      <a:r>
                        <a:rPr lang="en-IN" sz="1100" u="none" strike="noStrike">
                          <a:effectLst/>
                        </a:rPr>
                        <a:t>Mini Gifts Distributors Ltd.</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654858.1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219</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180</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76907439"/>
                  </a:ext>
                </a:extLst>
              </a:tr>
              <a:tr h="407185">
                <a:tc>
                  <a:txBody>
                    <a:bodyPr/>
                    <a:lstStyle/>
                    <a:p>
                      <a:pPr algn="l" fontAlgn="b"/>
                      <a:r>
                        <a:rPr lang="en-IN" sz="1100" u="none" strike="noStrike">
                          <a:effectLst/>
                        </a:rPr>
                        <a:t>La Rochelle Gifts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180124.9</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139</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53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66478190"/>
                  </a:ext>
                </a:extLst>
              </a:tr>
              <a:tr h="407185">
                <a:tc>
                  <a:txBody>
                    <a:bodyPr/>
                    <a:lstStyle/>
                    <a:p>
                      <a:pPr algn="l" fontAlgn="b"/>
                      <a:r>
                        <a:rPr lang="en-IN" sz="1100" u="none" strike="noStrike">
                          <a:effectLst/>
                        </a:rPr>
                        <a:t>The Sharp Gifts Warehouse</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160010.3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182</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40</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254175445"/>
                  </a:ext>
                </a:extLst>
              </a:tr>
              <a:tr h="407185">
                <a:tc>
                  <a:txBody>
                    <a:bodyPr/>
                    <a:lstStyle/>
                    <a:p>
                      <a:pPr algn="l" fontAlgn="b"/>
                      <a:r>
                        <a:rPr lang="en-IN" sz="1100" u="none" strike="noStrike">
                          <a:effectLst/>
                        </a:rPr>
                        <a:t>Souveniers And Things Co.</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151571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186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46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747606662"/>
                  </a:ext>
                </a:extLst>
              </a:tr>
              <a:tr h="407185">
                <a:tc>
                  <a:txBody>
                    <a:bodyPr/>
                    <a:lstStyle/>
                    <a:p>
                      <a:pPr algn="l" fontAlgn="b"/>
                      <a:r>
                        <a:rPr lang="en-IN" sz="1100" u="none" strike="noStrike">
                          <a:effectLst/>
                        </a:rPr>
                        <a:t>Salzburg Collectables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149798.6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188</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40</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430269101"/>
                  </a:ext>
                </a:extLst>
              </a:tr>
              <a:tr h="407185">
                <a:tc>
                  <a:txBody>
                    <a:bodyPr/>
                    <a:lstStyle/>
                    <a:p>
                      <a:pPr algn="l" fontAlgn="b"/>
                      <a:r>
                        <a:rPr lang="en-IN" sz="1100" u="none" strike="noStrike">
                          <a:effectLst/>
                        </a:rPr>
                        <a:t>Danish Wholesale Imports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145041.6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499</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36</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26878398"/>
                  </a:ext>
                </a:extLst>
              </a:tr>
              <a:tr h="407185">
                <a:tc>
                  <a:txBody>
                    <a:bodyPr/>
                    <a:lstStyle/>
                    <a:p>
                      <a:pPr algn="l" fontAlgn="b"/>
                      <a:r>
                        <a:rPr lang="en-IN" sz="1100" u="none" strike="noStrike">
                          <a:effectLst/>
                        </a:rPr>
                        <a:t>L'ordine Souveniers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142601.3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493</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39</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63226402"/>
                  </a:ext>
                </a:extLst>
              </a:tr>
              <a:tr h="407185">
                <a:tc>
                  <a:txBody>
                    <a:bodyPr/>
                    <a:lstStyle/>
                    <a:p>
                      <a:pPr algn="l" fontAlgn="b"/>
                      <a:r>
                        <a:rPr lang="en-IN" sz="1100" u="none" strike="noStrike">
                          <a:effectLst/>
                        </a:rPr>
                        <a:t>Reims Collectables</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135042.9</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287</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100" u="none" strike="noStrike">
                          <a:effectLst/>
                        </a:rPr>
                        <a:t>41</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a:effectLst/>
                        </a:rPr>
                        <a:t>H</a:t>
                      </a:r>
                      <a:endParaRPr lang="en-IN" sz="11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100" u="none" strike="noStrike" dirty="0">
                          <a:effectLst/>
                        </a:rPr>
                        <a:t>H</a:t>
                      </a:r>
                      <a:endParaRPr lang="en-I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08624525"/>
                  </a:ext>
                </a:extLst>
              </a:tr>
            </a:tbl>
          </a:graphicData>
        </a:graphic>
      </p:graphicFrame>
    </p:spTree>
    <p:extLst>
      <p:ext uri="{BB962C8B-B14F-4D97-AF65-F5344CB8AC3E}">
        <p14:creationId xmlns:p14="http://schemas.microsoft.com/office/powerpoint/2010/main" val="37528175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596537"/>
            <a:ext cx="10131425" cy="1456267"/>
          </a:xfrm>
        </p:spPr>
        <p:txBody>
          <a:bodyPr/>
          <a:lstStyle/>
          <a:p>
            <a:r>
              <a:rPr lang="en-US" dirty="0" smtClean="0"/>
              <a:t>RFM- Most Favorable to CHURN </a:t>
            </a:r>
            <a:r>
              <a:rPr lang="en-US" dirty="0" err="1" smtClean="0"/>
              <a:t>aND</a:t>
            </a:r>
            <a:r>
              <a:rPr lang="en-US" dirty="0" smtClean="0"/>
              <a:t> most loyal Customers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00006371"/>
              </p:ext>
            </p:extLst>
          </p:nvPr>
        </p:nvGraphicFramePr>
        <p:xfrm>
          <a:off x="859111" y="2339635"/>
          <a:ext cx="4274593" cy="3945255"/>
        </p:xfrm>
        <a:graphic>
          <a:graphicData uri="http://schemas.openxmlformats.org/drawingml/2006/table">
            <a:tbl>
              <a:tblPr>
                <a:tableStyleId>{08FB837D-C827-4EFA-A057-4D05807E0F7C}</a:tableStyleId>
              </a:tblPr>
              <a:tblGrid>
                <a:gridCol w="1352066">
                  <a:extLst>
                    <a:ext uri="{9D8B030D-6E8A-4147-A177-3AD203B41FA5}">
                      <a16:colId xmlns:a16="http://schemas.microsoft.com/office/drawing/2014/main" val="1311131168"/>
                    </a:ext>
                  </a:extLst>
                </a:gridCol>
                <a:gridCol w="381199">
                  <a:extLst>
                    <a:ext uri="{9D8B030D-6E8A-4147-A177-3AD203B41FA5}">
                      <a16:colId xmlns:a16="http://schemas.microsoft.com/office/drawing/2014/main" val="756895354"/>
                    </a:ext>
                  </a:extLst>
                </a:gridCol>
                <a:gridCol w="611507">
                  <a:extLst>
                    <a:ext uri="{9D8B030D-6E8A-4147-A177-3AD203B41FA5}">
                      <a16:colId xmlns:a16="http://schemas.microsoft.com/office/drawing/2014/main" val="97802984"/>
                    </a:ext>
                  </a:extLst>
                </a:gridCol>
                <a:gridCol w="635332">
                  <a:extLst>
                    <a:ext uri="{9D8B030D-6E8A-4147-A177-3AD203B41FA5}">
                      <a16:colId xmlns:a16="http://schemas.microsoft.com/office/drawing/2014/main" val="1706437889"/>
                    </a:ext>
                  </a:extLst>
                </a:gridCol>
                <a:gridCol w="532091">
                  <a:extLst>
                    <a:ext uri="{9D8B030D-6E8A-4147-A177-3AD203B41FA5}">
                      <a16:colId xmlns:a16="http://schemas.microsoft.com/office/drawing/2014/main" val="3906863321"/>
                    </a:ext>
                  </a:extLst>
                </a:gridCol>
                <a:gridCol w="381199">
                  <a:extLst>
                    <a:ext uri="{9D8B030D-6E8A-4147-A177-3AD203B41FA5}">
                      <a16:colId xmlns:a16="http://schemas.microsoft.com/office/drawing/2014/main" val="1917052085"/>
                    </a:ext>
                  </a:extLst>
                </a:gridCol>
                <a:gridCol w="381199">
                  <a:extLst>
                    <a:ext uri="{9D8B030D-6E8A-4147-A177-3AD203B41FA5}">
                      <a16:colId xmlns:a16="http://schemas.microsoft.com/office/drawing/2014/main" val="1952950666"/>
                    </a:ext>
                  </a:extLst>
                </a:gridCol>
              </a:tblGrid>
              <a:tr h="381000">
                <a:tc>
                  <a:txBody>
                    <a:bodyPr/>
                    <a:lstStyle/>
                    <a:p>
                      <a:pPr algn="l" fontAlgn="b"/>
                      <a:r>
                        <a:rPr lang="en-IN" sz="1050" u="none" strike="noStrike">
                          <a:effectLst/>
                        </a:rPr>
                        <a:t>Row Labels</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050" u="none" strike="noStrike">
                          <a:effectLst/>
                        </a:rPr>
                        <a:t>Sum of SALES</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050" u="none" strike="noStrike">
                          <a:effectLst/>
                        </a:rPr>
                        <a:t>Min of DAYS_SINCE_LASTORDER</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050" u="none" strike="noStrike">
                          <a:effectLst/>
                        </a:rPr>
                        <a:t>Count of CUSTOMERNAME</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IN" sz="1050" u="none" strike="noStrike">
                          <a:effectLst/>
                        </a:rPr>
                        <a:t>MONETARY</a:t>
                      </a:r>
                      <a:endParaRPr lang="en-IN" sz="105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050" u="none" strike="noStrike">
                          <a:effectLst/>
                        </a:rPr>
                        <a:t>FREQUENCY</a:t>
                      </a:r>
                      <a:endParaRPr lang="en-IN" sz="105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050" u="none" strike="noStrike">
                          <a:effectLst/>
                        </a:rPr>
                        <a:t>RECENCY</a:t>
                      </a:r>
                      <a:endParaRPr lang="en-IN" sz="105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84904481"/>
                  </a:ext>
                </a:extLst>
              </a:tr>
              <a:tr h="190500">
                <a:tc>
                  <a:txBody>
                    <a:bodyPr/>
                    <a:lstStyle/>
                    <a:p>
                      <a:pPr algn="l" fontAlgn="b"/>
                      <a:r>
                        <a:rPr lang="en-IN" sz="1050" u="none" strike="noStrike">
                          <a:effectLst/>
                        </a:rPr>
                        <a:t>Toms Spezialitten, Ltd</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100306.6</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395</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26</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MH</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88827999"/>
                  </a:ext>
                </a:extLst>
              </a:tr>
              <a:tr h="190500">
                <a:tc>
                  <a:txBody>
                    <a:bodyPr/>
                    <a:lstStyle/>
                    <a:p>
                      <a:pPr algn="l" fontAlgn="b"/>
                      <a:r>
                        <a:rPr lang="en-IN" sz="1050" u="none" strike="noStrike">
                          <a:effectLst/>
                        </a:rPr>
                        <a:t>La Corne D'abondance, Co.</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97203.68</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387</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23</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MH</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00880591"/>
                  </a:ext>
                </a:extLst>
              </a:tr>
              <a:tr h="190500">
                <a:tc>
                  <a:txBody>
                    <a:bodyPr/>
                    <a:lstStyle/>
                    <a:p>
                      <a:pPr algn="l" fontAlgn="b"/>
                      <a:r>
                        <a:rPr lang="en-IN" sz="1050" u="none" strike="noStrike">
                          <a:effectLst/>
                        </a:rPr>
                        <a:t>Cruz &amp; Sons Co.</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94015.73</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971</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26</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MH</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933907409"/>
                  </a:ext>
                </a:extLst>
              </a:tr>
              <a:tr h="190500">
                <a:tc>
                  <a:txBody>
                    <a:bodyPr/>
                    <a:lstStyle/>
                    <a:p>
                      <a:pPr algn="l" fontAlgn="b"/>
                      <a:r>
                        <a:rPr lang="en-IN" sz="1050" u="none" strike="noStrike">
                          <a:effectLst/>
                        </a:rPr>
                        <a:t>Vitachrome Inc.</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88041.26</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432</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25</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MH</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61543194"/>
                  </a:ext>
                </a:extLst>
              </a:tr>
              <a:tr h="190500">
                <a:tc>
                  <a:txBody>
                    <a:bodyPr/>
                    <a:lstStyle/>
                    <a:p>
                      <a:pPr algn="l" fontAlgn="b"/>
                      <a:r>
                        <a:rPr lang="en-IN" sz="1050" u="none" strike="noStrike">
                          <a:effectLst/>
                        </a:rPr>
                        <a:t>Mini Classics</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85555.99</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295</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26</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52748520"/>
                  </a:ext>
                </a:extLst>
              </a:tr>
              <a:tr h="190500">
                <a:tc>
                  <a:txBody>
                    <a:bodyPr/>
                    <a:lstStyle/>
                    <a:p>
                      <a:pPr algn="l" fontAlgn="b"/>
                      <a:r>
                        <a:rPr lang="en-IN" sz="1050" u="none" strike="noStrike">
                          <a:effectLst/>
                        </a:rPr>
                        <a:t>Blauer See Auto, Co.</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85171.59</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705</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22</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2485191"/>
                  </a:ext>
                </a:extLst>
              </a:tr>
              <a:tr h="190500">
                <a:tc>
                  <a:txBody>
                    <a:bodyPr/>
                    <a:lstStyle/>
                    <a:p>
                      <a:pPr algn="l" fontAlgn="b"/>
                      <a:r>
                        <a:rPr lang="en-IN" sz="1050" u="none" strike="noStrike">
                          <a:effectLst/>
                        </a:rPr>
                        <a:t>Motor Mint Distributors Inc.</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83682.16</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484</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23</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33958749"/>
                  </a:ext>
                </a:extLst>
              </a:tr>
              <a:tr h="190500">
                <a:tc>
                  <a:txBody>
                    <a:bodyPr/>
                    <a:lstStyle/>
                    <a:p>
                      <a:pPr algn="l" fontAlgn="b"/>
                      <a:r>
                        <a:rPr lang="en-IN" sz="1050" u="none" strike="noStrike">
                          <a:effectLst/>
                        </a:rPr>
                        <a:t>Enaco Distributors</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78411.86</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659</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23</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355079613"/>
                  </a:ext>
                </a:extLst>
              </a:tr>
              <a:tr h="190500">
                <a:tc>
                  <a:txBody>
                    <a:bodyPr/>
                    <a:lstStyle/>
                    <a:p>
                      <a:pPr algn="l" fontAlgn="b"/>
                      <a:r>
                        <a:rPr lang="en-IN" sz="1050" u="none" strike="noStrike">
                          <a:effectLst/>
                        </a:rPr>
                        <a:t>giftsbymail.co.uk</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78240.84</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327</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26</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79034648"/>
                  </a:ext>
                </a:extLst>
              </a:tr>
              <a:tr h="190500">
                <a:tc>
                  <a:txBody>
                    <a:bodyPr/>
                    <a:lstStyle/>
                    <a:p>
                      <a:pPr algn="l" fontAlgn="b"/>
                      <a:r>
                        <a:rPr lang="en-IN" sz="1050" u="none" strike="noStrike">
                          <a:effectLst/>
                        </a:rPr>
                        <a:t>Canadian Gift Exchange Network</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75238.92</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364</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50" u="none" strike="noStrike">
                          <a:effectLst/>
                        </a:rPr>
                        <a:t>22</a:t>
                      </a:r>
                      <a:endParaRPr lang="en-IN" sz="105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a:effectLst/>
                        </a:rPr>
                        <a:t>LM</a:t>
                      </a:r>
                      <a:endParaRPr lang="en-IN" sz="105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50" u="none" strike="noStrike" dirty="0">
                          <a:effectLst/>
                        </a:rPr>
                        <a:t>LM</a:t>
                      </a:r>
                      <a:endParaRPr lang="en-IN" sz="105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119048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96847929"/>
              </p:ext>
            </p:extLst>
          </p:nvPr>
        </p:nvGraphicFramePr>
        <p:xfrm>
          <a:off x="5473337" y="2277264"/>
          <a:ext cx="5878285" cy="3984870"/>
        </p:xfrm>
        <a:graphic>
          <a:graphicData uri="http://schemas.openxmlformats.org/drawingml/2006/table">
            <a:tbl>
              <a:tblPr>
                <a:tableStyleId>{08FB837D-C827-4EFA-A057-4D05807E0F7C}</a:tableStyleId>
              </a:tblPr>
              <a:tblGrid>
                <a:gridCol w="1859317">
                  <a:extLst>
                    <a:ext uri="{9D8B030D-6E8A-4147-A177-3AD203B41FA5}">
                      <a16:colId xmlns:a16="http://schemas.microsoft.com/office/drawing/2014/main" val="381980548"/>
                    </a:ext>
                  </a:extLst>
                </a:gridCol>
                <a:gridCol w="524213">
                  <a:extLst>
                    <a:ext uri="{9D8B030D-6E8A-4147-A177-3AD203B41FA5}">
                      <a16:colId xmlns:a16="http://schemas.microsoft.com/office/drawing/2014/main" val="1418562245"/>
                    </a:ext>
                  </a:extLst>
                </a:gridCol>
                <a:gridCol w="840925">
                  <a:extLst>
                    <a:ext uri="{9D8B030D-6E8A-4147-A177-3AD203B41FA5}">
                      <a16:colId xmlns:a16="http://schemas.microsoft.com/office/drawing/2014/main" val="1714474605"/>
                    </a:ext>
                  </a:extLst>
                </a:gridCol>
                <a:gridCol w="873689">
                  <a:extLst>
                    <a:ext uri="{9D8B030D-6E8A-4147-A177-3AD203B41FA5}">
                      <a16:colId xmlns:a16="http://schemas.microsoft.com/office/drawing/2014/main" val="3940811766"/>
                    </a:ext>
                  </a:extLst>
                </a:gridCol>
                <a:gridCol w="731715">
                  <a:extLst>
                    <a:ext uri="{9D8B030D-6E8A-4147-A177-3AD203B41FA5}">
                      <a16:colId xmlns:a16="http://schemas.microsoft.com/office/drawing/2014/main" val="4117126957"/>
                    </a:ext>
                  </a:extLst>
                </a:gridCol>
                <a:gridCol w="524213">
                  <a:extLst>
                    <a:ext uri="{9D8B030D-6E8A-4147-A177-3AD203B41FA5}">
                      <a16:colId xmlns:a16="http://schemas.microsoft.com/office/drawing/2014/main" val="3128633884"/>
                    </a:ext>
                  </a:extLst>
                </a:gridCol>
                <a:gridCol w="524213">
                  <a:extLst>
                    <a:ext uri="{9D8B030D-6E8A-4147-A177-3AD203B41FA5}">
                      <a16:colId xmlns:a16="http://schemas.microsoft.com/office/drawing/2014/main" val="1660400595"/>
                    </a:ext>
                  </a:extLst>
                </a:gridCol>
              </a:tblGrid>
              <a:tr h="404359">
                <a:tc>
                  <a:txBody>
                    <a:bodyPr/>
                    <a:lstStyle/>
                    <a:p>
                      <a:pPr algn="l" fontAlgn="b"/>
                      <a:r>
                        <a:rPr lang="en-IN" sz="1000" u="none" strike="noStrike">
                          <a:effectLst/>
                        </a:rPr>
                        <a:t>Row Labels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000" u="none" strike="noStrike">
                          <a:effectLst/>
                        </a:rPr>
                        <a:t>Sum of SALES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000" u="none" strike="noStrike">
                          <a:effectLst/>
                        </a:rPr>
                        <a:t>Min of DAYS_SINCE_LASTORDER</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000" u="none" strike="noStrike">
                          <a:effectLst/>
                        </a:rPr>
                        <a:t>Count of CUSTOMERNAME</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ctr"/>
                      <a:r>
                        <a:rPr lang="en-IN" sz="1000" u="none" strike="noStrike">
                          <a:effectLst/>
                        </a:rPr>
                        <a:t>MONETARY</a:t>
                      </a:r>
                      <a:endParaRPr lang="en-IN" sz="1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000" u="none" strike="noStrike">
                          <a:effectLst/>
                        </a:rPr>
                        <a:t>FREQUENCY</a:t>
                      </a:r>
                      <a:endParaRPr lang="en-IN" sz="1000" b="1"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IN" sz="1000" u="none" strike="noStrike">
                          <a:effectLst/>
                        </a:rPr>
                        <a:t>RECENCY</a:t>
                      </a:r>
                      <a:endParaRPr lang="en-IN" sz="1000" b="1"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3855244"/>
                  </a:ext>
                </a:extLst>
              </a:tr>
              <a:tr h="258098">
                <a:tc>
                  <a:txBody>
                    <a:bodyPr/>
                    <a:lstStyle/>
                    <a:p>
                      <a:pPr algn="l" fontAlgn="b"/>
                      <a:r>
                        <a:rPr lang="en-IN" sz="1000" u="none" strike="noStrike">
                          <a:effectLst/>
                        </a:rPr>
                        <a:t>Diecast Classics Inc.</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122138.1</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228</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31</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H</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527247062"/>
                  </a:ext>
                </a:extLst>
              </a:tr>
              <a:tr h="258098">
                <a:tc>
                  <a:txBody>
                    <a:bodyPr/>
                    <a:lstStyle/>
                    <a:p>
                      <a:pPr algn="l" fontAlgn="b"/>
                      <a:r>
                        <a:rPr lang="en-IN" sz="1000" u="none" strike="noStrike">
                          <a:effectLst/>
                        </a:rPr>
                        <a:t>Corrida Auto Replicas, Ltd</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120615.3</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407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LM</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00428016"/>
                  </a:ext>
                </a:extLst>
              </a:tr>
              <a:tr h="258098">
                <a:tc>
                  <a:txBody>
                    <a:bodyPr/>
                    <a:lstStyle/>
                    <a:p>
                      <a:pPr algn="l" fontAlgn="b"/>
                      <a:r>
                        <a:rPr lang="en-IN" sz="1000" u="none" strike="noStrike">
                          <a:effectLst/>
                        </a:rPr>
                        <a:t>Tokyo Collectables, Ltd</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120562.7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259</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H</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36943096"/>
                  </a:ext>
                </a:extLst>
              </a:tr>
              <a:tr h="258098">
                <a:tc>
                  <a:txBody>
                    <a:bodyPr/>
                    <a:lstStyle/>
                    <a:p>
                      <a:pPr algn="l" fontAlgn="b"/>
                      <a:r>
                        <a:rPr lang="en-IN" sz="1000" u="none" strike="noStrike">
                          <a:effectLst/>
                        </a:rPr>
                        <a:t>UK Collectables, Ltd.</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118008.3</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76</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29</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H</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13382184"/>
                  </a:ext>
                </a:extLst>
              </a:tr>
              <a:tr h="258098">
                <a:tc>
                  <a:txBody>
                    <a:bodyPr/>
                    <a:lstStyle/>
                    <a:p>
                      <a:pPr algn="l" fontAlgn="b"/>
                      <a:r>
                        <a:rPr lang="en-IN" sz="1000" u="none" strike="noStrike">
                          <a:effectLst/>
                        </a:rPr>
                        <a:t>Vida Sport, Ltd</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117713.6</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440</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31</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220372240"/>
                  </a:ext>
                </a:extLst>
              </a:tr>
              <a:tr h="258098">
                <a:tc>
                  <a:txBody>
                    <a:bodyPr/>
                    <a:lstStyle/>
                    <a:p>
                      <a:pPr algn="l" fontAlgn="b"/>
                      <a:r>
                        <a:rPr lang="en-IN" sz="1000" u="none" strike="noStrike">
                          <a:effectLst/>
                        </a:rPr>
                        <a:t>Baane Mini Imports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116599.2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245</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LM</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972023197"/>
                  </a:ext>
                </a:extLst>
              </a:tr>
              <a:tr h="258098">
                <a:tc>
                  <a:txBody>
                    <a:bodyPr/>
                    <a:lstStyle/>
                    <a:p>
                      <a:pPr algn="l" fontAlgn="b"/>
                      <a:r>
                        <a:rPr lang="en-IN" sz="1000" u="none" strike="noStrike">
                          <a:effectLst/>
                        </a:rPr>
                        <a:t>Suominen Souveniers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113961.2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317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30</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75951034"/>
                  </a:ext>
                </a:extLst>
              </a:tr>
              <a:tr h="258098">
                <a:tc>
                  <a:txBody>
                    <a:bodyPr/>
                    <a:lstStyle/>
                    <a:p>
                      <a:pPr algn="l" fontAlgn="b"/>
                      <a:r>
                        <a:rPr lang="en-IN" sz="1000" u="none" strike="noStrike">
                          <a:effectLst/>
                        </a:rPr>
                        <a:t>Herkku Gifts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111640.3</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567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29</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675655643"/>
                  </a:ext>
                </a:extLst>
              </a:tr>
              <a:tr h="258098">
                <a:tc>
                  <a:txBody>
                    <a:bodyPr/>
                    <a:lstStyle/>
                    <a:p>
                      <a:pPr algn="l" fontAlgn="b"/>
                      <a:r>
                        <a:rPr lang="en-IN" sz="1000" u="none" strike="noStrike">
                          <a:effectLst/>
                        </a:rPr>
                        <a:t>Toys of Finland, Co.</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111250.4</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259</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30</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12338047"/>
                  </a:ext>
                </a:extLst>
              </a:tr>
              <a:tr h="162871">
                <a:tc>
                  <a:txBody>
                    <a:bodyPr/>
                    <a:lstStyle/>
                    <a:p>
                      <a:pPr algn="l" fontAlgn="b"/>
                      <a:r>
                        <a:rPr lang="en-IN" sz="1000" u="none" strike="noStrike">
                          <a:effectLst/>
                        </a:rPr>
                        <a:t>Toys4GrownUps.com</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104562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649</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30</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57551344"/>
                  </a:ext>
                </a:extLst>
              </a:tr>
              <a:tr h="258098">
                <a:tc>
                  <a:txBody>
                    <a:bodyPr/>
                    <a:lstStyle/>
                    <a:p>
                      <a:pPr algn="l" fontAlgn="b"/>
                      <a:r>
                        <a:rPr lang="en-IN" sz="1000" u="none" strike="noStrike">
                          <a:effectLst/>
                        </a:rPr>
                        <a:t>Oulu Toy Supplies, Inc.</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104370.4</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241</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32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79594672"/>
                  </a:ext>
                </a:extLst>
              </a:tr>
              <a:tr h="258098">
                <a:tc>
                  <a:txBody>
                    <a:bodyPr/>
                    <a:lstStyle/>
                    <a:p>
                      <a:pPr algn="l" fontAlgn="b"/>
                      <a:r>
                        <a:rPr lang="en-IN" sz="1000" u="none" strike="noStrike">
                          <a:effectLst/>
                        </a:rPr>
                        <a:t>Marta's Replicas Co.</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103080.4</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292</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dirty="0">
                          <a:effectLst/>
                        </a:rPr>
                        <a:t>L</a:t>
                      </a:r>
                      <a:endParaRPr lang="en-IN" sz="1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40730966"/>
                  </a:ext>
                </a:extLst>
              </a:tr>
              <a:tr h="258098">
                <a:tc>
                  <a:txBody>
                    <a:bodyPr/>
                    <a:lstStyle/>
                    <a:p>
                      <a:pPr algn="l" fontAlgn="b"/>
                      <a:r>
                        <a:rPr lang="en-IN" sz="1000" u="none" strike="noStrike">
                          <a:effectLst/>
                        </a:rPr>
                        <a:t>Heintze Collectables</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100595.6</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414</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LM</a:t>
                      </a:r>
                      <a:endParaRPr lang="en-IN" sz="1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745242676"/>
                  </a:ext>
                </a:extLst>
              </a:tr>
              <a:tr h="258098">
                <a:tc>
                  <a:txBody>
                    <a:bodyPr/>
                    <a:lstStyle/>
                    <a:p>
                      <a:pPr algn="l" fontAlgn="b"/>
                      <a:r>
                        <a:rPr lang="en-IN" sz="1000" u="none" strike="noStrike">
                          <a:effectLst/>
                        </a:rPr>
                        <a:t>Auto Canal Petit</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93170.66</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127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000" u="none" strike="noStrike">
                          <a:effectLst/>
                        </a:rPr>
                        <a:t>27</a:t>
                      </a:r>
                      <a:endParaRPr lang="en-IN" sz="10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a:effectLst/>
                        </a:rPr>
                        <a:t>MH</a:t>
                      </a:r>
                      <a:endParaRPr lang="en-IN" sz="1000" b="0" i="0" u="none" strike="noStrike">
                        <a:solidFill>
                          <a:srgbClr val="000000"/>
                        </a:solidFill>
                        <a:effectLst/>
                        <a:latin typeface="Calibri" panose="020F0502020204030204" pitchFamily="34" charset="0"/>
                      </a:endParaRPr>
                    </a:p>
                  </a:txBody>
                  <a:tcPr marL="9525" marR="9525" marT="9525" marB="0" anchor="ctr"/>
                </a:tc>
                <a:tc>
                  <a:txBody>
                    <a:bodyPr/>
                    <a:lstStyle/>
                    <a:p>
                      <a:pPr algn="l" fontAlgn="ctr"/>
                      <a:r>
                        <a:rPr lang="en-IN" sz="1000" u="none" strike="noStrike" dirty="0">
                          <a:effectLst/>
                        </a:rPr>
                        <a:t>H</a:t>
                      </a:r>
                      <a:endParaRPr lang="en-IN" sz="10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94837520"/>
                  </a:ext>
                </a:extLst>
              </a:tr>
            </a:tbl>
          </a:graphicData>
        </a:graphic>
      </p:graphicFrame>
    </p:spTree>
    <p:extLst>
      <p:ext uri="{BB962C8B-B14F-4D97-AF65-F5344CB8AC3E}">
        <p14:creationId xmlns:p14="http://schemas.microsoft.com/office/powerpoint/2010/main" val="27940574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156754"/>
            <a:ext cx="10131425" cy="1175657"/>
          </a:xfrm>
        </p:spPr>
        <p:txBody>
          <a:bodyPr/>
          <a:lstStyle/>
          <a:p>
            <a:r>
              <a:rPr lang="en-IN" dirty="0" smtClean="0"/>
              <a:t>RFM INFERENCE</a:t>
            </a:r>
            <a:endParaRPr lang="en-IN" dirty="0"/>
          </a:p>
        </p:txBody>
      </p:sp>
      <p:sp>
        <p:nvSpPr>
          <p:cNvPr id="3" name="Content Placeholder 2"/>
          <p:cNvSpPr>
            <a:spLocks noGrp="1"/>
          </p:cNvSpPr>
          <p:nvPr>
            <p:ph idx="1"/>
          </p:nvPr>
        </p:nvSpPr>
        <p:spPr>
          <a:xfrm>
            <a:off x="685801" y="1175657"/>
            <a:ext cx="10131425" cy="5682343"/>
          </a:xfrm>
        </p:spPr>
        <p:txBody>
          <a:bodyPr>
            <a:normAutofit/>
          </a:bodyPr>
          <a:lstStyle/>
          <a:p>
            <a:r>
              <a:rPr lang="en-US" sz="1200" b="1" dirty="0"/>
              <a:t>Inferences from RFM Analysis and identified segments</a:t>
            </a:r>
            <a:endParaRPr lang="en-US" sz="1200" dirty="0"/>
          </a:p>
          <a:p>
            <a:pPr lvl="1"/>
            <a:r>
              <a:rPr lang="en-US" sz="1200" dirty="0"/>
              <a:t>Who are your best customers? (give at least 5</a:t>
            </a:r>
            <a:r>
              <a:rPr lang="en-US" sz="1200" dirty="0" smtClean="0"/>
              <a:t>)</a:t>
            </a:r>
          </a:p>
          <a:p>
            <a:pPr lvl="1"/>
            <a:r>
              <a:rPr lang="en-US" sz="1300" b="1" dirty="0" smtClean="0">
                <a:solidFill>
                  <a:srgbClr val="00B0F0"/>
                </a:solidFill>
              </a:rPr>
              <a:t>The top best customers are:</a:t>
            </a:r>
          </a:p>
          <a:p>
            <a:pPr lvl="1"/>
            <a:r>
              <a:rPr lang="en-US" sz="1300" b="1" dirty="0" smtClean="0">
                <a:solidFill>
                  <a:srgbClr val="00B0F0"/>
                </a:solidFill>
              </a:rPr>
              <a:t>1. Euro Shopping Channel</a:t>
            </a:r>
          </a:p>
          <a:p>
            <a:pPr lvl="1"/>
            <a:r>
              <a:rPr lang="en-US" sz="1300" b="1" dirty="0" smtClean="0">
                <a:solidFill>
                  <a:srgbClr val="00B0F0"/>
                </a:solidFill>
              </a:rPr>
              <a:t>2. Mini Gifts Distributors </a:t>
            </a:r>
          </a:p>
          <a:p>
            <a:pPr lvl="1"/>
            <a:r>
              <a:rPr lang="en-US" sz="1300" b="1" dirty="0">
                <a:solidFill>
                  <a:srgbClr val="00B0F0"/>
                </a:solidFill>
              </a:rPr>
              <a:t>3. La Rochelle </a:t>
            </a:r>
            <a:r>
              <a:rPr lang="en-US" sz="1300" b="1" dirty="0" smtClean="0">
                <a:solidFill>
                  <a:srgbClr val="00B0F0"/>
                </a:solidFill>
              </a:rPr>
              <a:t>Gifts</a:t>
            </a:r>
          </a:p>
          <a:p>
            <a:pPr lvl="1"/>
            <a:r>
              <a:rPr lang="en-US" sz="1300" b="1" dirty="0" smtClean="0">
                <a:solidFill>
                  <a:srgbClr val="00B0F0"/>
                </a:solidFill>
              </a:rPr>
              <a:t>4. The </a:t>
            </a:r>
            <a:r>
              <a:rPr lang="en-US" sz="1300" b="1" dirty="0">
                <a:solidFill>
                  <a:srgbClr val="00B0F0"/>
                </a:solidFill>
              </a:rPr>
              <a:t>Sharp Gifts </a:t>
            </a:r>
            <a:r>
              <a:rPr lang="en-US" sz="1300" b="1" dirty="0" smtClean="0">
                <a:solidFill>
                  <a:srgbClr val="00B0F0"/>
                </a:solidFill>
              </a:rPr>
              <a:t>Warehouse</a:t>
            </a:r>
          </a:p>
          <a:p>
            <a:pPr lvl="1"/>
            <a:r>
              <a:rPr lang="en-US" sz="1300" b="1" dirty="0">
                <a:solidFill>
                  <a:srgbClr val="00B0F0"/>
                </a:solidFill>
              </a:rPr>
              <a:t>5. </a:t>
            </a:r>
            <a:r>
              <a:rPr lang="en-US" sz="1300" b="1" dirty="0" err="1">
                <a:solidFill>
                  <a:srgbClr val="00B0F0"/>
                </a:solidFill>
              </a:rPr>
              <a:t>Souveniers</a:t>
            </a:r>
            <a:r>
              <a:rPr lang="en-US" sz="1300" b="1" dirty="0">
                <a:solidFill>
                  <a:srgbClr val="00B0F0"/>
                </a:solidFill>
              </a:rPr>
              <a:t> And Things Co.</a:t>
            </a:r>
            <a:endParaRPr lang="en-US" sz="1300" b="1" dirty="0" smtClean="0">
              <a:solidFill>
                <a:srgbClr val="00B0F0"/>
              </a:solidFill>
            </a:endParaRPr>
          </a:p>
          <a:p>
            <a:pPr marL="457200" lvl="1" indent="0">
              <a:buNone/>
            </a:pPr>
            <a:r>
              <a:rPr lang="en-US" sz="1300" b="1" dirty="0" smtClean="0">
                <a:solidFill>
                  <a:srgbClr val="00B0F0"/>
                </a:solidFill>
              </a:rPr>
              <a:t>Though we have 9 customers with total count of 734 the above are top customers based on high </a:t>
            </a:r>
            <a:r>
              <a:rPr lang="en-US" sz="1300" b="1" dirty="0" err="1" smtClean="0">
                <a:solidFill>
                  <a:srgbClr val="00B0F0"/>
                </a:solidFill>
              </a:rPr>
              <a:t>Recency</a:t>
            </a:r>
            <a:r>
              <a:rPr lang="en-US" sz="1300" b="1" dirty="0" smtClean="0">
                <a:solidFill>
                  <a:srgbClr val="00B0F0"/>
                </a:solidFill>
              </a:rPr>
              <a:t>, Frequency and Monetary and again sorted based on sales value</a:t>
            </a:r>
            <a:endParaRPr lang="en-US" sz="1300" b="1" dirty="0">
              <a:solidFill>
                <a:srgbClr val="00B0F0"/>
              </a:solidFill>
            </a:endParaRPr>
          </a:p>
          <a:p>
            <a:pPr lvl="1"/>
            <a:r>
              <a:rPr lang="en-US" dirty="0"/>
              <a:t>Which customers are on the verge of churning? (give at least 5</a:t>
            </a:r>
            <a:r>
              <a:rPr lang="en-US" dirty="0" smtClean="0"/>
              <a:t>)</a:t>
            </a:r>
          </a:p>
          <a:p>
            <a:pPr lvl="1"/>
            <a:r>
              <a:rPr lang="en-US" dirty="0" smtClean="0"/>
              <a:t>1</a:t>
            </a:r>
            <a:r>
              <a:rPr lang="en-US" b="1" dirty="0">
                <a:solidFill>
                  <a:srgbClr val="00B0F0"/>
                </a:solidFill>
              </a:rPr>
              <a:t>. </a:t>
            </a:r>
            <a:r>
              <a:rPr lang="en-US" sz="1200" b="1" dirty="0">
                <a:solidFill>
                  <a:srgbClr val="00B0F0"/>
                </a:solidFill>
              </a:rPr>
              <a:t>Toms </a:t>
            </a:r>
            <a:r>
              <a:rPr lang="en-US" sz="1200" b="1" dirty="0" err="1">
                <a:solidFill>
                  <a:srgbClr val="00B0F0"/>
                </a:solidFill>
              </a:rPr>
              <a:t>Spezialitten</a:t>
            </a:r>
            <a:r>
              <a:rPr lang="en-US" sz="1200" b="1" dirty="0">
                <a:solidFill>
                  <a:srgbClr val="00B0F0"/>
                </a:solidFill>
              </a:rPr>
              <a:t>, </a:t>
            </a:r>
            <a:r>
              <a:rPr lang="en-US" sz="1200" b="1" dirty="0" smtClean="0">
                <a:solidFill>
                  <a:srgbClr val="00B0F0"/>
                </a:solidFill>
              </a:rPr>
              <a:t>Ltd</a:t>
            </a:r>
          </a:p>
          <a:p>
            <a:pPr lvl="1"/>
            <a:r>
              <a:rPr lang="en-US" sz="1200" b="1" dirty="0">
                <a:solidFill>
                  <a:srgbClr val="00B0F0"/>
                </a:solidFill>
              </a:rPr>
              <a:t>2. La </a:t>
            </a:r>
            <a:r>
              <a:rPr lang="en-US" sz="1200" b="1" dirty="0" err="1">
                <a:solidFill>
                  <a:srgbClr val="00B0F0"/>
                </a:solidFill>
              </a:rPr>
              <a:t>Corne</a:t>
            </a:r>
            <a:r>
              <a:rPr lang="en-US" sz="1200" b="1" dirty="0">
                <a:solidFill>
                  <a:srgbClr val="00B0F0"/>
                </a:solidFill>
              </a:rPr>
              <a:t> </a:t>
            </a:r>
            <a:r>
              <a:rPr lang="en-US" sz="1200" b="1" dirty="0" err="1">
                <a:solidFill>
                  <a:srgbClr val="00B0F0"/>
                </a:solidFill>
              </a:rPr>
              <a:t>D'abondance</a:t>
            </a:r>
            <a:r>
              <a:rPr lang="en-US" sz="1200" b="1" dirty="0">
                <a:solidFill>
                  <a:srgbClr val="00B0F0"/>
                </a:solidFill>
              </a:rPr>
              <a:t>, Co</a:t>
            </a:r>
            <a:r>
              <a:rPr lang="en-US" sz="1200" b="1" dirty="0" smtClean="0">
                <a:solidFill>
                  <a:srgbClr val="00B0F0"/>
                </a:solidFill>
              </a:rPr>
              <a:t>.</a:t>
            </a:r>
          </a:p>
          <a:p>
            <a:pPr lvl="1"/>
            <a:r>
              <a:rPr lang="en-US" sz="1200" b="1" dirty="0">
                <a:solidFill>
                  <a:srgbClr val="00B0F0"/>
                </a:solidFill>
              </a:rPr>
              <a:t>3. Cruz &amp; Sons Co</a:t>
            </a:r>
            <a:r>
              <a:rPr lang="en-US" sz="1200" b="1" dirty="0" smtClean="0">
                <a:solidFill>
                  <a:srgbClr val="00B0F0"/>
                </a:solidFill>
              </a:rPr>
              <a:t>.</a:t>
            </a:r>
          </a:p>
          <a:p>
            <a:pPr lvl="1"/>
            <a:r>
              <a:rPr lang="en-US" sz="1200" b="1" dirty="0">
                <a:solidFill>
                  <a:srgbClr val="00B0F0"/>
                </a:solidFill>
              </a:rPr>
              <a:t>4. </a:t>
            </a:r>
            <a:r>
              <a:rPr lang="en-US" sz="1200" b="1" dirty="0" err="1">
                <a:solidFill>
                  <a:srgbClr val="00B0F0"/>
                </a:solidFill>
              </a:rPr>
              <a:t>Vitachrome</a:t>
            </a:r>
            <a:r>
              <a:rPr lang="en-US" sz="1200" b="1" dirty="0">
                <a:solidFill>
                  <a:srgbClr val="00B0F0"/>
                </a:solidFill>
              </a:rPr>
              <a:t> Inc</a:t>
            </a:r>
            <a:r>
              <a:rPr lang="en-US" sz="1200" b="1" dirty="0" smtClean="0">
                <a:solidFill>
                  <a:srgbClr val="00B0F0"/>
                </a:solidFill>
              </a:rPr>
              <a:t>.</a:t>
            </a:r>
          </a:p>
          <a:p>
            <a:pPr lvl="1"/>
            <a:r>
              <a:rPr lang="en-US" sz="1200" b="1" dirty="0">
                <a:solidFill>
                  <a:srgbClr val="00B0F0"/>
                </a:solidFill>
              </a:rPr>
              <a:t>5. Mini </a:t>
            </a:r>
            <a:r>
              <a:rPr lang="en-US" sz="1200" b="1" dirty="0" smtClean="0">
                <a:solidFill>
                  <a:srgbClr val="00B0F0"/>
                </a:solidFill>
              </a:rPr>
              <a:t>Classics</a:t>
            </a:r>
          </a:p>
          <a:p>
            <a:pPr lvl="1"/>
            <a:r>
              <a:rPr lang="en-US" sz="1200" b="1" dirty="0" smtClean="0">
                <a:solidFill>
                  <a:srgbClr val="00B0F0"/>
                </a:solidFill>
              </a:rPr>
              <a:t>These are top five customers on the verge of churning based on LM categorization for </a:t>
            </a:r>
            <a:r>
              <a:rPr lang="en-US" sz="1200" b="1" dirty="0" err="1" smtClean="0">
                <a:solidFill>
                  <a:srgbClr val="00B0F0"/>
                </a:solidFill>
              </a:rPr>
              <a:t>Recency</a:t>
            </a:r>
            <a:r>
              <a:rPr lang="en-US" sz="1200" b="1" dirty="0" smtClean="0">
                <a:solidFill>
                  <a:srgbClr val="00B0F0"/>
                </a:solidFill>
              </a:rPr>
              <a:t>, Frequency and Monetary and also MH for Monetary. Then we also sort based on monetary values. There are total 11 customers and 242 counts</a:t>
            </a:r>
            <a:endParaRPr lang="en-US" sz="1200" b="1" dirty="0">
              <a:solidFill>
                <a:srgbClr val="00B0F0"/>
              </a:solidFill>
            </a:endParaRPr>
          </a:p>
          <a:p>
            <a:endParaRPr lang="en-IN" dirty="0"/>
          </a:p>
        </p:txBody>
      </p:sp>
    </p:spTree>
    <p:extLst>
      <p:ext uri="{BB962C8B-B14F-4D97-AF65-F5344CB8AC3E}">
        <p14:creationId xmlns:p14="http://schemas.microsoft.com/office/powerpoint/2010/main" val="2858737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RFM-INFERENCE………………………………</a:t>
            </a:r>
            <a:r>
              <a:rPr lang="en-US" dirty="0" err="1" smtClean="0"/>
              <a:t>Contd</a:t>
            </a:r>
            <a:r>
              <a:rPr lang="en-US" dirty="0" smtClean="0"/>
              <a:t>…</a:t>
            </a:r>
            <a:endParaRPr lang="en-IN" dirty="0"/>
          </a:p>
        </p:txBody>
      </p:sp>
      <p:sp>
        <p:nvSpPr>
          <p:cNvPr id="3" name="Content Placeholder 2"/>
          <p:cNvSpPr>
            <a:spLocks noGrp="1"/>
          </p:cNvSpPr>
          <p:nvPr>
            <p:ph idx="1"/>
          </p:nvPr>
        </p:nvSpPr>
        <p:spPr>
          <a:xfrm>
            <a:off x="685801" y="2142067"/>
            <a:ext cx="10131425" cy="4010539"/>
          </a:xfrm>
        </p:spPr>
        <p:txBody>
          <a:bodyPr anchor="t">
            <a:normAutofit fontScale="70000" lnSpcReduction="20000"/>
          </a:bodyPr>
          <a:lstStyle/>
          <a:p>
            <a:pPr marL="457200" lvl="1" indent="0">
              <a:buNone/>
            </a:pPr>
            <a:r>
              <a:rPr lang="en-US" dirty="0"/>
              <a:t>Who are your lost customers? (give at least </a:t>
            </a:r>
            <a:r>
              <a:rPr lang="en-US" dirty="0" smtClean="0"/>
              <a:t>5)</a:t>
            </a:r>
          </a:p>
          <a:p>
            <a:pPr marL="342900" indent="-342900">
              <a:buFont typeface="+mj-lt"/>
              <a:buAutoNum type="arabicPeriod"/>
            </a:pPr>
            <a:r>
              <a:rPr lang="en-US" b="1" dirty="0" smtClean="0">
                <a:solidFill>
                  <a:srgbClr val="00B0F0"/>
                </a:solidFill>
              </a:rPr>
              <a:t>Auto </a:t>
            </a:r>
            <a:r>
              <a:rPr lang="en-US" b="1" dirty="0">
                <a:solidFill>
                  <a:srgbClr val="00B0F0"/>
                </a:solidFill>
              </a:rPr>
              <a:t>Assoc. &amp; </a:t>
            </a:r>
            <a:r>
              <a:rPr lang="en-US" b="1" dirty="0" err="1" smtClean="0">
                <a:solidFill>
                  <a:srgbClr val="00B0F0"/>
                </a:solidFill>
              </a:rPr>
              <a:t>Cie</a:t>
            </a:r>
            <a:r>
              <a:rPr lang="en-US" b="1" dirty="0" smtClean="0">
                <a:solidFill>
                  <a:srgbClr val="00B0F0"/>
                </a:solidFill>
              </a:rPr>
              <a:t>, </a:t>
            </a:r>
          </a:p>
          <a:p>
            <a:pPr marL="342900" indent="-342900">
              <a:buFont typeface="+mj-lt"/>
              <a:buAutoNum type="arabicPeriod"/>
            </a:pPr>
            <a:r>
              <a:rPr lang="en-US" b="1" dirty="0" smtClean="0">
                <a:solidFill>
                  <a:srgbClr val="00B0F0"/>
                </a:solidFill>
              </a:rPr>
              <a:t>Bavarian </a:t>
            </a:r>
            <a:r>
              <a:rPr lang="en-US" b="1" dirty="0">
                <a:solidFill>
                  <a:srgbClr val="00B0F0"/>
                </a:solidFill>
              </a:rPr>
              <a:t>Collectables Imports, Co. </a:t>
            </a:r>
            <a:r>
              <a:rPr lang="en-US" b="1" dirty="0" smtClean="0">
                <a:solidFill>
                  <a:srgbClr val="00B0F0"/>
                </a:solidFill>
              </a:rPr>
              <a:t>,</a:t>
            </a:r>
          </a:p>
          <a:p>
            <a:pPr marL="342900" indent="-342900">
              <a:buFont typeface="+mj-lt"/>
              <a:buAutoNum type="arabicPeriod"/>
            </a:pPr>
            <a:r>
              <a:rPr lang="en-US" b="1" dirty="0" smtClean="0">
                <a:solidFill>
                  <a:srgbClr val="00B0F0"/>
                </a:solidFill>
              </a:rPr>
              <a:t> </a:t>
            </a:r>
            <a:r>
              <a:rPr lang="en-US" b="1" dirty="0">
                <a:solidFill>
                  <a:srgbClr val="00B0F0"/>
                </a:solidFill>
              </a:rPr>
              <a:t>CAF Imports, </a:t>
            </a:r>
            <a:endParaRPr lang="en-US" b="1" dirty="0" smtClean="0">
              <a:solidFill>
                <a:srgbClr val="00B0F0"/>
              </a:solidFill>
            </a:endParaRPr>
          </a:p>
          <a:p>
            <a:pPr marL="342900" indent="-342900">
              <a:buFont typeface="+mj-lt"/>
              <a:buAutoNum type="arabicPeriod"/>
            </a:pPr>
            <a:r>
              <a:rPr lang="en-US" b="1" dirty="0" smtClean="0">
                <a:solidFill>
                  <a:srgbClr val="00B0F0"/>
                </a:solidFill>
              </a:rPr>
              <a:t>Cambridge </a:t>
            </a:r>
            <a:r>
              <a:rPr lang="en-US" b="1" dirty="0">
                <a:solidFill>
                  <a:srgbClr val="00B0F0"/>
                </a:solidFill>
              </a:rPr>
              <a:t>Collectables Co, </a:t>
            </a:r>
          </a:p>
          <a:p>
            <a:pPr marL="342900" indent="-342900">
              <a:buFont typeface="+mj-lt"/>
              <a:buAutoNum type="arabicPeriod"/>
            </a:pPr>
            <a:r>
              <a:rPr lang="en-US" b="1" dirty="0" smtClean="0">
                <a:solidFill>
                  <a:srgbClr val="00B0F0"/>
                </a:solidFill>
              </a:rPr>
              <a:t>Clover Collections,</a:t>
            </a:r>
          </a:p>
          <a:p>
            <a:pPr marL="0" indent="0">
              <a:buNone/>
            </a:pPr>
            <a:r>
              <a:rPr lang="en-US" b="1" dirty="0" smtClean="0">
                <a:solidFill>
                  <a:srgbClr val="00B0F0"/>
                </a:solidFill>
              </a:rPr>
              <a:t> </a:t>
            </a:r>
            <a:r>
              <a:rPr lang="en-US" b="1" dirty="0">
                <a:solidFill>
                  <a:srgbClr val="00B0F0"/>
                </a:solidFill>
              </a:rPr>
              <a:t>Total count of 182 have </a:t>
            </a:r>
            <a:r>
              <a:rPr lang="en-US" b="1" dirty="0" err="1">
                <a:solidFill>
                  <a:srgbClr val="00B0F0"/>
                </a:solidFill>
              </a:rPr>
              <a:t>Recency</a:t>
            </a:r>
            <a:r>
              <a:rPr lang="en-US" b="1" dirty="0">
                <a:solidFill>
                  <a:srgbClr val="00B0F0"/>
                </a:solidFill>
              </a:rPr>
              <a:t>, Frequency and Monetary all at low measures. Hence they are the lost </a:t>
            </a:r>
            <a:r>
              <a:rPr lang="en-US" b="1" dirty="0" smtClean="0">
                <a:solidFill>
                  <a:srgbClr val="00B0F0"/>
                </a:solidFill>
              </a:rPr>
              <a:t>customers</a:t>
            </a:r>
            <a:r>
              <a:rPr lang="en-US" dirty="0" smtClean="0"/>
              <a:t>.</a:t>
            </a:r>
          </a:p>
          <a:p>
            <a:pPr marL="457200" lvl="1" indent="0">
              <a:buNone/>
            </a:pPr>
            <a:r>
              <a:rPr lang="en-US" dirty="0" smtClean="0"/>
              <a:t>Who </a:t>
            </a:r>
            <a:r>
              <a:rPr lang="en-US" dirty="0"/>
              <a:t>are your loyal customers? (give at least 5)</a:t>
            </a:r>
          </a:p>
          <a:p>
            <a:pPr marL="342900" indent="-342900">
              <a:buFont typeface="+mj-lt"/>
              <a:buAutoNum type="arabicPeriod"/>
            </a:pPr>
            <a:r>
              <a:rPr lang="en-US" b="1" dirty="0" smtClean="0">
                <a:solidFill>
                  <a:srgbClr val="00B0F0"/>
                </a:solidFill>
              </a:rPr>
              <a:t>  </a:t>
            </a:r>
            <a:r>
              <a:rPr lang="en-US" b="1" dirty="0" err="1" smtClean="0">
                <a:solidFill>
                  <a:srgbClr val="00B0F0"/>
                </a:solidFill>
              </a:rPr>
              <a:t>Diecast</a:t>
            </a:r>
            <a:r>
              <a:rPr lang="en-US" b="1" dirty="0" smtClean="0">
                <a:solidFill>
                  <a:srgbClr val="00B0F0"/>
                </a:solidFill>
              </a:rPr>
              <a:t> </a:t>
            </a:r>
            <a:r>
              <a:rPr lang="en-US" b="1" dirty="0">
                <a:solidFill>
                  <a:srgbClr val="00B0F0"/>
                </a:solidFill>
              </a:rPr>
              <a:t>Classics Inc</a:t>
            </a:r>
            <a:r>
              <a:rPr lang="en-US" b="1" dirty="0" smtClean="0">
                <a:solidFill>
                  <a:srgbClr val="00B0F0"/>
                </a:solidFill>
              </a:rPr>
              <a:t>.</a:t>
            </a:r>
          </a:p>
          <a:p>
            <a:pPr marL="342900" indent="-342900">
              <a:buFont typeface="+mj-lt"/>
              <a:buAutoNum type="arabicPeriod"/>
            </a:pPr>
            <a:r>
              <a:rPr lang="en-US" b="1" dirty="0" smtClean="0">
                <a:solidFill>
                  <a:srgbClr val="00B0F0"/>
                </a:solidFill>
              </a:rPr>
              <a:t> </a:t>
            </a:r>
            <a:r>
              <a:rPr lang="en-US" b="1" dirty="0">
                <a:solidFill>
                  <a:srgbClr val="00B0F0"/>
                </a:solidFill>
              </a:rPr>
              <a:t>Corrida Auto Replicas, </a:t>
            </a:r>
            <a:r>
              <a:rPr lang="en-US" b="1" dirty="0" smtClean="0">
                <a:solidFill>
                  <a:srgbClr val="00B0F0"/>
                </a:solidFill>
              </a:rPr>
              <a:t>Ltd</a:t>
            </a:r>
          </a:p>
          <a:p>
            <a:pPr marL="342900" indent="-342900">
              <a:buFont typeface="+mj-lt"/>
              <a:buAutoNum type="arabicPeriod"/>
            </a:pPr>
            <a:r>
              <a:rPr lang="en-US" b="1" dirty="0" smtClean="0">
                <a:solidFill>
                  <a:srgbClr val="00B0F0"/>
                </a:solidFill>
              </a:rPr>
              <a:t> </a:t>
            </a:r>
            <a:r>
              <a:rPr lang="en-US" b="1" dirty="0">
                <a:solidFill>
                  <a:srgbClr val="00B0F0"/>
                </a:solidFill>
              </a:rPr>
              <a:t>Tokyo Collectables, </a:t>
            </a:r>
            <a:r>
              <a:rPr lang="en-US" b="1" dirty="0" smtClean="0">
                <a:solidFill>
                  <a:srgbClr val="00B0F0"/>
                </a:solidFill>
              </a:rPr>
              <a:t>Ltd</a:t>
            </a:r>
          </a:p>
          <a:p>
            <a:pPr marL="342900" indent="-342900">
              <a:buFont typeface="+mj-lt"/>
              <a:buAutoNum type="arabicPeriod"/>
            </a:pPr>
            <a:r>
              <a:rPr lang="en-US" b="1" dirty="0" smtClean="0">
                <a:solidFill>
                  <a:srgbClr val="00B0F0"/>
                </a:solidFill>
              </a:rPr>
              <a:t>UK </a:t>
            </a:r>
            <a:r>
              <a:rPr lang="en-US" b="1" dirty="0">
                <a:solidFill>
                  <a:srgbClr val="00B0F0"/>
                </a:solidFill>
              </a:rPr>
              <a:t>Collectables, Ltd</a:t>
            </a:r>
            <a:r>
              <a:rPr lang="en-US" b="1" dirty="0" smtClean="0">
                <a:solidFill>
                  <a:srgbClr val="00B0F0"/>
                </a:solidFill>
              </a:rPr>
              <a:t>.</a:t>
            </a:r>
          </a:p>
          <a:p>
            <a:pPr marL="342900" indent="-342900">
              <a:buFont typeface="+mj-lt"/>
              <a:buAutoNum type="arabicPeriod"/>
            </a:pPr>
            <a:r>
              <a:rPr lang="en-US" b="1" dirty="0" smtClean="0">
                <a:solidFill>
                  <a:srgbClr val="00B0F0"/>
                </a:solidFill>
              </a:rPr>
              <a:t> </a:t>
            </a:r>
            <a:r>
              <a:rPr lang="en-US" b="1" dirty="0">
                <a:solidFill>
                  <a:srgbClr val="00B0F0"/>
                </a:solidFill>
              </a:rPr>
              <a:t>Vida Sport, </a:t>
            </a:r>
            <a:r>
              <a:rPr lang="en-US" b="1" dirty="0" smtClean="0">
                <a:solidFill>
                  <a:srgbClr val="00B0F0"/>
                </a:solidFill>
              </a:rPr>
              <a:t>Ltd</a:t>
            </a:r>
          </a:p>
          <a:p>
            <a:pPr marL="0" indent="0">
              <a:buNone/>
            </a:pPr>
            <a:r>
              <a:rPr lang="en-US" b="1" dirty="0" smtClean="0">
                <a:solidFill>
                  <a:srgbClr val="00B0F0"/>
                </a:solidFill>
              </a:rPr>
              <a:t>These are the top five loyal customers out of total 15 customers and total count of 419</a:t>
            </a:r>
            <a:endParaRPr lang="en-IN" b="1" dirty="0">
              <a:solidFill>
                <a:srgbClr val="00B0F0"/>
              </a:solidFill>
            </a:endParaRPr>
          </a:p>
        </p:txBody>
      </p:sp>
    </p:spTree>
    <p:extLst>
      <p:ext uri="{BB962C8B-B14F-4D97-AF65-F5344CB8AC3E}">
        <p14:creationId xmlns:p14="http://schemas.microsoft.com/office/powerpoint/2010/main" val="24328883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235132"/>
            <a:ext cx="10131425" cy="1306286"/>
          </a:xfrm>
        </p:spPr>
        <p:txBody>
          <a:bodyPr/>
          <a:lstStyle/>
          <a:p>
            <a:r>
              <a:rPr lang="en-US" dirty="0" smtClean="0"/>
              <a:t>RFM Reference Summation</a:t>
            </a:r>
            <a:endParaRPr lang="en-IN" dirty="0"/>
          </a:p>
        </p:txBody>
      </p:sp>
      <p:sp>
        <p:nvSpPr>
          <p:cNvPr id="3" name="Content Placeholder 2"/>
          <p:cNvSpPr>
            <a:spLocks noGrp="1"/>
          </p:cNvSpPr>
          <p:nvPr>
            <p:ph idx="1"/>
          </p:nvPr>
        </p:nvSpPr>
        <p:spPr>
          <a:xfrm>
            <a:off x="685801" y="1541417"/>
            <a:ext cx="10131425" cy="4741817"/>
          </a:xfrm>
        </p:spPr>
        <p:txBody>
          <a:bodyPr anchor="t">
            <a:normAutofit fontScale="85000" lnSpcReduction="20000"/>
          </a:bodyPr>
          <a:lstStyle/>
          <a:p>
            <a:r>
              <a:rPr lang="en-US" dirty="0" smtClean="0"/>
              <a:t>I have used KNIME workflow for the RFM analysis. (attached the slides for the workflow)</a:t>
            </a:r>
          </a:p>
          <a:p>
            <a:r>
              <a:rPr lang="en-US" dirty="0" smtClean="0"/>
              <a:t>Created three columns for </a:t>
            </a:r>
            <a:r>
              <a:rPr lang="en-US" dirty="0" err="1" smtClean="0"/>
              <a:t>Recency</a:t>
            </a:r>
            <a:r>
              <a:rPr lang="en-US" dirty="0" smtClean="0"/>
              <a:t> ( Current Date – Order Date), Frequency( No of Order Nos), Monetary(Sum of Sales). Categorized the customers into four segments or bins through </a:t>
            </a:r>
            <a:r>
              <a:rPr lang="en-US" dirty="0" err="1" smtClean="0"/>
              <a:t>Autobin</a:t>
            </a:r>
            <a:r>
              <a:rPr lang="en-US" dirty="0" smtClean="0"/>
              <a:t> feature. </a:t>
            </a:r>
            <a:r>
              <a:rPr lang="en-US" dirty="0"/>
              <a:t>Use Auto bin to allot 4 Bins or segments to the customers</a:t>
            </a:r>
          </a:p>
          <a:p>
            <a:r>
              <a:rPr lang="en-US" dirty="0" smtClean="0"/>
              <a:t> </a:t>
            </a:r>
            <a:r>
              <a:rPr lang="en-US" dirty="0"/>
              <a:t>Use Table </a:t>
            </a:r>
            <a:r>
              <a:rPr lang="en-US" dirty="0" err="1"/>
              <a:t>creater</a:t>
            </a:r>
            <a:r>
              <a:rPr lang="en-US" dirty="0"/>
              <a:t> and Cell Replacer to assign the </a:t>
            </a:r>
            <a:r>
              <a:rPr lang="en-US" dirty="0" err="1"/>
              <a:t>Recency</a:t>
            </a:r>
            <a:r>
              <a:rPr lang="en-US" dirty="0"/>
              <a:t>, Frequency and Monetary </a:t>
            </a:r>
            <a:r>
              <a:rPr lang="en-US" dirty="0" err="1"/>
              <a:t>segementation</a:t>
            </a:r>
            <a:r>
              <a:rPr lang="en-US" dirty="0"/>
              <a:t> like High for H, Medium High for MH, Low Medium for LM and Low for L to the four Bins 1, 2, 3, 4 from High to low order wise</a:t>
            </a:r>
            <a:endParaRPr lang="en-IN" dirty="0"/>
          </a:p>
          <a:p>
            <a:endParaRPr lang="en-US" dirty="0" smtClean="0"/>
          </a:p>
          <a:p>
            <a:r>
              <a:rPr lang="en-US" dirty="0" smtClean="0"/>
              <a:t>Then finally use pivot in excel to  get the four segments </a:t>
            </a:r>
            <a:r>
              <a:rPr lang="en-US" dirty="0" err="1" smtClean="0"/>
              <a:t>customerwise</a:t>
            </a:r>
            <a:r>
              <a:rPr lang="en-US" dirty="0" smtClean="0"/>
              <a:t> details based on RFM </a:t>
            </a:r>
          </a:p>
          <a:p>
            <a:r>
              <a:rPr lang="en-US" dirty="0" smtClean="0"/>
              <a:t> There are 734 customers who are categorized under best customers gold  as they belong to high RFM . Overall 1323 customers come under gold who are high valued. Theses customers should be catered well by the company and give special benefits to retain them </a:t>
            </a:r>
          </a:p>
          <a:p>
            <a:r>
              <a:rPr lang="en-US" dirty="0" smtClean="0"/>
              <a:t>There are  242 customers who have not contributed much to monetary and order the product on and off basis. These are the customers who can be wooed to churn to next level of </a:t>
            </a:r>
            <a:r>
              <a:rPr lang="en-US" dirty="0" err="1" smtClean="0"/>
              <a:t>siver</a:t>
            </a:r>
            <a:r>
              <a:rPr lang="en-US" dirty="0" smtClean="0"/>
              <a:t> and gold by introducing special offers and discounts </a:t>
            </a:r>
          </a:p>
          <a:p>
            <a:r>
              <a:rPr lang="en-US" dirty="0" smtClean="0"/>
              <a:t>There are 419 customers who have been consistent though not valued monetarily as gold but they are the customers who are loyal and buy products regularly. These customers should be given loyalty benefits in terms of loyalty coupons, priority based deliveries </a:t>
            </a:r>
            <a:r>
              <a:rPr lang="en-US" dirty="0" err="1" smtClean="0"/>
              <a:t>etc</a:t>
            </a:r>
            <a:endParaRPr lang="en-US" dirty="0" smtClean="0"/>
          </a:p>
          <a:p>
            <a:r>
              <a:rPr lang="en-US" dirty="0" smtClean="0"/>
              <a:t>There are 182 customers who are poor contributors to monetary, seldom make a purchase and are low in RFM metrics. Such customers have very less chance to churn to next upgraded level. Company should not waste much time on such customers as they are very slippery and might not stick to one product or company for long. </a:t>
            </a:r>
          </a:p>
          <a:p>
            <a:endParaRPr lang="en-US" dirty="0" smtClean="0"/>
          </a:p>
          <a:p>
            <a:endParaRPr lang="en-IN" dirty="0"/>
          </a:p>
        </p:txBody>
      </p:sp>
    </p:spTree>
    <p:extLst>
      <p:ext uri="{BB962C8B-B14F-4D97-AF65-F5344CB8AC3E}">
        <p14:creationId xmlns:p14="http://schemas.microsoft.com/office/powerpoint/2010/main" val="253092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2594" y="979714"/>
            <a:ext cx="9784080" cy="5316583"/>
          </a:xfrm>
        </p:spPr>
      </p:pic>
    </p:spTree>
    <p:extLst>
      <p:ext uri="{BB962C8B-B14F-4D97-AF65-F5344CB8AC3E}">
        <p14:creationId xmlns:p14="http://schemas.microsoft.com/office/powerpoint/2010/main" val="41333359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6095</TotalTime>
  <Words>2853</Words>
  <Application>Microsoft Office PowerPoint</Application>
  <PresentationFormat>Widescreen</PresentationFormat>
  <Paragraphs>1184</Paragraphs>
  <Slides>30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Calibri</vt:lpstr>
      <vt:lpstr>Calibri Light</vt:lpstr>
      <vt:lpstr>Courier New</vt:lpstr>
      <vt:lpstr>Times New Roman</vt:lpstr>
      <vt:lpstr>Celestial</vt:lpstr>
      <vt:lpstr>MRA Project ML 1</vt:lpstr>
      <vt:lpstr>Agenda [Table OF CONTENT</vt:lpstr>
      <vt:lpstr>PROBLEM STATEMENT</vt:lpstr>
      <vt:lpstr>DATA DICTIONARY</vt:lpstr>
      <vt:lpstr>Data SET- Head COUNT</vt:lpstr>
      <vt:lpstr>Descriptive Stats – Numerical Variables</vt:lpstr>
      <vt:lpstr>Descriptive STATS- Cat Unique count</vt:lpstr>
      <vt:lpstr>EDA- Pre-Processing Summary</vt:lpstr>
      <vt:lpstr>CROSSTAB – COUNTRY wise  &amp; City wise sales</vt:lpstr>
      <vt:lpstr>Crosstab- Shipping status for Product Category</vt:lpstr>
      <vt:lpstr>BOXPLOT and Distribution of NUM Variables</vt:lpstr>
      <vt:lpstr>COUNTPLOT- Product LINE &amp; COUNTRY</vt:lpstr>
      <vt:lpstr>Histoplot</vt:lpstr>
      <vt:lpstr>BOXPLOT-NUM Variables</vt:lpstr>
      <vt:lpstr>BOXPLOT- SALES VS COUNTRY</vt:lpstr>
      <vt:lpstr>BOXPLOT- ORDERNUMBER VS PRODUCTLINE</vt:lpstr>
      <vt:lpstr>Scatter PLOT</vt:lpstr>
      <vt:lpstr>ORDER DATE- LINE GRAPH</vt:lpstr>
      <vt:lpstr>Histogram-Count of sales</vt:lpstr>
      <vt:lpstr>Barplot- Count of Sales Vs Productline</vt:lpstr>
      <vt:lpstr>Eda SUMMARY [INFERENCES]</vt:lpstr>
      <vt:lpstr>RFM –KNIME workflow</vt:lpstr>
      <vt:lpstr>OUTPUT TABLE- AUTOBIN</vt:lpstr>
      <vt:lpstr>Customer Segementation</vt:lpstr>
      <vt:lpstr>Autobin Extract- Best and LOST customers </vt:lpstr>
      <vt:lpstr>RFM- Most Favorable to CHURN aND most loyal Customers</vt:lpstr>
      <vt:lpstr>RFM INFERENCE</vt:lpstr>
      <vt:lpstr>RFM-INFERENCE………………………………Contd…</vt:lpstr>
      <vt:lpstr>RFM Reference Summation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MRA Project ML 1</dc:title>
  <dc:creator>Windows User</dc:creator>
  <cp:lastModifiedBy>Reena Roy</cp:lastModifiedBy>
  <cp:revision>61</cp:revision>
  <dcterms:created xsi:type="dcterms:W3CDTF">2021-05-25T13:38:16Z</dcterms:created>
  <dcterms:modified xsi:type="dcterms:W3CDTF">2021-10-03T12:18:52Z</dcterms:modified>
</cp:coreProperties>
</file>